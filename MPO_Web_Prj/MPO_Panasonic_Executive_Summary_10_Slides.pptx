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3" r:id="rId6"/>
    <p:sldId id="267" r:id="rId7"/>
    <p:sldId id="273" r:id="rId8"/>
    <p:sldId id="285" r:id="rId9"/>
    <p:sldId id="286" r:id="rId10"/>
    <p:sldId id="283" r:id="rId11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5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68A905-70E2-4A0C-B349-B7096566C448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B46738-2443-4093-9CCF-CC14B157E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50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B46738-2443-4093-9CCF-CC14B157ED0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2193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B46738-2443-4093-9CCF-CC14B157ED0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7316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B46738-2443-4093-9CCF-CC14B157ED0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120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B46738-2443-4093-9CCF-CC14B157ED0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7721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B46738-2443-4093-9CCF-CC14B157ED0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516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B46738-2443-4093-9CCF-CC14B157ED0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9815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B46738-2443-4093-9CCF-CC14B157ED0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5995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B46738-2443-4093-9CCF-CC14B157ED0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9318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B46738-2443-4093-9CCF-CC14B157ED0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006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B46738-2443-4093-9CCF-CC14B157ED0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2823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792A3-23FB-1F34-722B-5E3E910B5B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4CB25A-6A5E-E636-780E-A4D1B589A4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8C5985-3791-E6AC-C4B2-21E8692E0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18648-4CE9-40D1-BA7F-890AF7FE53F6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8D1AAA-1008-46F3-A90C-946BC0E39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68C04E-1F54-F39B-E3E1-E1249C305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9BE65-3261-4D01-A418-908AEC5E5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107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9DA5E-60D0-C9E4-1C0E-55FFFB5E1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B7E07-6AED-184E-B091-A631031C87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5C100-2587-6710-2072-9F1FEFDE9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18648-4CE9-40D1-BA7F-890AF7FE53F6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7D9DDE-A1EE-F86B-9405-DEDB31C62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7E99E5-C2A1-414B-E0EF-B8640BC47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9BE65-3261-4D01-A418-908AEC5E5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426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368BC-7A51-4D34-9739-8836CF18E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775" y="2564609"/>
            <a:ext cx="15773400" cy="427910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F76FE5-C216-1303-C72E-7668AB7433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6884197"/>
            <a:ext cx="15773400" cy="2250281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D78583-C2BB-A253-ABA9-9F7B559B4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18648-4CE9-40D1-BA7F-890AF7FE53F6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281265-1478-49F1-E774-FA177A9B9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2096-B0EB-3DD3-EEAC-EA2D243AC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9BE65-3261-4D01-A418-908AEC5E5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736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33E5F-6E83-D768-E002-A2DABBDE2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46EAA5-C2DB-5DAF-2164-2B94880BBB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EBE84D-AD5D-79CF-11F8-68E0E4DCD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79770B-9F2E-745B-E87C-7FF9403AE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18648-4CE9-40D1-BA7F-890AF7FE53F6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6DC936-4AE1-2FFE-00B3-AAED21A9B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947049-3D15-3414-0546-65215CB42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9BE65-3261-4D01-A418-908AEC5E5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147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DC425-C752-E275-FACB-0A219DA17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2" y="547690"/>
            <a:ext cx="15773400" cy="198834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8F5E02-A4EC-9E27-7862-AD2BD384D6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9684" y="2521745"/>
            <a:ext cx="7736681" cy="123586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F56C76-70A4-2A79-36D0-8C0BBACF46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59684" y="3757613"/>
            <a:ext cx="7736681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865FAF-9B8F-5753-DDBB-82A8947B31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1FB9B6-8E87-4F36-DCD0-A329CB4B28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5F5E05-A0FA-CD51-7F55-683AD46C7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18648-4CE9-40D1-BA7F-890AF7FE53F6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8FDCDB-2EA2-1DAF-E97F-457121D07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6EA4A6-00FC-82F6-A721-CEFFA4BF5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9BE65-3261-4D01-A418-908AEC5E5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925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4CA97-F1AA-8B7A-65B8-16538BF54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6041F2-E09E-3D1B-81A9-9AE6D8A25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18648-4CE9-40D1-BA7F-890AF7FE53F6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A69FCD-F9B9-349E-CD48-9587647E7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04ACE1-D2FB-16A5-F66E-EC61CC4E9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9BE65-3261-4D01-A418-908AEC5E5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890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B36450-68C6-A396-7352-52DD6F28A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18648-4CE9-40D1-BA7F-890AF7FE53F6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C3D1AE-4BC6-C5FF-5A19-6AF3C1019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AA5E42-9C85-80D7-BF7F-8C2D2AD29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9BE65-3261-4D01-A418-908AEC5E5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228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E779A-98C4-8BC5-73B4-1CD4F11DF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D25713-BC91-2159-A6C3-48AE12B87F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4782" y="1481140"/>
            <a:ext cx="9258300" cy="731043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A299A5-0AA5-A0DF-DE8D-6FEC9D86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186256-903B-E02E-338D-1C76033C5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18648-4CE9-40D1-BA7F-890AF7FE53F6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7D41B3-BCC4-4240-1DD6-44CC333F0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FAA18E-EDFC-9947-BA14-ECBE231B4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9BE65-3261-4D01-A418-908AEC5E5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388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389D6-FA8F-B145-B8C2-2A7C60EAD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FDFF2B-4A9B-D5A1-8C3A-908371AC65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74782" y="1481140"/>
            <a:ext cx="9258300" cy="73104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D33E00-D0A1-05AB-AE09-755376F5B4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219CE5-87BF-9418-3A56-9436D3A6F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18648-4CE9-40D1-BA7F-890AF7FE53F6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B5194E-8EA0-C1C3-B08E-9BC60AF0B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66B1B3-2178-29D7-F8A0-D822DF3C3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9BE65-3261-4D01-A418-908AEC5E5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560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DB38D-E4B8-F523-A830-BCA9FF6BB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9DF627-ED4F-EF60-73E9-754ED3ECD5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93C552-729F-B973-77EB-827059CD1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18648-4CE9-40D1-BA7F-890AF7FE53F6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656AFB-C573-AE0E-E2E5-7FAC70B1D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F84E0B-5F4B-0C92-05D8-4982A4D61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9BE65-3261-4D01-A418-908AEC5E5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889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903CAD-5D2D-26B7-D65A-CA14F291BC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97196E-FEA1-BD13-0D69-A20991A44E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029752-AD71-82D7-2EA6-EA19B8CC3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18648-4CE9-40D1-BA7F-890AF7FE53F6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5B3453-4D2E-9DDF-B2F4-51D9B55D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0AF4F1-5AC2-6A56-DA02-9C0FCB1B4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9BE65-3261-4D01-A418-908AEC5E5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570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6DC260-65CF-C945-BFA8-3FED9BA64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90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8858E-D220-055D-ED33-E19234C5D9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24B75-5F41-6E09-7CD4-76A1F510AD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7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618648-4CE9-40D1-BA7F-890AF7FE53F6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7C45F7-BF32-57DC-BDCF-D488EC753F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7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FEC798-2F79-3C69-C71F-EFCC3395E8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7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E9BE65-3261-4D01-A418-908AEC5E5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129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2">
            <a:extLst>
              <a:ext uri="{FF2B5EF4-FFF2-40B4-BE49-F238E27FC236}">
                <a16:creationId xmlns:a16="http://schemas.microsoft.com/office/drawing/2014/main" id="{F7BF9725-60E3-FAE8-EDC3-945A695B81AB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16" name="Group 3">
            <a:extLst>
              <a:ext uri="{FF2B5EF4-FFF2-40B4-BE49-F238E27FC236}">
                <a16:creationId xmlns:a16="http://schemas.microsoft.com/office/drawing/2014/main" id="{30D8BC8A-B626-EB43-EE46-3717F23EC1FF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17" name="Freeform 4">
              <a:extLst>
                <a:ext uri="{FF2B5EF4-FFF2-40B4-BE49-F238E27FC236}">
                  <a16:creationId xmlns:a16="http://schemas.microsoft.com/office/drawing/2014/main" id="{7776783E-2FA0-7F7B-5330-8A3B3E19FC1B}"/>
                </a:ext>
              </a:extLst>
            </p:cNvPr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20070">
                    <a:alpha val="67000"/>
                  </a:srgbClr>
                </a:gs>
                <a:gs pos="100000">
                  <a:srgbClr val="000640">
                    <a:alpha val="67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8" name="TextBox 5">
              <a:extLst>
                <a:ext uri="{FF2B5EF4-FFF2-40B4-BE49-F238E27FC236}">
                  <a16:creationId xmlns:a16="http://schemas.microsoft.com/office/drawing/2014/main" id="{E6C9680E-D2A8-17B2-94CA-5C1165D7B900}"/>
                </a:ext>
              </a:extLst>
            </p:cNvPr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AutoShape 7"/>
          <p:cNvSpPr/>
          <p:nvPr/>
        </p:nvSpPr>
        <p:spPr>
          <a:xfrm>
            <a:off x="889000" y="9550400"/>
            <a:ext cx="16510000" cy="1905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5E0C6F0-F87C-08F8-C44E-CC5228DFA4A2}"/>
              </a:ext>
            </a:extLst>
          </p:cNvPr>
          <p:cNvSpPr txBox="1"/>
          <p:nvPr/>
        </p:nvSpPr>
        <p:spPr>
          <a:xfrm>
            <a:off x="889000" y="2159000"/>
            <a:ext cx="9652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500" b="1">
                <a:solidFill>
                  <a:srgbClr val="00E6F0"/>
                </a:solidFill>
                <a:latin typeface="Arial" panose="020B0604020202020204" pitchFamily="34" charset="0"/>
              </a:rPr>
              <a:t>MANUFACTURING PERFORMANCE OVERVIEW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223C7D0-6503-1F6E-625B-A7B2B20C378D}"/>
              </a:ext>
            </a:extLst>
          </p:cNvPr>
          <p:cNvSpPr txBox="1"/>
          <p:nvPr/>
        </p:nvSpPr>
        <p:spPr>
          <a:xfrm>
            <a:off x="889000" y="2794000"/>
            <a:ext cx="9144000" cy="116955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7600" b="1">
                <a:solidFill>
                  <a:srgbClr val="FFFFFF"/>
                </a:solidFill>
                <a:latin typeface="Arial" panose="020B0604020202020204" pitchFamily="34" charset="0"/>
              </a:rPr>
              <a:t>MPO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DA723A0-035F-5553-B285-E200BF8C742E}"/>
              </a:ext>
            </a:extLst>
          </p:cNvPr>
          <p:cNvSpPr txBox="1"/>
          <p:nvPr/>
        </p:nvSpPr>
        <p:spPr>
          <a:xfrm>
            <a:off x="889000" y="4445000"/>
            <a:ext cx="10668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3000" b="1">
                <a:solidFill>
                  <a:srgbClr val="FFFFFF"/>
                </a:solidFill>
                <a:latin typeface="Arial" panose="020B0604020202020204" pitchFamily="34" charset="0"/>
              </a:rPr>
              <a:t>Dữ liệu máy → Hiệu suất → Hành động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BE72535-E44C-FC07-557C-FCE6CF29B492}"/>
              </a:ext>
            </a:extLst>
          </p:cNvPr>
          <p:cNvSpPr txBox="1"/>
          <p:nvPr/>
        </p:nvSpPr>
        <p:spPr>
          <a:xfrm>
            <a:off x="889000" y="5397500"/>
            <a:ext cx="10795000" cy="3231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100">
                <a:solidFill>
                  <a:srgbClr val="FFFFFF"/>
                </a:solidFill>
                <a:latin typeface="Arial" panose="020B0604020202020204" pitchFamily="34" charset="0"/>
              </a:rPr>
              <a:t>Hệ thống báo cáo sản xuất tập trung cho quản lý, kỹ thuật và bảo trì.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3F58A2B-2B2C-101C-8C60-F87D2C57098D}"/>
              </a:ext>
            </a:extLst>
          </p:cNvPr>
          <p:cNvSpPr txBox="1"/>
          <p:nvPr/>
        </p:nvSpPr>
        <p:spPr>
          <a:xfrm>
            <a:off x="889000" y="7175500"/>
            <a:ext cx="11430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700" b="1">
                <a:solidFill>
                  <a:srgbClr val="00E6F0"/>
                </a:solidFill>
                <a:latin typeface="Arial" panose="020B0604020202020204" pitchFamily="34" charset="0"/>
              </a:rPr>
              <a:t>LNB • SFTP • Node-RED • PostgreSQL • ASP.NET Core • Docker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19ED1A2-52DD-5B07-27D6-BA4235089278}"/>
              </a:ext>
            </a:extLst>
          </p:cNvPr>
          <p:cNvSpPr txBox="1"/>
          <p:nvPr/>
        </p:nvSpPr>
        <p:spPr>
          <a:xfrm>
            <a:off x="889000" y="7937500"/>
            <a:ext cx="11430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00" b="1">
                <a:solidFill>
                  <a:srgbClr val="94A3B8"/>
                </a:solidFill>
                <a:latin typeface="Arial" panose="020B0604020202020204" pitchFamily="34" charset="0"/>
              </a:rPr>
              <a:t>TÀI LIỆU TỔNG HỢP QUÁ TRÌNH &amp; THIẾT KẾ DỰ ÁN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D0D11D2-3D36-E63D-62FB-7307843D295A}"/>
              </a:ext>
            </a:extLst>
          </p:cNvPr>
          <p:cNvSpPr txBox="1"/>
          <p:nvPr/>
        </p:nvSpPr>
        <p:spPr>
          <a:xfrm>
            <a:off x="15367000" y="9702800"/>
            <a:ext cx="2032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sz="1100">
                <a:solidFill>
                  <a:srgbClr val="94A3B8"/>
                </a:solidFill>
                <a:latin typeface="Arial" panose="020B0604020202020204" pitchFamily="34" charset="0"/>
              </a:rPr>
              <a:t>PANASONIC • 01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3CBA54B-36F5-9E59-4279-57B062DC7537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39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C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Freeform 2">
            <a:extLst>
              <a:ext uri="{FF2B5EF4-FFF2-40B4-BE49-F238E27FC236}">
                <a16:creationId xmlns:a16="http://schemas.microsoft.com/office/drawing/2014/main" id="{665A57DD-5B9E-12F8-6393-72746BACF3BD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9" name="Group 3">
            <a:extLst>
              <a:ext uri="{FF2B5EF4-FFF2-40B4-BE49-F238E27FC236}">
                <a16:creationId xmlns:a16="http://schemas.microsoft.com/office/drawing/2014/main" id="{C53EC9E0-F1A9-8904-AD7F-53D29451050D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40" name="Freeform 4">
              <a:extLst>
                <a:ext uri="{FF2B5EF4-FFF2-40B4-BE49-F238E27FC236}">
                  <a16:creationId xmlns:a16="http://schemas.microsoft.com/office/drawing/2014/main" id="{0526E276-DDAD-4B1B-786C-3DAFD0DA4A6C}"/>
                </a:ext>
              </a:extLst>
            </p:cNvPr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20070">
                    <a:alpha val="67000"/>
                  </a:srgbClr>
                </a:gs>
                <a:gs pos="100000">
                  <a:srgbClr val="000640">
                    <a:alpha val="67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41" name="TextBox 5">
              <a:extLst>
                <a:ext uri="{FF2B5EF4-FFF2-40B4-BE49-F238E27FC236}">
                  <a16:creationId xmlns:a16="http://schemas.microsoft.com/office/drawing/2014/main" id="{CEFD2BA9-8B46-746C-8E52-AF8EB04F7457}"/>
                </a:ext>
              </a:extLst>
            </p:cNvPr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645CC2C5-6540-D65C-0795-631553F4DF33}"/>
              </a:ext>
            </a:extLst>
          </p:cNvPr>
          <p:cNvSpPr txBox="1"/>
          <p:nvPr/>
        </p:nvSpPr>
        <p:spPr>
          <a:xfrm>
            <a:off x="889000" y="1574800"/>
            <a:ext cx="7620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00E6F0"/>
                </a:solidFill>
                <a:latin typeface="Arial" panose="020B0604020202020204" pitchFamily="34" charset="0"/>
              </a:rPr>
              <a:t>EXECUTIVE SUMMARY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A8254F-A1F3-A762-048C-7789F818B7C7}"/>
              </a:ext>
            </a:extLst>
          </p:cNvPr>
          <p:cNvSpPr txBox="1"/>
          <p:nvPr/>
        </p:nvSpPr>
        <p:spPr>
          <a:xfrm>
            <a:off x="889000" y="1917700"/>
            <a:ext cx="16510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400" b="1">
                <a:solidFill>
                  <a:srgbClr val="FFFFFF"/>
                </a:solidFill>
                <a:latin typeface="Arial" panose="020B0604020202020204" pitchFamily="34" charset="0"/>
              </a:rPr>
              <a:t>MPO biến dữ liệu máy thành hành động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F604FB2-B5D5-F926-2190-448F7D511DA3}"/>
              </a:ext>
            </a:extLst>
          </p:cNvPr>
          <p:cNvCxnSpPr/>
          <p:nvPr/>
        </p:nvCxnSpPr>
        <p:spPr>
          <a:xfrm>
            <a:off x="889000" y="9550400"/>
            <a:ext cx="16510000" cy="0"/>
          </a:xfrm>
          <a:prstGeom prst="line">
            <a:avLst/>
          </a:prstGeom>
          <a:ln w="1016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6567F40-4EA2-E107-7699-6DFE778CE2DD}"/>
              </a:ext>
            </a:extLst>
          </p:cNvPr>
          <p:cNvSpPr txBox="1"/>
          <p:nvPr/>
        </p:nvSpPr>
        <p:spPr>
          <a:xfrm>
            <a:off x="889000" y="9702800"/>
            <a:ext cx="660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94A3B8"/>
                </a:solidFill>
                <a:latin typeface="Arial" panose="020B0604020202020204" pitchFamily="34" charset="0"/>
              </a:rPr>
              <a:t>MPO | Manufacturing Performance Overview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DC6ADCA-4F23-8D09-4D07-4A76F4717C47}"/>
              </a:ext>
            </a:extLst>
          </p:cNvPr>
          <p:cNvSpPr txBox="1"/>
          <p:nvPr/>
        </p:nvSpPr>
        <p:spPr>
          <a:xfrm>
            <a:off x="15367000" y="9702800"/>
            <a:ext cx="2032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1100">
                <a:solidFill>
                  <a:srgbClr val="94A3B8"/>
                </a:solidFill>
                <a:latin typeface="Arial" panose="020B0604020202020204" pitchFamily="34" charset="0"/>
              </a:rPr>
              <a:t>PANASONIC • 02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5819B8-78DA-51FC-BE43-BFA20D3C3CC4}"/>
              </a:ext>
            </a:extLst>
          </p:cNvPr>
          <p:cNvSpPr txBox="1"/>
          <p:nvPr/>
        </p:nvSpPr>
        <p:spPr>
          <a:xfrm>
            <a:off x="889000" y="2819400"/>
            <a:ext cx="1574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2400">
                <a:solidFill>
                  <a:srgbClr val="E6F0FA"/>
                </a:solidFill>
                <a:latin typeface="Arial" panose="020B0604020202020204" pitchFamily="34" charset="0"/>
              </a:rPr>
              <a:t>Một luồng tự động hợp nhất sản lượng, chất lượng và downtime — từ file .u01 đến dashboard quản trị.</a:t>
            </a:r>
            <a:endParaRPr lang="en-US" sz="2400">
              <a:solidFill>
                <a:srgbClr val="E6F0FA"/>
              </a:solidFill>
              <a:latin typeface="Arial" panose="020B060402020202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778EDE6-14BA-D60B-3EB0-C272A4583D40}"/>
              </a:ext>
            </a:extLst>
          </p:cNvPr>
          <p:cNvSpPr/>
          <p:nvPr/>
        </p:nvSpPr>
        <p:spPr>
          <a:xfrm>
            <a:off x="889000" y="4191000"/>
            <a:ext cx="4953000" cy="3175000"/>
          </a:xfrm>
          <a:prstGeom prst="roundRect">
            <a:avLst/>
          </a:prstGeom>
          <a:solidFill>
            <a:srgbClr val="051873"/>
          </a:solidFill>
          <a:ln w="12700">
            <a:solidFill>
              <a:srgbClr val="00E6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F477D18-BB35-7A90-1006-F97CDA400C1F}"/>
              </a:ext>
            </a:extLst>
          </p:cNvPr>
          <p:cNvSpPr/>
          <p:nvPr/>
        </p:nvSpPr>
        <p:spPr>
          <a:xfrm>
            <a:off x="889000" y="4191000"/>
            <a:ext cx="101600" cy="3175000"/>
          </a:xfrm>
          <a:prstGeom prst="rect">
            <a:avLst/>
          </a:prstGeom>
          <a:solidFill>
            <a:srgbClr val="00E6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4764308-F7EB-752F-7809-1BFE21C46F7D}"/>
              </a:ext>
            </a:extLst>
          </p:cNvPr>
          <p:cNvSpPr/>
          <p:nvPr/>
        </p:nvSpPr>
        <p:spPr>
          <a:xfrm>
            <a:off x="1193800" y="4419600"/>
            <a:ext cx="787400" cy="431800"/>
          </a:xfrm>
          <a:prstGeom prst="roundRect">
            <a:avLst>
              <a:gd name="adj" fmla="val 25000"/>
            </a:avLst>
          </a:prstGeom>
          <a:solidFill>
            <a:srgbClr val="00E6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82CE164-BCC1-0794-1907-CAF72292BA4D}"/>
              </a:ext>
            </a:extLst>
          </p:cNvPr>
          <p:cNvSpPr txBox="1"/>
          <p:nvPr/>
        </p:nvSpPr>
        <p:spPr>
          <a:xfrm>
            <a:off x="1295400" y="4495800"/>
            <a:ext cx="5842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 b="1">
                <a:solidFill>
                  <a:srgbClr val="020C5A"/>
                </a:solidFill>
                <a:latin typeface="Arial" panose="020B0604020202020204" pitchFamily="34" charset="0"/>
              </a:rPr>
              <a:t>01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8799253-8A74-BF54-5287-1BC12153D411}"/>
              </a:ext>
            </a:extLst>
          </p:cNvPr>
          <p:cNvSpPr txBox="1"/>
          <p:nvPr/>
        </p:nvSpPr>
        <p:spPr>
          <a:xfrm>
            <a:off x="1193800" y="5029200"/>
            <a:ext cx="43434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>
                <a:solidFill>
                  <a:srgbClr val="FFFFFF"/>
                </a:solidFill>
                <a:latin typeface="Arial" panose="020B0604020202020204" pitchFamily="34" charset="0"/>
              </a:rPr>
              <a:t>Tập trung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080BC86-A873-1E94-0D0F-877337D20854}"/>
              </a:ext>
            </a:extLst>
          </p:cNvPr>
          <p:cNvSpPr txBox="1"/>
          <p:nvPr/>
        </p:nvSpPr>
        <p:spPr>
          <a:xfrm>
            <a:off x="1193800" y="5638800"/>
            <a:ext cx="43434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>
                <a:solidFill>
                  <a:srgbClr val="E6F0FA"/>
                </a:solidFill>
                <a:latin typeface="Arial" panose="020B0604020202020204" pitchFamily="34" charset="0"/>
              </a:rPr>
              <a:t>Một nguồn báo cáo thống nhất cho dữ liệu máy LNB.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A37C9C7-9B27-96AA-4981-F7A9FF6AF628}"/>
              </a:ext>
            </a:extLst>
          </p:cNvPr>
          <p:cNvSpPr/>
          <p:nvPr/>
        </p:nvSpPr>
        <p:spPr>
          <a:xfrm>
            <a:off x="6350000" y="4191000"/>
            <a:ext cx="4953000" cy="3175000"/>
          </a:xfrm>
          <a:prstGeom prst="roundRect">
            <a:avLst/>
          </a:prstGeom>
          <a:solidFill>
            <a:srgbClr val="051873"/>
          </a:solidFill>
          <a:ln w="12700">
            <a:solidFill>
              <a:srgbClr val="00E6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51CDE2D-820C-1AF7-35BB-5195948B080A}"/>
              </a:ext>
            </a:extLst>
          </p:cNvPr>
          <p:cNvSpPr/>
          <p:nvPr/>
        </p:nvSpPr>
        <p:spPr>
          <a:xfrm>
            <a:off x="6350000" y="4191000"/>
            <a:ext cx="101600" cy="3175000"/>
          </a:xfrm>
          <a:prstGeom prst="rect">
            <a:avLst/>
          </a:prstGeom>
          <a:solidFill>
            <a:srgbClr val="00E6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2B9BF30-08AC-325A-AACE-77357D0121B6}"/>
              </a:ext>
            </a:extLst>
          </p:cNvPr>
          <p:cNvSpPr/>
          <p:nvPr/>
        </p:nvSpPr>
        <p:spPr>
          <a:xfrm>
            <a:off x="6654800" y="4419600"/>
            <a:ext cx="787400" cy="431800"/>
          </a:xfrm>
          <a:prstGeom prst="roundRect">
            <a:avLst>
              <a:gd name="adj" fmla="val 25000"/>
            </a:avLst>
          </a:prstGeom>
          <a:solidFill>
            <a:srgbClr val="00E6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E58221D-FA50-2F72-C2A6-6C119828062B}"/>
              </a:ext>
            </a:extLst>
          </p:cNvPr>
          <p:cNvSpPr txBox="1"/>
          <p:nvPr/>
        </p:nvSpPr>
        <p:spPr>
          <a:xfrm>
            <a:off x="6756400" y="4495800"/>
            <a:ext cx="5842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 b="1">
                <a:solidFill>
                  <a:srgbClr val="020C5A"/>
                </a:solidFill>
                <a:latin typeface="Arial" panose="020B0604020202020204" pitchFamily="34" charset="0"/>
              </a:rPr>
              <a:t>02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8D47094-5D16-1BC2-4DEB-0E885FB2CD1E}"/>
              </a:ext>
            </a:extLst>
          </p:cNvPr>
          <p:cNvSpPr txBox="1"/>
          <p:nvPr/>
        </p:nvSpPr>
        <p:spPr>
          <a:xfrm>
            <a:off x="6654800" y="5029200"/>
            <a:ext cx="43434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>
                <a:solidFill>
                  <a:srgbClr val="FFFFFF"/>
                </a:solidFill>
                <a:latin typeface="Arial" panose="020B0604020202020204" pitchFamily="34" charset="0"/>
              </a:rPr>
              <a:t>Phân tích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50472D0-A590-ABBD-E863-35060924E0C2}"/>
              </a:ext>
            </a:extLst>
          </p:cNvPr>
          <p:cNvSpPr txBox="1"/>
          <p:nvPr/>
        </p:nvSpPr>
        <p:spPr>
          <a:xfrm>
            <a:off x="6654800" y="5638800"/>
            <a:ext cx="43434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>
                <a:solidFill>
                  <a:srgbClr val="E6F0FA"/>
                </a:solidFill>
                <a:latin typeface="Arial" panose="020B0604020202020204" pitchFamily="34" charset="0"/>
              </a:rPr>
              <a:t>Drill-down theo line, lane, máy, model, part, feeder và nozzle.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A47D5E63-6A6D-52C5-AD50-A054B449F840}"/>
              </a:ext>
            </a:extLst>
          </p:cNvPr>
          <p:cNvSpPr/>
          <p:nvPr/>
        </p:nvSpPr>
        <p:spPr>
          <a:xfrm>
            <a:off x="11811000" y="4191000"/>
            <a:ext cx="4953000" cy="3175000"/>
          </a:xfrm>
          <a:prstGeom prst="roundRect">
            <a:avLst/>
          </a:prstGeom>
          <a:solidFill>
            <a:srgbClr val="051873"/>
          </a:solidFill>
          <a:ln w="12700">
            <a:solidFill>
              <a:srgbClr val="00E6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5076F9F-AF04-94A0-7440-94C307DB21CB}"/>
              </a:ext>
            </a:extLst>
          </p:cNvPr>
          <p:cNvSpPr/>
          <p:nvPr/>
        </p:nvSpPr>
        <p:spPr>
          <a:xfrm>
            <a:off x="11811000" y="4191000"/>
            <a:ext cx="101600" cy="3175000"/>
          </a:xfrm>
          <a:prstGeom prst="rect">
            <a:avLst/>
          </a:prstGeom>
          <a:solidFill>
            <a:srgbClr val="00E6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5ACE12BA-BFF9-97B7-5A0A-D96E3742943B}"/>
              </a:ext>
            </a:extLst>
          </p:cNvPr>
          <p:cNvSpPr/>
          <p:nvPr/>
        </p:nvSpPr>
        <p:spPr>
          <a:xfrm>
            <a:off x="12115800" y="4419600"/>
            <a:ext cx="787400" cy="431800"/>
          </a:xfrm>
          <a:prstGeom prst="roundRect">
            <a:avLst>
              <a:gd name="adj" fmla="val 25000"/>
            </a:avLst>
          </a:prstGeom>
          <a:solidFill>
            <a:srgbClr val="00E6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F15A8CE-FF83-B485-D20C-108387835326}"/>
              </a:ext>
            </a:extLst>
          </p:cNvPr>
          <p:cNvSpPr txBox="1"/>
          <p:nvPr/>
        </p:nvSpPr>
        <p:spPr>
          <a:xfrm>
            <a:off x="12217400" y="4495800"/>
            <a:ext cx="5842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 b="1">
                <a:solidFill>
                  <a:srgbClr val="020C5A"/>
                </a:solidFill>
                <a:latin typeface="Arial" panose="020B0604020202020204" pitchFamily="34" charset="0"/>
              </a:rPr>
              <a:t>03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27DDC23-8942-DFD7-AF20-732394687429}"/>
              </a:ext>
            </a:extLst>
          </p:cNvPr>
          <p:cNvSpPr txBox="1"/>
          <p:nvPr/>
        </p:nvSpPr>
        <p:spPr>
          <a:xfrm>
            <a:off x="12115800" y="5029200"/>
            <a:ext cx="43434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>
                <a:solidFill>
                  <a:srgbClr val="FFFFFF"/>
                </a:solidFill>
                <a:latin typeface="Arial" panose="020B0604020202020204" pitchFamily="34" charset="0"/>
              </a:rPr>
              <a:t>Hành động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5C508D4-4A1D-C6F0-B931-F74559C4FA94}"/>
              </a:ext>
            </a:extLst>
          </p:cNvPr>
          <p:cNvSpPr txBox="1"/>
          <p:nvPr/>
        </p:nvSpPr>
        <p:spPr>
          <a:xfrm>
            <a:off x="12115800" y="5638800"/>
            <a:ext cx="43434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>
                <a:solidFill>
                  <a:srgbClr val="E6F0FA"/>
                </a:solidFill>
                <a:latin typeface="Arial" panose="020B0604020202020204" pitchFamily="34" charset="0"/>
              </a:rPr>
              <a:t>Xác định thiết bị rủi ro, điều tra nguyên nhân và export dữ liệu.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C4FD30D-F58B-2B28-25A9-B5AD346EBB63}"/>
              </a:ext>
            </a:extLst>
          </p:cNvPr>
          <p:cNvSpPr txBox="1"/>
          <p:nvPr/>
        </p:nvSpPr>
        <p:spPr>
          <a:xfrm>
            <a:off x="889000" y="7937500"/>
            <a:ext cx="1574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b="1">
                <a:solidFill>
                  <a:srgbClr val="00E6F0"/>
                </a:solidFill>
                <a:latin typeface="Arial" panose="020B0604020202020204" pitchFamily="34" charset="0"/>
              </a:rPr>
              <a:t>Kết quả: dữ liệu thô trở thành bằng chứng có thể sử dụng trong vận hành hằng ngày.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200A4B-CF5E-C5EC-4A47-0714AB118C2E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39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318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C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Freeform 2">
            <a:extLst>
              <a:ext uri="{FF2B5EF4-FFF2-40B4-BE49-F238E27FC236}">
                <a16:creationId xmlns:a16="http://schemas.microsoft.com/office/drawing/2014/main" id="{4EB0B280-5BF5-688B-788D-EE0E92DC6BB3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3" name="Freeform 2">
            <a:extLst>
              <a:ext uri="{FF2B5EF4-FFF2-40B4-BE49-F238E27FC236}">
                <a16:creationId xmlns:a16="http://schemas.microsoft.com/office/drawing/2014/main" id="{558776A3-0F51-8C2D-869C-5FE08AF6F2D6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783CC7-7588-E941-AA8C-A4A18D3F17CC}"/>
              </a:ext>
            </a:extLst>
          </p:cNvPr>
          <p:cNvSpPr txBox="1"/>
          <p:nvPr/>
        </p:nvSpPr>
        <p:spPr>
          <a:xfrm>
            <a:off x="889000" y="1574800"/>
            <a:ext cx="7620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00E6F0"/>
                </a:solidFill>
                <a:latin typeface="Arial" panose="020B0604020202020204" pitchFamily="34" charset="0"/>
              </a:rPr>
              <a:t>BUSINESS VALUE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BCE1F5-40CA-19E9-78AC-9D8242AD7A36}"/>
              </a:ext>
            </a:extLst>
          </p:cNvPr>
          <p:cNvSpPr txBox="1"/>
          <p:nvPr/>
        </p:nvSpPr>
        <p:spPr>
          <a:xfrm>
            <a:off x="889000" y="1917700"/>
            <a:ext cx="16510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400" b="1">
                <a:solidFill>
                  <a:srgbClr val="FFFFFF"/>
                </a:solidFill>
                <a:latin typeface="Arial" panose="020B0604020202020204" pitchFamily="34" charset="0"/>
              </a:rPr>
              <a:t>Bốn giá trị trực tiếp cho vận hành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E1BD5C2-2BB4-1CD6-9F58-2D9C747E6D25}"/>
              </a:ext>
            </a:extLst>
          </p:cNvPr>
          <p:cNvCxnSpPr/>
          <p:nvPr/>
        </p:nvCxnSpPr>
        <p:spPr>
          <a:xfrm>
            <a:off x="889000" y="9550400"/>
            <a:ext cx="16510000" cy="0"/>
          </a:xfrm>
          <a:prstGeom prst="line">
            <a:avLst/>
          </a:prstGeom>
          <a:ln w="1016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712FA56-9DA5-D842-C454-037E0859BDDF}"/>
              </a:ext>
            </a:extLst>
          </p:cNvPr>
          <p:cNvSpPr txBox="1"/>
          <p:nvPr/>
        </p:nvSpPr>
        <p:spPr>
          <a:xfrm>
            <a:off x="889000" y="9702800"/>
            <a:ext cx="660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94A3B8"/>
                </a:solidFill>
                <a:latin typeface="Arial" panose="020B0604020202020204" pitchFamily="34" charset="0"/>
              </a:rPr>
              <a:t>MPO | Manufacturing Performance Overview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6B571C9-84C4-125C-FBC0-32E69EDE47CE}"/>
              </a:ext>
            </a:extLst>
          </p:cNvPr>
          <p:cNvSpPr txBox="1"/>
          <p:nvPr/>
        </p:nvSpPr>
        <p:spPr>
          <a:xfrm>
            <a:off x="15367000" y="9702800"/>
            <a:ext cx="2032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1100">
                <a:solidFill>
                  <a:srgbClr val="94A3B8"/>
                </a:solidFill>
                <a:latin typeface="Arial" panose="020B0604020202020204" pitchFamily="34" charset="0"/>
              </a:rPr>
              <a:t>PANASONIC • 03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CEFED37-CCA6-8816-9276-65099ABCB84C}"/>
              </a:ext>
            </a:extLst>
          </p:cNvPr>
          <p:cNvSpPr/>
          <p:nvPr/>
        </p:nvSpPr>
        <p:spPr>
          <a:xfrm>
            <a:off x="889000" y="2984500"/>
            <a:ext cx="7747000" cy="2095500"/>
          </a:xfrm>
          <a:prstGeom prst="roundRect">
            <a:avLst/>
          </a:prstGeom>
          <a:solidFill>
            <a:srgbClr val="051873"/>
          </a:solidFill>
          <a:ln w="12700">
            <a:solidFill>
              <a:srgbClr val="00E6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C9523DC-0A1D-3C71-2259-D04AEE97CD19}"/>
              </a:ext>
            </a:extLst>
          </p:cNvPr>
          <p:cNvSpPr/>
          <p:nvPr/>
        </p:nvSpPr>
        <p:spPr>
          <a:xfrm>
            <a:off x="889000" y="2984500"/>
            <a:ext cx="101600" cy="2095500"/>
          </a:xfrm>
          <a:prstGeom prst="rect">
            <a:avLst/>
          </a:prstGeom>
          <a:solidFill>
            <a:srgbClr val="00E6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40B44C4-2CC1-88E0-89C0-DCFAEC7418CE}"/>
              </a:ext>
            </a:extLst>
          </p:cNvPr>
          <p:cNvSpPr/>
          <p:nvPr/>
        </p:nvSpPr>
        <p:spPr>
          <a:xfrm>
            <a:off x="1193800" y="3213100"/>
            <a:ext cx="787400" cy="431800"/>
          </a:xfrm>
          <a:prstGeom prst="roundRect">
            <a:avLst>
              <a:gd name="adj" fmla="val 25000"/>
            </a:avLst>
          </a:prstGeom>
          <a:solidFill>
            <a:srgbClr val="00E6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859A82-D835-DEF5-4F89-D4B524BA1452}"/>
              </a:ext>
            </a:extLst>
          </p:cNvPr>
          <p:cNvSpPr txBox="1"/>
          <p:nvPr/>
        </p:nvSpPr>
        <p:spPr>
          <a:xfrm>
            <a:off x="1295400" y="3289300"/>
            <a:ext cx="5842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 b="1">
                <a:solidFill>
                  <a:srgbClr val="020C5A"/>
                </a:solidFill>
                <a:latin typeface="Arial" panose="020B0604020202020204" pitchFamily="34" charset="0"/>
              </a:rPr>
              <a:t>01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144C155-0F33-A93D-161A-3BA90F9E7547}"/>
              </a:ext>
            </a:extLst>
          </p:cNvPr>
          <p:cNvSpPr txBox="1"/>
          <p:nvPr/>
        </p:nvSpPr>
        <p:spPr>
          <a:xfrm>
            <a:off x="1193800" y="3822700"/>
            <a:ext cx="71374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>
                <a:solidFill>
                  <a:srgbClr val="FFFFFF"/>
                </a:solidFill>
                <a:latin typeface="Arial" panose="020B0604020202020204" pitchFamily="34" charset="0"/>
              </a:rPr>
              <a:t>Một nguồn dữ liệu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4E4473C-60C7-1608-076B-969A8D44C346}"/>
              </a:ext>
            </a:extLst>
          </p:cNvPr>
          <p:cNvSpPr txBox="1"/>
          <p:nvPr/>
        </p:nvSpPr>
        <p:spPr>
          <a:xfrm>
            <a:off x="1193800" y="4432300"/>
            <a:ext cx="7137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>
                <a:solidFill>
                  <a:srgbClr val="E6F0FA"/>
                </a:solidFill>
                <a:latin typeface="Arial" panose="020B0604020202020204" pitchFamily="34" charset="0"/>
              </a:rPr>
              <a:t>Tập trung production, quality và downtime.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B2DD7BD-2C94-F9AD-199E-E48EB7713F52}"/>
              </a:ext>
            </a:extLst>
          </p:cNvPr>
          <p:cNvSpPr/>
          <p:nvPr/>
        </p:nvSpPr>
        <p:spPr>
          <a:xfrm>
            <a:off x="9144000" y="2984500"/>
            <a:ext cx="7747000" cy="2095500"/>
          </a:xfrm>
          <a:prstGeom prst="roundRect">
            <a:avLst/>
          </a:prstGeom>
          <a:solidFill>
            <a:srgbClr val="051873"/>
          </a:solidFill>
          <a:ln w="12700">
            <a:solidFill>
              <a:srgbClr val="00E6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F40D2CF-2ECA-E704-041E-90FD71AB52C7}"/>
              </a:ext>
            </a:extLst>
          </p:cNvPr>
          <p:cNvSpPr/>
          <p:nvPr/>
        </p:nvSpPr>
        <p:spPr>
          <a:xfrm>
            <a:off x="9144000" y="2984500"/>
            <a:ext cx="101600" cy="2095500"/>
          </a:xfrm>
          <a:prstGeom prst="rect">
            <a:avLst/>
          </a:prstGeom>
          <a:solidFill>
            <a:srgbClr val="00E6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9AA9DAC-EE5B-008C-B940-85AA7225F169}"/>
              </a:ext>
            </a:extLst>
          </p:cNvPr>
          <p:cNvSpPr/>
          <p:nvPr/>
        </p:nvSpPr>
        <p:spPr>
          <a:xfrm>
            <a:off x="9448800" y="3213100"/>
            <a:ext cx="787400" cy="431800"/>
          </a:xfrm>
          <a:prstGeom prst="roundRect">
            <a:avLst>
              <a:gd name="adj" fmla="val 25000"/>
            </a:avLst>
          </a:prstGeom>
          <a:solidFill>
            <a:srgbClr val="00E6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612544E-D7D7-01CC-C513-58AE4AC87046}"/>
              </a:ext>
            </a:extLst>
          </p:cNvPr>
          <p:cNvSpPr txBox="1"/>
          <p:nvPr/>
        </p:nvSpPr>
        <p:spPr>
          <a:xfrm>
            <a:off x="9550400" y="3289300"/>
            <a:ext cx="5842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 b="1">
                <a:solidFill>
                  <a:srgbClr val="020C5A"/>
                </a:solidFill>
                <a:latin typeface="Arial" panose="020B0604020202020204" pitchFamily="34" charset="0"/>
              </a:rPr>
              <a:t>02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7F63C83-060B-9EE8-5CE7-3DD37FC9AE30}"/>
              </a:ext>
            </a:extLst>
          </p:cNvPr>
          <p:cNvSpPr txBox="1"/>
          <p:nvPr/>
        </p:nvSpPr>
        <p:spPr>
          <a:xfrm>
            <a:off x="9448800" y="3822700"/>
            <a:ext cx="71374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>
                <a:solidFill>
                  <a:srgbClr val="FFFFFF"/>
                </a:solidFill>
                <a:latin typeface="Arial" panose="020B0604020202020204" pitchFamily="34" charset="0"/>
              </a:rPr>
              <a:t>Giảm thủ công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BE01961-3D9F-3473-3DE7-7ABC83195F37}"/>
              </a:ext>
            </a:extLst>
          </p:cNvPr>
          <p:cNvSpPr txBox="1"/>
          <p:nvPr/>
        </p:nvSpPr>
        <p:spPr>
          <a:xfrm>
            <a:off x="9448800" y="4432300"/>
            <a:ext cx="7137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600">
                <a:solidFill>
                  <a:srgbClr val="E6F0FA"/>
                </a:solidFill>
                <a:latin typeface="Arial" panose="020B0604020202020204" pitchFamily="34" charset="0"/>
              </a:rPr>
              <a:t>Loại bỏ nhiều bước tổng hợp và đối chiếu file.</a:t>
            </a:r>
            <a:endParaRPr lang="en-US" sz="1600">
              <a:solidFill>
                <a:srgbClr val="E6F0FA"/>
              </a:solidFill>
              <a:latin typeface="Arial" panose="020B0604020202020204" pitchFamily="34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CBBB96C3-C8E5-CEC7-315E-9AD8DB383111}"/>
              </a:ext>
            </a:extLst>
          </p:cNvPr>
          <p:cNvSpPr/>
          <p:nvPr/>
        </p:nvSpPr>
        <p:spPr>
          <a:xfrm>
            <a:off x="889000" y="5588000"/>
            <a:ext cx="7747000" cy="2095500"/>
          </a:xfrm>
          <a:prstGeom prst="roundRect">
            <a:avLst/>
          </a:prstGeom>
          <a:solidFill>
            <a:srgbClr val="051873"/>
          </a:solidFill>
          <a:ln w="12700">
            <a:solidFill>
              <a:srgbClr val="00E6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81889F2-4E75-1F5F-5946-8FACDAA38988}"/>
              </a:ext>
            </a:extLst>
          </p:cNvPr>
          <p:cNvSpPr/>
          <p:nvPr/>
        </p:nvSpPr>
        <p:spPr>
          <a:xfrm>
            <a:off x="889000" y="5588000"/>
            <a:ext cx="101600" cy="2095500"/>
          </a:xfrm>
          <a:prstGeom prst="rect">
            <a:avLst/>
          </a:prstGeom>
          <a:solidFill>
            <a:srgbClr val="00E6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FC689DE5-892B-6AC6-4C17-5DCB9A9EFF37}"/>
              </a:ext>
            </a:extLst>
          </p:cNvPr>
          <p:cNvSpPr/>
          <p:nvPr/>
        </p:nvSpPr>
        <p:spPr>
          <a:xfrm>
            <a:off x="1193800" y="5816600"/>
            <a:ext cx="787400" cy="431800"/>
          </a:xfrm>
          <a:prstGeom prst="roundRect">
            <a:avLst>
              <a:gd name="adj" fmla="val 25000"/>
            </a:avLst>
          </a:prstGeom>
          <a:solidFill>
            <a:srgbClr val="00E6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36D3068-2BBD-32D9-B7A9-69681D08DACE}"/>
              </a:ext>
            </a:extLst>
          </p:cNvPr>
          <p:cNvSpPr txBox="1"/>
          <p:nvPr/>
        </p:nvSpPr>
        <p:spPr>
          <a:xfrm>
            <a:off x="1295400" y="5892800"/>
            <a:ext cx="5842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 b="1">
                <a:solidFill>
                  <a:srgbClr val="020C5A"/>
                </a:solidFill>
                <a:latin typeface="Arial" panose="020B0604020202020204" pitchFamily="34" charset="0"/>
              </a:rPr>
              <a:t>03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C299CE6-D6A4-1124-FBA4-E4E3E1FDE666}"/>
              </a:ext>
            </a:extLst>
          </p:cNvPr>
          <p:cNvSpPr txBox="1"/>
          <p:nvPr/>
        </p:nvSpPr>
        <p:spPr>
          <a:xfrm>
            <a:off x="1193800" y="6426200"/>
            <a:ext cx="71374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>
                <a:solidFill>
                  <a:srgbClr val="FFFFFF"/>
                </a:solidFill>
                <a:latin typeface="Arial" panose="020B0604020202020204" pitchFamily="34" charset="0"/>
              </a:rPr>
              <a:t>Root-cause nhanh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313A6C6-0195-0907-D22B-DD03245C7533}"/>
              </a:ext>
            </a:extLst>
          </p:cNvPr>
          <p:cNvSpPr txBox="1"/>
          <p:nvPr/>
        </p:nvSpPr>
        <p:spPr>
          <a:xfrm>
            <a:off x="1193800" y="7035800"/>
            <a:ext cx="7137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>
                <a:solidFill>
                  <a:srgbClr val="E6F0FA"/>
                </a:solidFill>
                <a:latin typeface="Arial" panose="020B0604020202020204" pitchFamily="34" charset="0"/>
              </a:rPr>
              <a:t>Truy vết từ line đến feeder, nozzle hoặc part.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8801E848-B2C7-95A3-7434-20BF4EE4DBAD}"/>
              </a:ext>
            </a:extLst>
          </p:cNvPr>
          <p:cNvSpPr/>
          <p:nvPr/>
        </p:nvSpPr>
        <p:spPr>
          <a:xfrm>
            <a:off x="9144000" y="5588000"/>
            <a:ext cx="7747000" cy="2095500"/>
          </a:xfrm>
          <a:prstGeom prst="roundRect">
            <a:avLst/>
          </a:prstGeom>
          <a:solidFill>
            <a:srgbClr val="051873"/>
          </a:solidFill>
          <a:ln w="12700">
            <a:solidFill>
              <a:srgbClr val="00E6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257D452-D35C-48DD-0B3F-30C0A7174A1D}"/>
              </a:ext>
            </a:extLst>
          </p:cNvPr>
          <p:cNvSpPr/>
          <p:nvPr/>
        </p:nvSpPr>
        <p:spPr>
          <a:xfrm>
            <a:off x="9144000" y="5588000"/>
            <a:ext cx="101600" cy="2095500"/>
          </a:xfrm>
          <a:prstGeom prst="rect">
            <a:avLst/>
          </a:prstGeom>
          <a:solidFill>
            <a:srgbClr val="00E6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6581C80F-10FB-E4F5-FF96-D7C8BE85AAB7}"/>
              </a:ext>
            </a:extLst>
          </p:cNvPr>
          <p:cNvSpPr/>
          <p:nvPr/>
        </p:nvSpPr>
        <p:spPr>
          <a:xfrm>
            <a:off x="9448800" y="5816600"/>
            <a:ext cx="787400" cy="431800"/>
          </a:xfrm>
          <a:prstGeom prst="roundRect">
            <a:avLst>
              <a:gd name="adj" fmla="val 25000"/>
            </a:avLst>
          </a:prstGeom>
          <a:solidFill>
            <a:srgbClr val="00E6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FBCE671-9B57-B70D-FA6B-F3653AB287EC}"/>
              </a:ext>
            </a:extLst>
          </p:cNvPr>
          <p:cNvSpPr txBox="1"/>
          <p:nvPr/>
        </p:nvSpPr>
        <p:spPr>
          <a:xfrm>
            <a:off x="9550400" y="5892800"/>
            <a:ext cx="5842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 b="1">
                <a:solidFill>
                  <a:srgbClr val="020C5A"/>
                </a:solidFill>
                <a:latin typeface="Arial" panose="020B0604020202020204" pitchFamily="34" charset="0"/>
              </a:rPr>
              <a:t>04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AD68464-A597-4DB2-70D9-2F7E54C7F281}"/>
              </a:ext>
            </a:extLst>
          </p:cNvPr>
          <p:cNvSpPr txBox="1"/>
          <p:nvPr/>
        </p:nvSpPr>
        <p:spPr>
          <a:xfrm>
            <a:off x="9448800" y="6426200"/>
            <a:ext cx="71374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>
                <a:solidFill>
                  <a:srgbClr val="FFFFFF"/>
                </a:solidFill>
                <a:latin typeface="Arial" panose="020B0604020202020204" pitchFamily="34" charset="0"/>
              </a:rPr>
              <a:t>Chia sẻ linh hoạt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F6F1752-D405-AA97-B43A-E01C73BEE080}"/>
              </a:ext>
            </a:extLst>
          </p:cNvPr>
          <p:cNvSpPr txBox="1"/>
          <p:nvPr/>
        </p:nvSpPr>
        <p:spPr>
          <a:xfrm>
            <a:off x="9448800" y="7035800"/>
            <a:ext cx="7137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>
                <a:solidFill>
                  <a:srgbClr val="E6F0FA"/>
                </a:solidFill>
                <a:latin typeface="Arial" panose="020B0604020202020204" pitchFamily="34" charset="0"/>
              </a:rPr>
              <a:t>Export kết quả đã lọc sang Excel-compatible.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493AE5-BA2C-3A7A-D982-8AD9F77C4239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39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028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C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Freeform 2">
            <a:extLst>
              <a:ext uri="{FF2B5EF4-FFF2-40B4-BE49-F238E27FC236}">
                <a16:creationId xmlns:a16="http://schemas.microsoft.com/office/drawing/2014/main" id="{3D682B32-CB12-091B-D321-E94E41376678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51" name="Group 3">
            <a:extLst>
              <a:ext uri="{FF2B5EF4-FFF2-40B4-BE49-F238E27FC236}">
                <a16:creationId xmlns:a16="http://schemas.microsoft.com/office/drawing/2014/main" id="{B7915EF5-8E91-C06C-035F-1209D396695A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52" name="Freeform 4">
              <a:extLst>
                <a:ext uri="{FF2B5EF4-FFF2-40B4-BE49-F238E27FC236}">
                  <a16:creationId xmlns:a16="http://schemas.microsoft.com/office/drawing/2014/main" id="{23C49BE3-FC94-FB0D-78C2-FAC8C30EAD22}"/>
                </a:ext>
              </a:extLst>
            </p:cNvPr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20070">
                    <a:alpha val="67000"/>
                  </a:srgbClr>
                </a:gs>
                <a:gs pos="100000">
                  <a:srgbClr val="000640">
                    <a:alpha val="67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3" name="TextBox 5">
              <a:extLst>
                <a:ext uri="{FF2B5EF4-FFF2-40B4-BE49-F238E27FC236}">
                  <a16:creationId xmlns:a16="http://schemas.microsoft.com/office/drawing/2014/main" id="{EC1957DA-8BEC-7828-06ED-5C815448A8A0}"/>
                </a:ext>
              </a:extLst>
            </p:cNvPr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3BB686C7-04F6-4507-8A4E-3BBD1992658A}"/>
              </a:ext>
            </a:extLst>
          </p:cNvPr>
          <p:cNvSpPr txBox="1"/>
          <p:nvPr/>
        </p:nvSpPr>
        <p:spPr>
          <a:xfrm>
            <a:off x="889000" y="1574800"/>
            <a:ext cx="7620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00E6F0"/>
                </a:solidFill>
                <a:latin typeface="Arial" panose="020B0604020202020204" pitchFamily="34" charset="0"/>
              </a:rPr>
              <a:t>SYSTEM AT A GLANCE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F0607C-09EE-DF8E-BB62-8C60F1C8E32A}"/>
              </a:ext>
            </a:extLst>
          </p:cNvPr>
          <p:cNvSpPr txBox="1"/>
          <p:nvPr/>
        </p:nvSpPr>
        <p:spPr>
          <a:xfrm>
            <a:off x="889000" y="1917700"/>
            <a:ext cx="16510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400" b="1">
                <a:solidFill>
                  <a:srgbClr val="FFFFFF"/>
                </a:solidFill>
                <a:latin typeface="Arial" panose="020B0604020202020204" pitchFamily="34" charset="0"/>
              </a:rPr>
              <a:t>Một kiến trúc, một dòng dữ liệu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61BB732-FE3D-F293-9775-77BEB96538EE}"/>
              </a:ext>
            </a:extLst>
          </p:cNvPr>
          <p:cNvCxnSpPr/>
          <p:nvPr/>
        </p:nvCxnSpPr>
        <p:spPr>
          <a:xfrm>
            <a:off x="889000" y="9550400"/>
            <a:ext cx="16510000" cy="0"/>
          </a:xfrm>
          <a:prstGeom prst="line">
            <a:avLst/>
          </a:prstGeom>
          <a:ln w="1016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3354F43-9385-C230-DB92-E3ADF70F7BAE}"/>
              </a:ext>
            </a:extLst>
          </p:cNvPr>
          <p:cNvSpPr txBox="1"/>
          <p:nvPr/>
        </p:nvSpPr>
        <p:spPr>
          <a:xfrm>
            <a:off x="889000" y="9702800"/>
            <a:ext cx="660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94A3B8"/>
                </a:solidFill>
                <a:latin typeface="Arial" panose="020B0604020202020204" pitchFamily="34" charset="0"/>
              </a:rPr>
              <a:t>MPO | Manufacturing Performance Overview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D2FD1CE-9CFD-3EA2-0E7B-F42B2DE73E19}"/>
              </a:ext>
            </a:extLst>
          </p:cNvPr>
          <p:cNvSpPr txBox="1"/>
          <p:nvPr/>
        </p:nvSpPr>
        <p:spPr>
          <a:xfrm>
            <a:off x="15367000" y="9702800"/>
            <a:ext cx="2032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1100">
                <a:solidFill>
                  <a:srgbClr val="94A3B8"/>
                </a:solidFill>
                <a:latin typeface="Arial" panose="020B0604020202020204" pitchFamily="34" charset="0"/>
              </a:rPr>
              <a:t>PANASONIC • 04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BC277E7-9B7E-65DE-8BE8-CFEEBBF1E79E}"/>
              </a:ext>
            </a:extLst>
          </p:cNvPr>
          <p:cNvSpPr/>
          <p:nvPr/>
        </p:nvSpPr>
        <p:spPr>
          <a:xfrm>
            <a:off x="698500" y="3810000"/>
            <a:ext cx="2794000" cy="2032000"/>
          </a:xfrm>
          <a:prstGeom prst="roundRect">
            <a:avLst/>
          </a:prstGeom>
          <a:solidFill>
            <a:srgbClr val="051873"/>
          </a:solidFill>
          <a:ln w="15240">
            <a:solidFill>
              <a:srgbClr val="00E6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42ECD2B-FE2B-1EBA-563E-28957C1DF217}"/>
              </a:ext>
            </a:extLst>
          </p:cNvPr>
          <p:cNvSpPr/>
          <p:nvPr/>
        </p:nvSpPr>
        <p:spPr>
          <a:xfrm>
            <a:off x="1701800" y="3175000"/>
            <a:ext cx="787400" cy="787400"/>
          </a:xfrm>
          <a:prstGeom prst="ellipse">
            <a:avLst/>
          </a:prstGeom>
          <a:solidFill>
            <a:srgbClr val="00E6F0"/>
          </a:solidFill>
          <a:ln>
            <a:solidFill>
              <a:srgbClr val="00E6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451115-ED2A-78A9-085A-038E2624C6FE}"/>
              </a:ext>
            </a:extLst>
          </p:cNvPr>
          <p:cNvSpPr txBox="1"/>
          <p:nvPr/>
        </p:nvSpPr>
        <p:spPr>
          <a:xfrm>
            <a:off x="1841500" y="3390900"/>
            <a:ext cx="508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500" b="1">
                <a:solidFill>
                  <a:srgbClr val="020C5A"/>
                </a:solidFill>
                <a:latin typeface="Arial" panose="020B0604020202020204" pitchFamily="34" charset="0"/>
              </a:rPr>
              <a:t>01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E5C9E36-E478-9DF9-33C3-2C8ACC84B951}"/>
              </a:ext>
            </a:extLst>
          </p:cNvPr>
          <p:cNvSpPr txBox="1"/>
          <p:nvPr/>
        </p:nvSpPr>
        <p:spPr>
          <a:xfrm>
            <a:off x="927100" y="4089400"/>
            <a:ext cx="23368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100" b="1">
                <a:solidFill>
                  <a:srgbClr val="FFFFFF"/>
                </a:solidFill>
                <a:latin typeface="Arial" panose="020B0604020202020204" pitchFamily="34" charset="0"/>
              </a:rPr>
              <a:t>LNB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849379B-68BB-78E8-7B26-FEF36A3A0958}"/>
              </a:ext>
            </a:extLst>
          </p:cNvPr>
          <p:cNvSpPr txBox="1"/>
          <p:nvPr/>
        </p:nvSpPr>
        <p:spPr>
          <a:xfrm>
            <a:off x="927100" y="4724400"/>
            <a:ext cx="23368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500">
                <a:solidFill>
                  <a:srgbClr val="E6F0FA"/>
                </a:solidFill>
                <a:latin typeface="Arial" panose="020B0604020202020204" pitchFamily="34" charset="0"/>
              </a:rPr>
              <a:t>.u01 raw data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170928B-6C93-6082-BB07-7FCA6C891713}"/>
              </a:ext>
            </a:extLst>
          </p:cNvPr>
          <p:cNvCxnSpPr/>
          <p:nvPr/>
        </p:nvCxnSpPr>
        <p:spPr>
          <a:xfrm>
            <a:off x="3492500" y="4826000"/>
            <a:ext cx="558800" cy="0"/>
          </a:xfrm>
          <a:prstGeom prst="line">
            <a:avLst/>
          </a:prstGeom>
          <a:ln w="38100">
            <a:solidFill>
              <a:srgbClr val="00E6F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9C4E5170-8A96-86C3-1178-00855E352A41}"/>
              </a:ext>
            </a:extLst>
          </p:cNvPr>
          <p:cNvSpPr/>
          <p:nvPr/>
        </p:nvSpPr>
        <p:spPr>
          <a:xfrm>
            <a:off x="4152900" y="3810000"/>
            <a:ext cx="2794000" cy="2032000"/>
          </a:xfrm>
          <a:prstGeom prst="roundRect">
            <a:avLst/>
          </a:prstGeom>
          <a:solidFill>
            <a:srgbClr val="051873"/>
          </a:solidFill>
          <a:ln w="15240">
            <a:solidFill>
              <a:srgbClr val="00E6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B080CAB-1FE0-78D0-E16E-0F7952269C88}"/>
              </a:ext>
            </a:extLst>
          </p:cNvPr>
          <p:cNvSpPr/>
          <p:nvPr/>
        </p:nvSpPr>
        <p:spPr>
          <a:xfrm>
            <a:off x="5156200" y="3175000"/>
            <a:ext cx="787400" cy="787400"/>
          </a:xfrm>
          <a:prstGeom prst="ellipse">
            <a:avLst/>
          </a:prstGeom>
          <a:solidFill>
            <a:srgbClr val="00E6F0"/>
          </a:solidFill>
          <a:ln>
            <a:solidFill>
              <a:srgbClr val="00E6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F31BC67-9D13-6997-B340-4DCB208753C3}"/>
              </a:ext>
            </a:extLst>
          </p:cNvPr>
          <p:cNvSpPr txBox="1"/>
          <p:nvPr/>
        </p:nvSpPr>
        <p:spPr>
          <a:xfrm>
            <a:off x="5295900" y="3390900"/>
            <a:ext cx="508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500" b="1">
                <a:solidFill>
                  <a:srgbClr val="020C5A"/>
                </a:solidFill>
                <a:latin typeface="Arial" panose="020B0604020202020204" pitchFamily="34" charset="0"/>
              </a:rPr>
              <a:t>02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3041744-6078-F1F2-4AA7-ECF3FC90BAE9}"/>
              </a:ext>
            </a:extLst>
          </p:cNvPr>
          <p:cNvSpPr txBox="1"/>
          <p:nvPr/>
        </p:nvSpPr>
        <p:spPr>
          <a:xfrm>
            <a:off x="4381500" y="4089400"/>
            <a:ext cx="23368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100" b="1">
                <a:solidFill>
                  <a:srgbClr val="FFFFFF"/>
                </a:solidFill>
                <a:latin typeface="Arial" panose="020B0604020202020204" pitchFamily="34" charset="0"/>
              </a:rPr>
              <a:t>SFTP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51C4DD3-ED79-8CC6-B3CC-C7AACB617C8B}"/>
              </a:ext>
            </a:extLst>
          </p:cNvPr>
          <p:cNvSpPr txBox="1"/>
          <p:nvPr/>
        </p:nvSpPr>
        <p:spPr>
          <a:xfrm>
            <a:off x="4381500" y="4724400"/>
            <a:ext cx="23368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500">
                <a:solidFill>
                  <a:srgbClr val="E6F0FA"/>
                </a:solidFill>
                <a:latin typeface="Arial" panose="020B0604020202020204" pitchFamily="34" charset="0"/>
              </a:rPr>
              <a:t>Secure transfer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CC4DD4E-4FED-D1AD-C930-7145F155D6C0}"/>
              </a:ext>
            </a:extLst>
          </p:cNvPr>
          <p:cNvCxnSpPr/>
          <p:nvPr/>
        </p:nvCxnSpPr>
        <p:spPr>
          <a:xfrm>
            <a:off x="6946900" y="4826000"/>
            <a:ext cx="558800" cy="0"/>
          </a:xfrm>
          <a:prstGeom prst="line">
            <a:avLst/>
          </a:prstGeom>
          <a:ln w="38100">
            <a:solidFill>
              <a:srgbClr val="00E6F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09663B93-4823-C645-3788-D7A7E108DE91}"/>
              </a:ext>
            </a:extLst>
          </p:cNvPr>
          <p:cNvSpPr/>
          <p:nvPr/>
        </p:nvSpPr>
        <p:spPr>
          <a:xfrm>
            <a:off x="7607300" y="3810000"/>
            <a:ext cx="2794000" cy="2032000"/>
          </a:xfrm>
          <a:prstGeom prst="roundRect">
            <a:avLst/>
          </a:prstGeom>
          <a:solidFill>
            <a:srgbClr val="051873"/>
          </a:solidFill>
          <a:ln w="15240">
            <a:solidFill>
              <a:srgbClr val="00E6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B4A51C6-7890-32B5-F928-5191E769C9A4}"/>
              </a:ext>
            </a:extLst>
          </p:cNvPr>
          <p:cNvSpPr/>
          <p:nvPr/>
        </p:nvSpPr>
        <p:spPr>
          <a:xfrm>
            <a:off x="8610600" y="3175000"/>
            <a:ext cx="787400" cy="787400"/>
          </a:xfrm>
          <a:prstGeom prst="ellipse">
            <a:avLst/>
          </a:prstGeom>
          <a:solidFill>
            <a:srgbClr val="00E6F0"/>
          </a:solidFill>
          <a:ln>
            <a:solidFill>
              <a:srgbClr val="00E6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38B5DC7-E57E-203E-6A3F-43A26D5A2079}"/>
              </a:ext>
            </a:extLst>
          </p:cNvPr>
          <p:cNvSpPr txBox="1"/>
          <p:nvPr/>
        </p:nvSpPr>
        <p:spPr>
          <a:xfrm>
            <a:off x="8750300" y="3390900"/>
            <a:ext cx="508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500" b="1">
                <a:solidFill>
                  <a:srgbClr val="020C5A"/>
                </a:solidFill>
                <a:latin typeface="Arial" panose="020B0604020202020204" pitchFamily="34" charset="0"/>
              </a:rPr>
              <a:t>03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3580953-F0DE-474F-02F8-0809789873CE}"/>
              </a:ext>
            </a:extLst>
          </p:cNvPr>
          <p:cNvSpPr txBox="1"/>
          <p:nvPr/>
        </p:nvSpPr>
        <p:spPr>
          <a:xfrm>
            <a:off x="7835900" y="4089400"/>
            <a:ext cx="23368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100" b="1">
                <a:solidFill>
                  <a:srgbClr val="FFFFFF"/>
                </a:solidFill>
                <a:latin typeface="Arial" panose="020B0604020202020204" pitchFamily="34" charset="0"/>
              </a:rPr>
              <a:t>Node-RED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D487103-7F86-91DB-6E4B-A37AF0B24350}"/>
              </a:ext>
            </a:extLst>
          </p:cNvPr>
          <p:cNvSpPr txBox="1"/>
          <p:nvPr/>
        </p:nvSpPr>
        <p:spPr>
          <a:xfrm>
            <a:off x="7835900" y="4724400"/>
            <a:ext cx="23368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500">
                <a:solidFill>
                  <a:srgbClr val="E6F0FA"/>
                </a:solidFill>
                <a:latin typeface="Arial" panose="020B0604020202020204" pitchFamily="34" charset="0"/>
              </a:rPr>
              <a:t>Parse + delta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1864491-24D8-0A30-883D-86CC2702BC41}"/>
              </a:ext>
            </a:extLst>
          </p:cNvPr>
          <p:cNvCxnSpPr/>
          <p:nvPr/>
        </p:nvCxnSpPr>
        <p:spPr>
          <a:xfrm>
            <a:off x="10401300" y="4826000"/>
            <a:ext cx="558800" cy="0"/>
          </a:xfrm>
          <a:prstGeom prst="line">
            <a:avLst/>
          </a:prstGeom>
          <a:ln w="38100">
            <a:solidFill>
              <a:srgbClr val="00E6F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2370E711-AAFB-13EE-D09B-5EE4B9374401}"/>
              </a:ext>
            </a:extLst>
          </p:cNvPr>
          <p:cNvSpPr/>
          <p:nvPr/>
        </p:nvSpPr>
        <p:spPr>
          <a:xfrm>
            <a:off x="11061700" y="3810000"/>
            <a:ext cx="2794000" cy="2032000"/>
          </a:xfrm>
          <a:prstGeom prst="roundRect">
            <a:avLst/>
          </a:prstGeom>
          <a:solidFill>
            <a:srgbClr val="051873"/>
          </a:solidFill>
          <a:ln w="15240">
            <a:solidFill>
              <a:srgbClr val="00E6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8231798D-E736-D9F1-F0A7-3F6E16A59F09}"/>
              </a:ext>
            </a:extLst>
          </p:cNvPr>
          <p:cNvSpPr/>
          <p:nvPr/>
        </p:nvSpPr>
        <p:spPr>
          <a:xfrm>
            <a:off x="12065000" y="3175000"/>
            <a:ext cx="787400" cy="787400"/>
          </a:xfrm>
          <a:prstGeom prst="ellipse">
            <a:avLst/>
          </a:prstGeom>
          <a:solidFill>
            <a:srgbClr val="00E6F0"/>
          </a:solidFill>
          <a:ln>
            <a:solidFill>
              <a:srgbClr val="00E6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91D44BA-B74B-F67F-D027-C2179C6A3AA1}"/>
              </a:ext>
            </a:extLst>
          </p:cNvPr>
          <p:cNvSpPr txBox="1"/>
          <p:nvPr/>
        </p:nvSpPr>
        <p:spPr>
          <a:xfrm>
            <a:off x="12204700" y="3390900"/>
            <a:ext cx="508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500" b="1">
                <a:solidFill>
                  <a:srgbClr val="020C5A"/>
                </a:solidFill>
                <a:latin typeface="Arial" panose="020B0604020202020204" pitchFamily="34" charset="0"/>
              </a:rPr>
              <a:t>04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4D480B9-4C3C-AC21-784F-55DC3D40FFE0}"/>
              </a:ext>
            </a:extLst>
          </p:cNvPr>
          <p:cNvSpPr txBox="1"/>
          <p:nvPr/>
        </p:nvSpPr>
        <p:spPr>
          <a:xfrm>
            <a:off x="11290300" y="4089400"/>
            <a:ext cx="23368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100" b="1">
                <a:solidFill>
                  <a:srgbClr val="FFFFFF"/>
                </a:solidFill>
                <a:latin typeface="Arial" panose="020B0604020202020204" pitchFamily="34" charset="0"/>
              </a:rPr>
              <a:t>PostgreSQL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97907A9-27CD-2B47-C4C0-EA68B74ED31D}"/>
              </a:ext>
            </a:extLst>
          </p:cNvPr>
          <p:cNvSpPr txBox="1"/>
          <p:nvPr/>
        </p:nvSpPr>
        <p:spPr>
          <a:xfrm>
            <a:off x="11290300" y="4724400"/>
            <a:ext cx="23368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500">
                <a:solidFill>
                  <a:srgbClr val="E6F0FA"/>
                </a:solidFill>
                <a:latin typeface="Arial" panose="020B0604020202020204" pitchFamily="34" charset="0"/>
              </a:rPr>
              <a:t>Store + state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B89B26A-26C6-61DE-E47C-D375DA0E4419}"/>
              </a:ext>
            </a:extLst>
          </p:cNvPr>
          <p:cNvCxnSpPr/>
          <p:nvPr/>
        </p:nvCxnSpPr>
        <p:spPr>
          <a:xfrm>
            <a:off x="13855700" y="4826000"/>
            <a:ext cx="558800" cy="0"/>
          </a:xfrm>
          <a:prstGeom prst="line">
            <a:avLst/>
          </a:prstGeom>
          <a:ln w="38100">
            <a:solidFill>
              <a:srgbClr val="00E6F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1AE01C2A-20A4-C469-BFD7-FCFF5353CB3A}"/>
              </a:ext>
            </a:extLst>
          </p:cNvPr>
          <p:cNvSpPr/>
          <p:nvPr/>
        </p:nvSpPr>
        <p:spPr>
          <a:xfrm>
            <a:off x="14516100" y="3810000"/>
            <a:ext cx="2794000" cy="2032000"/>
          </a:xfrm>
          <a:prstGeom prst="roundRect">
            <a:avLst/>
          </a:prstGeom>
          <a:solidFill>
            <a:srgbClr val="051873"/>
          </a:solidFill>
          <a:ln w="15240">
            <a:solidFill>
              <a:srgbClr val="00E6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6EA5C6BF-F4B3-6BBA-8976-9F983DFA5846}"/>
              </a:ext>
            </a:extLst>
          </p:cNvPr>
          <p:cNvSpPr/>
          <p:nvPr/>
        </p:nvSpPr>
        <p:spPr>
          <a:xfrm>
            <a:off x="15519400" y="3175000"/>
            <a:ext cx="787400" cy="787400"/>
          </a:xfrm>
          <a:prstGeom prst="ellipse">
            <a:avLst/>
          </a:prstGeom>
          <a:solidFill>
            <a:srgbClr val="00E6F0"/>
          </a:solidFill>
          <a:ln>
            <a:solidFill>
              <a:srgbClr val="00E6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ED5B433-3A63-DCEC-C95F-F1D2B13FD87D}"/>
              </a:ext>
            </a:extLst>
          </p:cNvPr>
          <p:cNvSpPr txBox="1"/>
          <p:nvPr/>
        </p:nvSpPr>
        <p:spPr>
          <a:xfrm>
            <a:off x="15659100" y="3390900"/>
            <a:ext cx="508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500" b="1">
                <a:solidFill>
                  <a:srgbClr val="020C5A"/>
                </a:solidFill>
                <a:latin typeface="Arial" panose="020B0604020202020204" pitchFamily="34" charset="0"/>
              </a:rPr>
              <a:t>05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83F70ED-F796-A89A-05FE-54BF78E54B01}"/>
              </a:ext>
            </a:extLst>
          </p:cNvPr>
          <p:cNvSpPr txBox="1"/>
          <p:nvPr/>
        </p:nvSpPr>
        <p:spPr>
          <a:xfrm>
            <a:off x="14744700" y="4089400"/>
            <a:ext cx="23368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100" b="1">
                <a:solidFill>
                  <a:srgbClr val="FFFFFF"/>
                </a:solidFill>
                <a:latin typeface="Arial" panose="020B0604020202020204" pitchFamily="34" charset="0"/>
              </a:rPr>
              <a:t>Web MPO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130396F-10CE-8682-89EC-DD2BFFD42299}"/>
              </a:ext>
            </a:extLst>
          </p:cNvPr>
          <p:cNvSpPr txBox="1"/>
          <p:nvPr/>
        </p:nvSpPr>
        <p:spPr>
          <a:xfrm>
            <a:off x="14744700" y="4724400"/>
            <a:ext cx="23368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500">
                <a:solidFill>
                  <a:srgbClr val="E6F0FA"/>
                </a:solidFill>
                <a:latin typeface="Arial" panose="020B0604020202020204" pitchFamily="34" charset="0"/>
              </a:rPr>
              <a:t>Dashboard + export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39E4AB2C-CBFD-4469-4897-08E18C19D956}"/>
              </a:ext>
            </a:extLst>
          </p:cNvPr>
          <p:cNvSpPr/>
          <p:nvPr/>
        </p:nvSpPr>
        <p:spPr>
          <a:xfrm>
            <a:off x="7010400" y="6604000"/>
            <a:ext cx="1905000" cy="431800"/>
          </a:xfrm>
          <a:prstGeom prst="roundRect">
            <a:avLst>
              <a:gd name="adj" fmla="val 25000"/>
            </a:avLst>
          </a:prstGeom>
          <a:solidFill>
            <a:srgbClr val="00E6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49AB1D2-EFB3-CAEC-DD3B-F973A826D75F}"/>
              </a:ext>
            </a:extLst>
          </p:cNvPr>
          <p:cNvSpPr txBox="1"/>
          <p:nvPr/>
        </p:nvSpPr>
        <p:spPr>
          <a:xfrm>
            <a:off x="7112000" y="6680200"/>
            <a:ext cx="17018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 b="1">
                <a:solidFill>
                  <a:srgbClr val="020C5A"/>
                </a:solidFill>
                <a:latin typeface="Arial" panose="020B0604020202020204" pitchFamily="34" charset="0"/>
              </a:rPr>
              <a:t>AUTOMATED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CCB24AA-1143-CE18-C718-13E6BFE5CB4D}"/>
              </a:ext>
            </a:extLst>
          </p:cNvPr>
          <p:cNvSpPr txBox="1"/>
          <p:nvPr/>
        </p:nvSpPr>
        <p:spPr>
          <a:xfrm>
            <a:off x="3873500" y="7366000"/>
            <a:ext cx="10541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000">
                <a:solidFill>
                  <a:srgbClr val="E6F0FA"/>
                </a:solidFill>
                <a:latin typeface="Arial" panose="020B0604020202020204" pitchFamily="34" charset="0"/>
              </a:rPr>
              <a:t>Không cần xử lý file thủ công sau khi dữ liệu vào PostgreSQL.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536D98-3304-2089-676A-682BBD86E262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39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809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C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reeform 2">
            <a:extLst>
              <a:ext uri="{FF2B5EF4-FFF2-40B4-BE49-F238E27FC236}">
                <a16:creationId xmlns:a16="http://schemas.microsoft.com/office/drawing/2014/main" id="{D0ACE44B-1804-6285-9DA8-3A5812D17FE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8" name="Group 3">
            <a:extLst>
              <a:ext uri="{FF2B5EF4-FFF2-40B4-BE49-F238E27FC236}">
                <a16:creationId xmlns:a16="http://schemas.microsoft.com/office/drawing/2014/main" id="{95EB7431-AF6B-B4BD-1E9E-302D021B74A9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39" name="Freeform 4">
              <a:extLst>
                <a:ext uri="{FF2B5EF4-FFF2-40B4-BE49-F238E27FC236}">
                  <a16:creationId xmlns:a16="http://schemas.microsoft.com/office/drawing/2014/main" id="{6903E54C-1FF1-C058-102E-721BB078427F}"/>
                </a:ext>
              </a:extLst>
            </p:cNvPr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20070">
                    <a:alpha val="67000"/>
                  </a:srgbClr>
                </a:gs>
                <a:gs pos="100000">
                  <a:srgbClr val="000640">
                    <a:alpha val="67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40" name="TextBox 5">
              <a:extLst>
                <a:ext uri="{FF2B5EF4-FFF2-40B4-BE49-F238E27FC236}">
                  <a16:creationId xmlns:a16="http://schemas.microsoft.com/office/drawing/2014/main" id="{CC35234F-C3E7-E4C8-835D-2BDB9787752F}"/>
                </a:ext>
              </a:extLst>
            </p:cNvPr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70740AAC-67AB-52DA-29B6-5F3C059D4800}"/>
              </a:ext>
            </a:extLst>
          </p:cNvPr>
          <p:cNvSpPr txBox="1"/>
          <p:nvPr/>
        </p:nvSpPr>
        <p:spPr>
          <a:xfrm>
            <a:off x="889000" y="1574800"/>
            <a:ext cx="7620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00E6F0"/>
                </a:solidFill>
                <a:latin typeface="Arial" panose="020B0604020202020204" pitchFamily="34" charset="0"/>
              </a:rPr>
              <a:t>CORE PROCESSING LOGIC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DEA38F-5477-E1C1-0418-E8620F27B42F}"/>
              </a:ext>
            </a:extLst>
          </p:cNvPr>
          <p:cNvSpPr txBox="1"/>
          <p:nvPr/>
        </p:nvSpPr>
        <p:spPr>
          <a:xfrm>
            <a:off x="889000" y="1917700"/>
            <a:ext cx="16510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3400" b="1">
                <a:solidFill>
                  <a:srgbClr val="FFFFFF"/>
                </a:solidFill>
                <a:latin typeface="Arial" panose="020B0604020202020204" pitchFamily="34" charset="0"/>
              </a:rPr>
              <a:t>Delta counter bảo toàn sản lượng thực</a:t>
            </a:r>
            <a:endParaRPr lang="en-US" sz="34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C74D776-644F-8B13-4B79-BF0358175AC5}"/>
              </a:ext>
            </a:extLst>
          </p:cNvPr>
          <p:cNvCxnSpPr/>
          <p:nvPr/>
        </p:nvCxnSpPr>
        <p:spPr>
          <a:xfrm>
            <a:off x="889000" y="9550400"/>
            <a:ext cx="16510000" cy="0"/>
          </a:xfrm>
          <a:prstGeom prst="line">
            <a:avLst/>
          </a:prstGeom>
          <a:ln w="1016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D6FC44A-26F1-242D-869B-969366616FE7}"/>
              </a:ext>
            </a:extLst>
          </p:cNvPr>
          <p:cNvSpPr txBox="1"/>
          <p:nvPr/>
        </p:nvSpPr>
        <p:spPr>
          <a:xfrm>
            <a:off x="889000" y="9702800"/>
            <a:ext cx="660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94A3B8"/>
                </a:solidFill>
                <a:latin typeface="Arial" panose="020B0604020202020204" pitchFamily="34" charset="0"/>
              </a:rPr>
              <a:t>MPO | Manufacturing Performance Overview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290084-4E5C-687E-8C69-65224501A435}"/>
              </a:ext>
            </a:extLst>
          </p:cNvPr>
          <p:cNvSpPr txBox="1"/>
          <p:nvPr/>
        </p:nvSpPr>
        <p:spPr>
          <a:xfrm>
            <a:off x="15367000" y="9702800"/>
            <a:ext cx="2032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1100">
                <a:solidFill>
                  <a:srgbClr val="94A3B8"/>
                </a:solidFill>
                <a:latin typeface="Arial" panose="020B0604020202020204" pitchFamily="34" charset="0"/>
              </a:rPr>
              <a:t>PANASONIC • 05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83166A6-3005-5EF3-FE14-7E71C8AB5B69}"/>
              </a:ext>
            </a:extLst>
          </p:cNvPr>
          <p:cNvSpPr/>
          <p:nvPr/>
        </p:nvSpPr>
        <p:spPr>
          <a:xfrm>
            <a:off x="889000" y="2984500"/>
            <a:ext cx="6858000" cy="3937000"/>
          </a:xfrm>
          <a:prstGeom prst="roundRect">
            <a:avLst/>
          </a:prstGeom>
          <a:solidFill>
            <a:srgbClr val="051873"/>
          </a:solidFill>
          <a:ln w="19050">
            <a:solidFill>
              <a:srgbClr val="00E6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CD71FCA-D609-586A-3325-609297A2A1E9}"/>
              </a:ext>
            </a:extLst>
          </p:cNvPr>
          <p:cNvSpPr txBox="1"/>
          <p:nvPr/>
        </p:nvSpPr>
        <p:spPr>
          <a:xfrm>
            <a:off x="1333500" y="3492500"/>
            <a:ext cx="2159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400" b="1">
                <a:solidFill>
                  <a:srgbClr val="00E6F0"/>
                </a:solidFill>
                <a:latin typeface="Arial" panose="020B0604020202020204" pitchFamily="34" charset="0"/>
              </a:rPr>
              <a:t>DELTA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829402A-1C78-A6E5-068A-C92B793F9D1C}"/>
              </a:ext>
            </a:extLst>
          </p:cNvPr>
          <p:cNvSpPr txBox="1"/>
          <p:nvPr/>
        </p:nvSpPr>
        <p:spPr>
          <a:xfrm>
            <a:off x="1333500" y="4254500"/>
            <a:ext cx="558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Arial" panose="020B0604020202020204" pitchFamily="34" charset="0"/>
              </a:rPr>
              <a:t>= Current counter − Previous counter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073C76C-1448-64A9-025F-60A91878CCAF}"/>
              </a:ext>
            </a:extLst>
          </p:cNvPr>
          <p:cNvCxnSpPr/>
          <p:nvPr/>
        </p:nvCxnSpPr>
        <p:spPr>
          <a:xfrm>
            <a:off x="1333500" y="4978400"/>
            <a:ext cx="5461000" cy="0"/>
          </a:xfrm>
          <a:prstGeom prst="line">
            <a:avLst/>
          </a:prstGeom>
          <a:ln w="127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D97D34C-D537-9AEE-D112-EDF74C333725}"/>
              </a:ext>
            </a:extLst>
          </p:cNvPr>
          <p:cNvSpPr txBox="1"/>
          <p:nvPr/>
        </p:nvSpPr>
        <p:spPr>
          <a:xfrm>
            <a:off x="1333500" y="5334000"/>
            <a:ext cx="1905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94A3B8"/>
                </a:solidFill>
                <a:latin typeface="Arial" panose="020B0604020202020204" pitchFamily="34" charset="0"/>
              </a:rPr>
              <a:t>Áp dụng cho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52489C2-56C1-8062-3A46-6A41D56801F7}"/>
              </a:ext>
            </a:extLst>
          </p:cNvPr>
          <p:cNvSpPr txBox="1"/>
          <p:nvPr/>
        </p:nvSpPr>
        <p:spPr>
          <a:xfrm>
            <a:off x="1333500" y="5778500"/>
            <a:ext cx="5461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00">
                <a:solidFill>
                  <a:srgbClr val="E6F0FA"/>
                </a:solidFill>
                <a:latin typeface="Arial" panose="020B0604020202020204" pitchFamily="34" charset="0"/>
              </a:rPr>
              <a:t>Production • Time • Feeder • Nozzle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9320CAB-AC10-032E-1FEF-2A3BBBFE246B}"/>
              </a:ext>
            </a:extLst>
          </p:cNvPr>
          <p:cNvSpPr/>
          <p:nvPr/>
        </p:nvSpPr>
        <p:spPr>
          <a:xfrm>
            <a:off x="8636000" y="2984500"/>
            <a:ext cx="8763000" cy="1397000"/>
          </a:xfrm>
          <a:prstGeom prst="roundRect">
            <a:avLst/>
          </a:prstGeom>
          <a:solidFill>
            <a:srgbClr val="051873"/>
          </a:solidFill>
          <a:ln w="12700">
            <a:solidFill>
              <a:srgbClr val="22C5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CC87957-6B98-4ACF-5FC7-F6BAAE640488}"/>
              </a:ext>
            </a:extLst>
          </p:cNvPr>
          <p:cNvSpPr txBox="1"/>
          <p:nvPr/>
        </p:nvSpPr>
        <p:spPr>
          <a:xfrm>
            <a:off x="9017000" y="32131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22C55E"/>
                </a:solidFill>
                <a:latin typeface="Arial" panose="020B0604020202020204" pitchFamily="34" charset="0"/>
              </a:rPr>
              <a:t>Lần đầu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15B6B16-EA59-0BE7-2B55-035EC55C929F}"/>
              </a:ext>
            </a:extLst>
          </p:cNvPr>
          <p:cNvSpPr txBox="1"/>
          <p:nvPr/>
        </p:nvSpPr>
        <p:spPr>
          <a:xfrm>
            <a:off x="11620500" y="3213100"/>
            <a:ext cx="520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FFFFFF"/>
                </a:solidFill>
                <a:latin typeface="Arial" panose="020B0604020202020204" pitchFamily="34" charset="0"/>
              </a:rPr>
              <a:t>Delta = Current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7D2AA10-46C8-EC33-2935-CA7D8BBC0825}"/>
              </a:ext>
            </a:extLst>
          </p:cNvPr>
          <p:cNvSpPr txBox="1"/>
          <p:nvPr/>
        </p:nvSpPr>
        <p:spPr>
          <a:xfrm>
            <a:off x="9017000" y="3721100"/>
            <a:ext cx="78105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500">
                <a:solidFill>
                  <a:srgbClr val="E6F0FA"/>
                </a:solidFill>
                <a:latin typeface="Arial" panose="020B0604020202020204" pitchFamily="34" charset="0"/>
              </a:rPr>
              <a:t>Không có state trước đó</a:t>
            </a:r>
            <a:endParaRPr lang="en-US" sz="1500">
              <a:solidFill>
                <a:srgbClr val="E6F0FA"/>
              </a:solidFill>
              <a:latin typeface="Arial" panose="020B0604020202020204" pitchFamily="34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74852AE7-1891-A037-62DF-5FCD9F21508E}"/>
              </a:ext>
            </a:extLst>
          </p:cNvPr>
          <p:cNvSpPr/>
          <p:nvPr/>
        </p:nvSpPr>
        <p:spPr>
          <a:xfrm>
            <a:off x="8636000" y="4699000"/>
            <a:ext cx="8763000" cy="1397000"/>
          </a:xfrm>
          <a:prstGeom prst="roundRect">
            <a:avLst/>
          </a:prstGeom>
          <a:solidFill>
            <a:srgbClr val="051873"/>
          </a:solidFill>
          <a:ln w="12700">
            <a:solidFill>
              <a:srgbClr val="00E6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CFD4A37-9FFE-C435-38CE-9FDCF4407393}"/>
              </a:ext>
            </a:extLst>
          </p:cNvPr>
          <p:cNvSpPr txBox="1"/>
          <p:nvPr/>
        </p:nvSpPr>
        <p:spPr>
          <a:xfrm>
            <a:off x="9017000" y="49276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b="1">
                <a:solidFill>
                  <a:srgbClr val="00E6F0"/>
                </a:solidFill>
                <a:latin typeface="Arial" panose="020B0604020202020204" pitchFamily="34" charset="0"/>
              </a:rPr>
              <a:t>Bình thường</a:t>
            </a:r>
            <a:endParaRPr lang="en-US" b="1">
              <a:solidFill>
                <a:srgbClr val="00E6F0"/>
              </a:solidFill>
              <a:latin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352A76C-A196-CA71-43BA-4EC896559D7F}"/>
              </a:ext>
            </a:extLst>
          </p:cNvPr>
          <p:cNvSpPr txBox="1"/>
          <p:nvPr/>
        </p:nvSpPr>
        <p:spPr>
          <a:xfrm>
            <a:off x="11620500" y="4927600"/>
            <a:ext cx="520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FFFFFF"/>
                </a:solidFill>
                <a:latin typeface="Arial" panose="020B0604020202020204" pitchFamily="34" charset="0"/>
              </a:rPr>
              <a:t>Delta = Current − Previous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F335947-B81B-5752-CD18-6759C9CB9A95}"/>
              </a:ext>
            </a:extLst>
          </p:cNvPr>
          <p:cNvSpPr txBox="1"/>
          <p:nvPr/>
        </p:nvSpPr>
        <p:spPr>
          <a:xfrm>
            <a:off x="9017000" y="5435600"/>
            <a:ext cx="78105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E6F0FA"/>
                </a:solidFill>
                <a:latin typeface="Arial" panose="020B0604020202020204" pitchFamily="34" charset="0"/>
              </a:rPr>
              <a:t>Chỉ ghi phần phát sinh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9D7C0DB-CE11-8AF5-1784-33886310C8AA}"/>
              </a:ext>
            </a:extLst>
          </p:cNvPr>
          <p:cNvSpPr/>
          <p:nvPr/>
        </p:nvSpPr>
        <p:spPr>
          <a:xfrm>
            <a:off x="8636000" y="6413500"/>
            <a:ext cx="8763000" cy="1397000"/>
          </a:xfrm>
          <a:prstGeom prst="roundRect">
            <a:avLst/>
          </a:prstGeom>
          <a:solidFill>
            <a:srgbClr val="051873"/>
          </a:solidFill>
          <a:ln w="12700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3230DB1-C79B-CFE3-A8DD-A3F47E22EBE1}"/>
              </a:ext>
            </a:extLst>
          </p:cNvPr>
          <p:cNvSpPr txBox="1"/>
          <p:nvPr/>
        </p:nvSpPr>
        <p:spPr>
          <a:xfrm>
            <a:off x="9017000" y="66421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F59E0B"/>
                </a:solidFill>
                <a:latin typeface="Arial" panose="020B0604020202020204" pitchFamily="34" charset="0"/>
              </a:rPr>
              <a:t>Counter reset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0F07EB5-E7B6-3500-16CB-8772A139E5FF}"/>
              </a:ext>
            </a:extLst>
          </p:cNvPr>
          <p:cNvSpPr txBox="1"/>
          <p:nvPr/>
        </p:nvSpPr>
        <p:spPr>
          <a:xfrm>
            <a:off x="11620500" y="6642100"/>
            <a:ext cx="520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FFFFFF"/>
                </a:solidFill>
                <a:latin typeface="Arial" panose="020B0604020202020204" pitchFamily="34" charset="0"/>
              </a:rPr>
              <a:t>Delta = Current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788BC96-AA9E-0C8F-995F-E84CD6D00B8A}"/>
              </a:ext>
            </a:extLst>
          </p:cNvPr>
          <p:cNvSpPr txBox="1"/>
          <p:nvPr/>
        </p:nvSpPr>
        <p:spPr>
          <a:xfrm>
            <a:off x="9017000" y="7150100"/>
            <a:ext cx="78105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E6F0FA"/>
                </a:solidFill>
                <a:latin typeface="Arial" panose="020B0604020202020204" pitchFamily="34" charset="0"/>
              </a:rPr>
              <a:t>Current &lt; Previous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6A03FE7-C225-8482-D04A-69D2CA24159F}"/>
              </a:ext>
            </a:extLst>
          </p:cNvPr>
          <p:cNvSpPr txBox="1"/>
          <p:nvPr/>
        </p:nvSpPr>
        <p:spPr>
          <a:xfrm>
            <a:off x="889000" y="8255000"/>
            <a:ext cx="165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b="1">
                <a:solidFill>
                  <a:srgbClr val="00E6F0"/>
                </a:solidFill>
                <a:latin typeface="Arial" panose="020B0604020202020204" pitchFamily="34" charset="0"/>
              </a:rPr>
              <a:t>Tránh cộng lặp • Xử lý reset máy • Duy trì tính đúng theo kỳ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A44DA1-FBFA-5C2A-6C5D-C614AB646D86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39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2661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C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Freeform 2">
            <a:extLst>
              <a:ext uri="{FF2B5EF4-FFF2-40B4-BE49-F238E27FC236}">
                <a16:creationId xmlns:a16="http://schemas.microsoft.com/office/drawing/2014/main" id="{1645AED3-38F2-0CA4-0197-1B7B0F6004D0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57" name="Group 3">
            <a:extLst>
              <a:ext uri="{FF2B5EF4-FFF2-40B4-BE49-F238E27FC236}">
                <a16:creationId xmlns:a16="http://schemas.microsoft.com/office/drawing/2014/main" id="{BC0F409B-2E01-3460-8B74-72416FD36EE7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58" name="Freeform 4">
              <a:extLst>
                <a:ext uri="{FF2B5EF4-FFF2-40B4-BE49-F238E27FC236}">
                  <a16:creationId xmlns:a16="http://schemas.microsoft.com/office/drawing/2014/main" id="{472E6056-508F-31D5-A5BD-8AC2A16E1BB1}"/>
                </a:ext>
              </a:extLst>
            </p:cNvPr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20070">
                    <a:alpha val="67000"/>
                  </a:srgbClr>
                </a:gs>
                <a:gs pos="100000">
                  <a:srgbClr val="000640">
                    <a:alpha val="67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9" name="TextBox 5">
              <a:extLst>
                <a:ext uri="{FF2B5EF4-FFF2-40B4-BE49-F238E27FC236}">
                  <a16:creationId xmlns:a16="http://schemas.microsoft.com/office/drawing/2014/main" id="{601EC715-C7DA-DE8F-7803-564E2E15DC7D}"/>
                </a:ext>
              </a:extLst>
            </p:cNvPr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0042A110-6FC3-CFD2-2EFF-0AB9AB133C00}"/>
              </a:ext>
            </a:extLst>
          </p:cNvPr>
          <p:cNvSpPr txBox="1"/>
          <p:nvPr/>
        </p:nvSpPr>
        <p:spPr>
          <a:xfrm>
            <a:off x="889000" y="1574800"/>
            <a:ext cx="7620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00E6F0"/>
                </a:solidFill>
                <a:latin typeface="Arial" panose="020B0604020202020204" pitchFamily="34" charset="0"/>
              </a:rPr>
              <a:t>POSTGRESQL DATA MODEL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4C8274-C9FD-2E7B-2CA3-057ADA83C856}"/>
              </a:ext>
            </a:extLst>
          </p:cNvPr>
          <p:cNvSpPr txBox="1"/>
          <p:nvPr/>
        </p:nvSpPr>
        <p:spPr>
          <a:xfrm>
            <a:off x="889000" y="1917700"/>
            <a:ext cx="16510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3400" b="1">
                <a:solidFill>
                  <a:srgbClr val="FFFFFF"/>
                </a:solidFill>
                <a:latin typeface="Arial" panose="020B0604020202020204" pitchFamily="34" charset="0"/>
              </a:rPr>
              <a:t>Bốn bảng tạo xương sống dữ liệu</a:t>
            </a:r>
            <a:endParaRPr lang="en-US" sz="34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F859A35-D7BB-584D-08FD-B805FDDDFBF1}"/>
              </a:ext>
            </a:extLst>
          </p:cNvPr>
          <p:cNvCxnSpPr/>
          <p:nvPr/>
        </p:nvCxnSpPr>
        <p:spPr>
          <a:xfrm>
            <a:off x="889000" y="9550400"/>
            <a:ext cx="16510000" cy="0"/>
          </a:xfrm>
          <a:prstGeom prst="line">
            <a:avLst/>
          </a:prstGeom>
          <a:ln w="1016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00862C3-214D-6963-E86C-32101533CD2E}"/>
              </a:ext>
            </a:extLst>
          </p:cNvPr>
          <p:cNvSpPr txBox="1"/>
          <p:nvPr/>
        </p:nvSpPr>
        <p:spPr>
          <a:xfrm>
            <a:off x="889000" y="9702800"/>
            <a:ext cx="660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94A3B8"/>
                </a:solidFill>
                <a:latin typeface="Arial" panose="020B0604020202020204" pitchFamily="34" charset="0"/>
              </a:rPr>
              <a:t>MPO | Manufacturing Performance Overview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CFF275-F396-F471-DF93-EF9B444CDCA5}"/>
              </a:ext>
            </a:extLst>
          </p:cNvPr>
          <p:cNvSpPr txBox="1"/>
          <p:nvPr/>
        </p:nvSpPr>
        <p:spPr>
          <a:xfrm>
            <a:off x="15367000" y="9702800"/>
            <a:ext cx="2032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1100">
                <a:solidFill>
                  <a:srgbClr val="94A3B8"/>
                </a:solidFill>
                <a:latin typeface="Arial" panose="020B0604020202020204" pitchFamily="34" charset="0"/>
              </a:rPr>
              <a:t>PANASONIC • 06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5BB5176-1D84-0741-00C8-0B85E2A055CF}"/>
              </a:ext>
            </a:extLst>
          </p:cNvPr>
          <p:cNvSpPr/>
          <p:nvPr/>
        </p:nvSpPr>
        <p:spPr>
          <a:xfrm>
            <a:off x="889000" y="3937000"/>
            <a:ext cx="3810000" cy="1968500"/>
          </a:xfrm>
          <a:prstGeom prst="roundRect">
            <a:avLst/>
          </a:prstGeom>
          <a:solidFill>
            <a:srgbClr val="051873"/>
          </a:solidFill>
          <a:ln w="12700">
            <a:solidFill>
              <a:srgbClr val="00E6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FC9265F-5A3E-0BCF-984E-8BE308F2BB5D}"/>
              </a:ext>
            </a:extLst>
          </p:cNvPr>
          <p:cNvSpPr/>
          <p:nvPr/>
        </p:nvSpPr>
        <p:spPr>
          <a:xfrm>
            <a:off x="889000" y="3937000"/>
            <a:ext cx="101600" cy="1968500"/>
          </a:xfrm>
          <a:prstGeom prst="rect">
            <a:avLst/>
          </a:prstGeom>
          <a:solidFill>
            <a:srgbClr val="00E6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D87CADF-474A-BD7E-6B14-416DC084D025}"/>
              </a:ext>
            </a:extLst>
          </p:cNvPr>
          <p:cNvSpPr/>
          <p:nvPr/>
        </p:nvSpPr>
        <p:spPr>
          <a:xfrm>
            <a:off x="1193800" y="4165600"/>
            <a:ext cx="990600" cy="431800"/>
          </a:xfrm>
          <a:prstGeom prst="roundRect">
            <a:avLst>
              <a:gd name="adj" fmla="val 25000"/>
            </a:avLst>
          </a:prstGeom>
          <a:solidFill>
            <a:srgbClr val="00E6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FF50203-5305-8639-0767-BBF907A50113}"/>
              </a:ext>
            </a:extLst>
          </p:cNvPr>
          <p:cNvSpPr txBox="1"/>
          <p:nvPr/>
        </p:nvSpPr>
        <p:spPr>
          <a:xfrm>
            <a:off x="1295400" y="4241800"/>
            <a:ext cx="7874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 b="1">
                <a:solidFill>
                  <a:srgbClr val="020C5A"/>
                </a:solidFill>
                <a:latin typeface="Arial" panose="020B0604020202020204" pitchFamily="34" charset="0"/>
              </a:rPr>
              <a:t>MASTER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B48AD29-A241-A81F-F314-12E9D8181EC0}"/>
              </a:ext>
            </a:extLst>
          </p:cNvPr>
          <p:cNvSpPr txBox="1"/>
          <p:nvPr/>
        </p:nvSpPr>
        <p:spPr>
          <a:xfrm>
            <a:off x="1193800" y="4775200"/>
            <a:ext cx="32004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>
                <a:solidFill>
                  <a:srgbClr val="FFFFFF"/>
                </a:solidFill>
                <a:latin typeface="Arial" panose="020B0604020202020204" pitchFamily="34" charset="0"/>
              </a:rPr>
              <a:t>master_machines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EA050EF-BED2-A5AF-D6A4-A13ED8138314}"/>
              </a:ext>
            </a:extLst>
          </p:cNvPr>
          <p:cNvSpPr txBox="1"/>
          <p:nvPr/>
        </p:nvSpPr>
        <p:spPr>
          <a:xfrm>
            <a:off x="1193800" y="5384800"/>
            <a:ext cx="3200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>
                <a:solidFill>
                  <a:srgbClr val="E6F0FA"/>
                </a:solidFill>
                <a:latin typeface="Arial" panose="020B0604020202020204" pitchFamily="34" charset="0"/>
              </a:rPr>
              <a:t>Danh mục máy chuẩn hóa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92D605A8-FE99-42B4-B006-AFBAD4BDCA23}"/>
              </a:ext>
            </a:extLst>
          </p:cNvPr>
          <p:cNvSpPr/>
          <p:nvPr/>
        </p:nvSpPr>
        <p:spPr>
          <a:xfrm>
            <a:off x="6921500" y="3175000"/>
            <a:ext cx="4445000" cy="2159000"/>
          </a:xfrm>
          <a:prstGeom prst="roundRect">
            <a:avLst/>
          </a:prstGeom>
          <a:solidFill>
            <a:srgbClr val="051873"/>
          </a:solidFill>
          <a:ln w="12700">
            <a:solidFill>
              <a:srgbClr val="00E6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09FB976-5DB4-75E2-51CF-EF42B68A59E6}"/>
              </a:ext>
            </a:extLst>
          </p:cNvPr>
          <p:cNvSpPr/>
          <p:nvPr/>
        </p:nvSpPr>
        <p:spPr>
          <a:xfrm>
            <a:off x="6921500" y="3175000"/>
            <a:ext cx="101600" cy="2159000"/>
          </a:xfrm>
          <a:prstGeom prst="rect">
            <a:avLst/>
          </a:prstGeom>
          <a:solidFill>
            <a:srgbClr val="00E6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CED61FC-D597-47D6-5B9D-214503542BDE}"/>
              </a:ext>
            </a:extLst>
          </p:cNvPr>
          <p:cNvSpPr/>
          <p:nvPr/>
        </p:nvSpPr>
        <p:spPr>
          <a:xfrm>
            <a:off x="7226300" y="3403600"/>
            <a:ext cx="787400" cy="431800"/>
          </a:xfrm>
          <a:prstGeom prst="roundRect">
            <a:avLst>
              <a:gd name="adj" fmla="val 25000"/>
            </a:avLst>
          </a:prstGeom>
          <a:solidFill>
            <a:srgbClr val="00E6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F83A2DC-30AE-D3CB-9DED-7A3EE106D792}"/>
              </a:ext>
            </a:extLst>
          </p:cNvPr>
          <p:cNvSpPr txBox="1"/>
          <p:nvPr/>
        </p:nvSpPr>
        <p:spPr>
          <a:xfrm>
            <a:off x="7327900" y="3479800"/>
            <a:ext cx="5842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 b="1">
                <a:solidFill>
                  <a:srgbClr val="020C5A"/>
                </a:solidFill>
                <a:latin typeface="Arial" panose="020B0604020202020204" pitchFamily="34" charset="0"/>
              </a:rPr>
              <a:t>FACT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CD112A2-5786-FB2B-D256-2C2D1FD7D43E}"/>
              </a:ext>
            </a:extLst>
          </p:cNvPr>
          <p:cNvSpPr txBox="1"/>
          <p:nvPr/>
        </p:nvSpPr>
        <p:spPr>
          <a:xfrm>
            <a:off x="7226300" y="4013200"/>
            <a:ext cx="38354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>
                <a:solidFill>
                  <a:srgbClr val="FFFFFF"/>
                </a:solidFill>
                <a:latin typeface="Arial" panose="020B0604020202020204" pitchFamily="34" charset="0"/>
              </a:rPr>
              <a:t>production_reports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6C01B76-3386-D1D1-0C72-5BEBFD45E73D}"/>
              </a:ext>
            </a:extLst>
          </p:cNvPr>
          <p:cNvSpPr txBox="1"/>
          <p:nvPr/>
        </p:nvSpPr>
        <p:spPr>
          <a:xfrm>
            <a:off x="7226300" y="4622800"/>
            <a:ext cx="3835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>
                <a:solidFill>
                  <a:srgbClr val="E6F0FA"/>
                </a:solidFill>
                <a:latin typeface="Arial" panose="020B0604020202020204" pitchFamily="34" charset="0"/>
              </a:rPr>
              <a:t>Lịch sử báo cáo trung tâm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93650E36-9478-5597-D6DD-DA1FACE6052E}"/>
              </a:ext>
            </a:extLst>
          </p:cNvPr>
          <p:cNvSpPr/>
          <p:nvPr/>
        </p:nvSpPr>
        <p:spPr>
          <a:xfrm>
            <a:off x="13589000" y="2667000"/>
            <a:ext cx="3810000" cy="1778000"/>
          </a:xfrm>
          <a:prstGeom prst="roundRect">
            <a:avLst/>
          </a:prstGeom>
          <a:solidFill>
            <a:srgbClr val="051873"/>
          </a:solidFill>
          <a:ln w="12700">
            <a:solidFill>
              <a:srgbClr val="00E6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E1A3AF8-F8C7-D9AA-2D2B-E0445569595F}"/>
              </a:ext>
            </a:extLst>
          </p:cNvPr>
          <p:cNvSpPr/>
          <p:nvPr/>
        </p:nvSpPr>
        <p:spPr>
          <a:xfrm>
            <a:off x="13589000" y="2667000"/>
            <a:ext cx="101600" cy="1778000"/>
          </a:xfrm>
          <a:prstGeom prst="rect">
            <a:avLst/>
          </a:prstGeom>
          <a:solidFill>
            <a:srgbClr val="00E6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D95B4DEF-1481-AD00-DDB5-B629787DB806}"/>
              </a:ext>
            </a:extLst>
          </p:cNvPr>
          <p:cNvSpPr/>
          <p:nvPr/>
        </p:nvSpPr>
        <p:spPr>
          <a:xfrm>
            <a:off x="13893800" y="2895600"/>
            <a:ext cx="990600" cy="431800"/>
          </a:xfrm>
          <a:prstGeom prst="roundRect">
            <a:avLst>
              <a:gd name="adj" fmla="val 25000"/>
            </a:avLst>
          </a:prstGeom>
          <a:solidFill>
            <a:srgbClr val="00E6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7A19D31-B75D-D933-B776-76F123D9E1FA}"/>
              </a:ext>
            </a:extLst>
          </p:cNvPr>
          <p:cNvSpPr txBox="1"/>
          <p:nvPr/>
        </p:nvSpPr>
        <p:spPr>
          <a:xfrm>
            <a:off x="13995400" y="2971800"/>
            <a:ext cx="7874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 b="1">
                <a:solidFill>
                  <a:srgbClr val="020C5A"/>
                </a:solidFill>
                <a:latin typeface="Arial" panose="020B0604020202020204" pitchFamily="34" charset="0"/>
              </a:rPr>
              <a:t>DETAIL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9C65F83-AAD5-38D1-E3B8-2E23E7ED1270}"/>
              </a:ext>
            </a:extLst>
          </p:cNvPr>
          <p:cNvSpPr txBox="1"/>
          <p:nvPr/>
        </p:nvSpPr>
        <p:spPr>
          <a:xfrm>
            <a:off x="13893800" y="3505200"/>
            <a:ext cx="32004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>
                <a:solidFill>
                  <a:srgbClr val="FFFFFF"/>
                </a:solidFill>
                <a:latin typeface="Arial" panose="020B0604020202020204" pitchFamily="34" charset="0"/>
              </a:rPr>
              <a:t>feeder_logs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D7553FD-FBFE-1522-199B-79A50841C91A}"/>
              </a:ext>
            </a:extLst>
          </p:cNvPr>
          <p:cNvSpPr txBox="1"/>
          <p:nvPr/>
        </p:nvSpPr>
        <p:spPr>
          <a:xfrm>
            <a:off x="13893800" y="4114800"/>
            <a:ext cx="3200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>
                <a:solidFill>
                  <a:srgbClr val="E6F0FA"/>
                </a:solidFill>
                <a:latin typeface="Arial" panose="020B0604020202020204" pitchFamily="34" charset="0"/>
              </a:rPr>
              <a:t>Chi tiết feeder theo report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4C004D22-E1AA-2C9C-8856-8D4C0BF96467}"/>
              </a:ext>
            </a:extLst>
          </p:cNvPr>
          <p:cNvSpPr/>
          <p:nvPr/>
        </p:nvSpPr>
        <p:spPr>
          <a:xfrm>
            <a:off x="13589000" y="5143500"/>
            <a:ext cx="3810000" cy="1778000"/>
          </a:xfrm>
          <a:prstGeom prst="roundRect">
            <a:avLst/>
          </a:prstGeom>
          <a:solidFill>
            <a:srgbClr val="051873"/>
          </a:solidFill>
          <a:ln w="12700">
            <a:solidFill>
              <a:srgbClr val="00E6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B31E285-1D6E-D2C9-2886-DF066A468F27}"/>
              </a:ext>
            </a:extLst>
          </p:cNvPr>
          <p:cNvSpPr/>
          <p:nvPr/>
        </p:nvSpPr>
        <p:spPr>
          <a:xfrm>
            <a:off x="13589000" y="5143500"/>
            <a:ext cx="101600" cy="1778000"/>
          </a:xfrm>
          <a:prstGeom prst="rect">
            <a:avLst/>
          </a:prstGeom>
          <a:solidFill>
            <a:srgbClr val="00E6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164B5598-D2B9-5A05-915A-00F4250BC594}"/>
              </a:ext>
            </a:extLst>
          </p:cNvPr>
          <p:cNvSpPr/>
          <p:nvPr/>
        </p:nvSpPr>
        <p:spPr>
          <a:xfrm>
            <a:off x="13893800" y="5372100"/>
            <a:ext cx="990600" cy="431800"/>
          </a:xfrm>
          <a:prstGeom prst="roundRect">
            <a:avLst>
              <a:gd name="adj" fmla="val 25000"/>
            </a:avLst>
          </a:prstGeom>
          <a:solidFill>
            <a:srgbClr val="00E6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69142E9-71A4-79F2-BCA9-4D01480A8DCC}"/>
              </a:ext>
            </a:extLst>
          </p:cNvPr>
          <p:cNvSpPr txBox="1"/>
          <p:nvPr/>
        </p:nvSpPr>
        <p:spPr>
          <a:xfrm>
            <a:off x="13995400" y="5448300"/>
            <a:ext cx="7874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 b="1">
                <a:solidFill>
                  <a:srgbClr val="020C5A"/>
                </a:solidFill>
                <a:latin typeface="Arial" panose="020B0604020202020204" pitchFamily="34" charset="0"/>
              </a:rPr>
              <a:t>DETAIL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FE4FC4A-E961-CC82-B405-1893E017DFAF}"/>
              </a:ext>
            </a:extLst>
          </p:cNvPr>
          <p:cNvSpPr txBox="1"/>
          <p:nvPr/>
        </p:nvSpPr>
        <p:spPr>
          <a:xfrm>
            <a:off x="13893800" y="5981700"/>
            <a:ext cx="32004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>
                <a:solidFill>
                  <a:srgbClr val="FFFFFF"/>
                </a:solidFill>
                <a:latin typeface="Arial" panose="020B0604020202020204" pitchFamily="34" charset="0"/>
              </a:rPr>
              <a:t>nozzle_logs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C1E7591-E1AC-1AFF-7E5C-95FADFD8501D}"/>
              </a:ext>
            </a:extLst>
          </p:cNvPr>
          <p:cNvSpPr txBox="1"/>
          <p:nvPr/>
        </p:nvSpPr>
        <p:spPr>
          <a:xfrm>
            <a:off x="13893800" y="6591300"/>
            <a:ext cx="3200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it-IT" sz="1600">
                <a:solidFill>
                  <a:srgbClr val="E6F0FA"/>
                </a:solidFill>
                <a:latin typeface="Arial" panose="020B0604020202020204" pitchFamily="34" charset="0"/>
              </a:rPr>
              <a:t>Chi tiết nozzle theo report</a:t>
            </a:r>
            <a:endParaRPr lang="en-US" sz="1600">
              <a:solidFill>
                <a:srgbClr val="E6F0FA"/>
              </a:solidFill>
              <a:latin typeface="Arial" panose="020B0604020202020204" pitchFamily="34" charset="0"/>
            </a:endParaRP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9BADDFF2-0932-FBD1-FC86-C39FB2562223}"/>
              </a:ext>
            </a:extLst>
          </p:cNvPr>
          <p:cNvSpPr/>
          <p:nvPr/>
        </p:nvSpPr>
        <p:spPr>
          <a:xfrm>
            <a:off x="6921500" y="6604000"/>
            <a:ext cx="4445000" cy="1841500"/>
          </a:xfrm>
          <a:prstGeom prst="roundRect">
            <a:avLst/>
          </a:prstGeom>
          <a:solidFill>
            <a:srgbClr val="051873"/>
          </a:solidFill>
          <a:ln w="12700">
            <a:solidFill>
              <a:srgbClr val="00E6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4C6F981-6328-3FC4-63CC-F378C0F6CF4B}"/>
              </a:ext>
            </a:extLst>
          </p:cNvPr>
          <p:cNvSpPr/>
          <p:nvPr/>
        </p:nvSpPr>
        <p:spPr>
          <a:xfrm>
            <a:off x="6921500" y="6604000"/>
            <a:ext cx="101600" cy="1841500"/>
          </a:xfrm>
          <a:prstGeom prst="rect">
            <a:avLst/>
          </a:prstGeom>
          <a:solidFill>
            <a:srgbClr val="00E6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C25A59C5-F6ED-DFEA-7E18-24BBCFD1132C}"/>
              </a:ext>
            </a:extLst>
          </p:cNvPr>
          <p:cNvSpPr/>
          <p:nvPr/>
        </p:nvSpPr>
        <p:spPr>
          <a:xfrm>
            <a:off x="7226300" y="6832600"/>
            <a:ext cx="876300" cy="431800"/>
          </a:xfrm>
          <a:prstGeom prst="roundRect">
            <a:avLst>
              <a:gd name="adj" fmla="val 25000"/>
            </a:avLst>
          </a:prstGeom>
          <a:solidFill>
            <a:srgbClr val="00E6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F9ED1A6-4979-20BD-01EB-3007D87E24A1}"/>
              </a:ext>
            </a:extLst>
          </p:cNvPr>
          <p:cNvSpPr txBox="1"/>
          <p:nvPr/>
        </p:nvSpPr>
        <p:spPr>
          <a:xfrm>
            <a:off x="7327900" y="6908800"/>
            <a:ext cx="6731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 b="1">
                <a:solidFill>
                  <a:srgbClr val="020C5A"/>
                </a:solidFill>
                <a:latin typeface="Arial" panose="020B0604020202020204" pitchFamily="34" charset="0"/>
              </a:rPr>
              <a:t>STATE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B4F0494-11E5-369A-4B9B-1A69691C40ED}"/>
              </a:ext>
            </a:extLst>
          </p:cNvPr>
          <p:cNvSpPr txBox="1"/>
          <p:nvPr/>
        </p:nvSpPr>
        <p:spPr>
          <a:xfrm>
            <a:off x="7226300" y="7442200"/>
            <a:ext cx="38354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>
                <a:solidFill>
                  <a:srgbClr val="FFFFFF"/>
                </a:solidFill>
                <a:latin typeface="Arial" panose="020B0604020202020204" pitchFamily="34" charset="0"/>
              </a:rPr>
              <a:t>machine_counter_state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246C225-DEC6-5726-7557-268C2234C42A}"/>
              </a:ext>
            </a:extLst>
          </p:cNvPr>
          <p:cNvSpPr txBox="1"/>
          <p:nvPr/>
        </p:nvSpPr>
        <p:spPr>
          <a:xfrm>
            <a:off x="7226300" y="8051800"/>
            <a:ext cx="3835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>
                <a:solidFill>
                  <a:srgbClr val="E6F0FA"/>
                </a:solidFill>
                <a:latin typeface="Arial" panose="020B0604020202020204" pitchFamily="34" charset="0"/>
              </a:rPr>
              <a:t>Raw state gần nhất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E385BF51-1A04-6094-C195-EE485308A6C1}"/>
              </a:ext>
            </a:extLst>
          </p:cNvPr>
          <p:cNvCxnSpPr/>
          <p:nvPr/>
        </p:nvCxnSpPr>
        <p:spPr>
          <a:xfrm flipV="1">
            <a:off x="4699000" y="4254500"/>
            <a:ext cx="2095500" cy="635000"/>
          </a:xfrm>
          <a:prstGeom prst="line">
            <a:avLst/>
          </a:prstGeom>
          <a:ln w="25400">
            <a:solidFill>
              <a:srgbClr val="00E6F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21F7D54D-8202-C138-615B-A94335C47B9F}"/>
              </a:ext>
            </a:extLst>
          </p:cNvPr>
          <p:cNvSpPr txBox="1"/>
          <p:nvPr/>
        </p:nvSpPr>
        <p:spPr>
          <a:xfrm>
            <a:off x="5334000" y="4318000"/>
            <a:ext cx="889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 b="1">
                <a:solidFill>
                  <a:srgbClr val="00E6F0"/>
                </a:solidFill>
                <a:latin typeface="Arial" panose="020B0604020202020204" pitchFamily="34" charset="0"/>
              </a:rPr>
              <a:t>1 : N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D0631FF9-CB12-36FB-5F30-63A117F0DFB4}"/>
              </a:ext>
            </a:extLst>
          </p:cNvPr>
          <p:cNvCxnSpPr/>
          <p:nvPr/>
        </p:nvCxnSpPr>
        <p:spPr>
          <a:xfrm flipV="1">
            <a:off x="11366500" y="3492500"/>
            <a:ext cx="2095500" cy="635000"/>
          </a:xfrm>
          <a:prstGeom prst="line">
            <a:avLst/>
          </a:prstGeom>
          <a:ln w="25400">
            <a:solidFill>
              <a:srgbClr val="00E6F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19B166A2-98DB-0E6F-7A81-F7DB6262007C}"/>
              </a:ext>
            </a:extLst>
          </p:cNvPr>
          <p:cNvCxnSpPr/>
          <p:nvPr/>
        </p:nvCxnSpPr>
        <p:spPr>
          <a:xfrm>
            <a:off x="11366500" y="4381500"/>
            <a:ext cx="2095500" cy="1651000"/>
          </a:xfrm>
          <a:prstGeom prst="line">
            <a:avLst/>
          </a:prstGeom>
          <a:ln w="25400">
            <a:solidFill>
              <a:srgbClr val="00E6F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5FBB1529-7028-3046-5CA1-1CB9CC093891}"/>
              </a:ext>
            </a:extLst>
          </p:cNvPr>
          <p:cNvSpPr txBox="1"/>
          <p:nvPr/>
        </p:nvSpPr>
        <p:spPr>
          <a:xfrm>
            <a:off x="12255500" y="3302000"/>
            <a:ext cx="889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 b="1">
                <a:solidFill>
                  <a:srgbClr val="00E6F0"/>
                </a:solidFill>
                <a:latin typeface="Arial" panose="020B0604020202020204" pitchFamily="34" charset="0"/>
              </a:rPr>
              <a:t>1 : N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2D476FD-F804-A236-DB06-8819E4490553}"/>
              </a:ext>
            </a:extLst>
          </p:cNvPr>
          <p:cNvSpPr txBox="1"/>
          <p:nvPr/>
        </p:nvSpPr>
        <p:spPr>
          <a:xfrm>
            <a:off x="12255500" y="5588000"/>
            <a:ext cx="889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 b="1">
                <a:solidFill>
                  <a:srgbClr val="00E6F0"/>
                </a:solidFill>
                <a:latin typeface="Arial" panose="020B0604020202020204" pitchFamily="34" charset="0"/>
              </a:rPr>
              <a:t>1 : N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F9DC4CF1-0C09-DFB3-C3AA-C934D4391285}"/>
              </a:ext>
            </a:extLst>
          </p:cNvPr>
          <p:cNvCxnSpPr/>
          <p:nvPr/>
        </p:nvCxnSpPr>
        <p:spPr>
          <a:xfrm>
            <a:off x="4699000" y="5207000"/>
            <a:ext cx="2095500" cy="2286000"/>
          </a:xfrm>
          <a:prstGeom prst="line">
            <a:avLst/>
          </a:prstGeom>
          <a:ln w="25400">
            <a:solidFill>
              <a:srgbClr val="94A3B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E5A3029F-912A-C1A7-79E0-BE90AF11C1C2}"/>
              </a:ext>
            </a:extLst>
          </p:cNvPr>
          <p:cNvSpPr txBox="1"/>
          <p:nvPr/>
        </p:nvSpPr>
        <p:spPr>
          <a:xfrm>
            <a:off x="5461000" y="6604000"/>
            <a:ext cx="889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 b="1">
                <a:solidFill>
                  <a:srgbClr val="94A3B8"/>
                </a:solidFill>
                <a:latin typeface="Arial" panose="020B0604020202020204" pitchFamily="34" charset="0"/>
              </a:rPr>
              <a:t>1 : 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44AE22-E873-5BEA-CCD7-DD93D9126F4B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39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564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C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F338EF05-6AA8-74DE-6DE8-5D07DCC93AC1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-38100"/>
            <a:chExt cx="4816593" cy="2747433"/>
          </a:xfrm>
        </p:grpSpPr>
        <p:sp>
          <p:nvSpPr>
            <p:cNvPr id="44" name="Freeform 4">
              <a:extLst>
                <a:ext uri="{FF2B5EF4-FFF2-40B4-BE49-F238E27FC236}">
                  <a16:creationId xmlns:a16="http://schemas.microsoft.com/office/drawing/2014/main" id="{99C14B1A-A715-83B1-84E1-281213DE0C3D}"/>
                </a:ext>
              </a:extLst>
            </p:cNvPr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20070">
                    <a:alpha val="67000"/>
                  </a:srgbClr>
                </a:gs>
                <a:gs pos="100000">
                  <a:srgbClr val="000640">
                    <a:alpha val="67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Box 5">
              <a:extLst>
                <a:ext uri="{FF2B5EF4-FFF2-40B4-BE49-F238E27FC236}">
                  <a16:creationId xmlns:a16="http://schemas.microsoft.com/office/drawing/2014/main" id="{F391B11D-8CFA-E3B1-9165-6B29F2567CEF}"/>
                </a:ext>
              </a:extLst>
            </p:cNvPr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C499DAA6-ABC1-E339-3AF6-6883AA3B293A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-38100"/>
            <a:chExt cx="4816593" cy="2747433"/>
          </a:xfrm>
        </p:grpSpPr>
        <p:sp>
          <p:nvSpPr>
            <p:cNvPr id="47" name="Freeform 4">
              <a:extLst>
                <a:ext uri="{FF2B5EF4-FFF2-40B4-BE49-F238E27FC236}">
                  <a16:creationId xmlns:a16="http://schemas.microsoft.com/office/drawing/2014/main" id="{6F7240AD-8C55-19F4-C290-BC53FCD2F34D}"/>
                </a:ext>
              </a:extLst>
            </p:cNvPr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20070">
                    <a:alpha val="67000"/>
                  </a:srgbClr>
                </a:gs>
                <a:gs pos="100000">
                  <a:srgbClr val="000640">
                    <a:alpha val="67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TextBox 5">
              <a:extLst>
                <a:ext uri="{FF2B5EF4-FFF2-40B4-BE49-F238E27FC236}">
                  <a16:creationId xmlns:a16="http://schemas.microsoft.com/office/drawing/2014/main" id="{5917389B-B956-BFD7-ECCB-B91AF5E1E12C}"/>
                </a:ext>
              </a:extLst>
            </p:cNvPr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818C983B-06F7-4BAA-8384-3590CA4FB3A5}"/>
              </a:ext>
            </a:extLst>
          </p:cNvPr>
          <p:cNvSpPr txBox="1"/>
          <p:nvPr/>
        </p:nvSpPr>
        <p:spPr>
          <a:xfrm>
            <a:off x="889000" y="1574800"/>
            <a:ext cx="7620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00E6F0"/>
                </a:solidFill>
                <a:latin typeface="Arial" panose="020B0604020202020204" pitchFamily="34" charset="0"/>
              </a:rPr>
              <a:t>APPLICATION ARCHITECTURE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62E4DD-9C6E-32F3-D56D-E631F53A3DCE}"/>
              </a:ext>
            </a:extLst>
          </p:cNvPr>
          <p:cNvSpPr txBox="1"/>
          <p:nvPr/>
        </p:nvSpPr>
        <p:spPr>
          <a:xfrm>
            <a:off x="889000" y="1917700"/>
            <a:ext cx="16510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3400" b="1">
                <a:solidFill>
                  <a:srgbClr val="FFFFFF"/>
                </a:solidFill>
                <a:latin typeface="Arial" panose="020B0604020202020204" pitchFamily="34" charset="0"/>
              </a:rPr>
              <a:t>Tech stack tối ưu cho báo cáo web</a:t>
            </a:r>
            <a:endParaRPr lang="en-US" sz="34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B62BA2B-880D-A2D3-5A80-EE0CB0FC080C}"/>
              </a:ext>
            </a:extLst>
          </p:cNvPr>
          <p:cNvCxnSpPr/>
          <p:nvPr/>
        </p:nvCxnSpPr>
        <p:spPr>
          <a:xfrm>
            <a:off x="889000" y="9550400"/>
            <a:ext cx="16510000" cy="0"/>
          </a:xfrm>
          <a:prstGeom prst="line">
            <a:avLst/>
          </a:prstGeom>
          <a:ln w="1016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201E390-58D5-0275-72C2-79C326B971F2}"/>
              </a:ext>
            </a:extLst>
          </p:cNvPr>
          <p:cNvSpPr txBox="1"/>
          <p:nvPr/>
        </p:nvSpPr>
        <p:spPr>
          <a:xfrm>
            <a:off x="889000" y="9702800"/>
            <a:ext cx="660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94A3B8"/>
                </a:solidFill>
                <a:latin typeface="Arial" panose="020B0604020202020204" pitchFamily="34" charset="0"/>
              </a:rPr>
              <a:t>MPO | Manufacturing Performance Overview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F34E32-191A-3425-2820-E05BE0431C9D}"/>
              </a:ext>
            </a:extLst>
          </p:cNvPr>
          <p:cNvSpPr txBox="1"/>
          <p:nvPr/>
        </p:nvSpPr>
        <p:spPr>
          <a:xfrm>
            <a:off x="15367000" y="9702800"/>
            <a:ext cx="2032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1100">
                <a:solidFill>
                  <a:srgbClr val="94A3B8"/>
                </a:solidFill>
                <a:latin typeface="Arial" panose="020B0604020202020204" pitchFamily="34" charset="0"/>
              </a:rPr>
              <a:t>PANASONIC • 07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196AB7A-B88D-B5BE-12F0-774006CF81A7}"/>
              </a:ext>
            </a:extLst>
          </p:cNvPr>
          <p:cNvSpPr/>
          <p:nvPr/>
        </p:nvSpPr>
        <p:spPr>
          <a:xfrm>
            <a:off x="889000" y="3048000"/>
            <a:ext cx="4953000" cy="1905000"/>
          </a:xfrm>
          <a:prstGeom prst="roundRect">
            <a:avLst/>
          </a:prstGeom>
          <a:solidFill>
            <a:srgbClr val="051873"/>
          </a:solidFill>
          <a:ln w="12700">
            <a:solidFill>
              <a:srgbClr val="00E6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63C5822-AAB5-3A07-7455-1ED280D3E663}"/>
              </a:ext>
            </a:extLst>
          </p:cNvPr>
          <p:cNvSpPr/>
          <p:nvPr/>
        </p:nvSpPr>
        <p:spPr>
          <a:xfrm>
            <a:off x="1168400" y="3302000"/>
            <a:ext cx="1333500" cy="431800"/>
          </a:xfrm>
          <a:prstGeom prst="roundRect">
            <a:avLst>
              <a:gd name="adj" fmla="val 25000"/>
            </a:avLst>
          </a:prstGeom>
          <a:solidFill>
            <a:srgbClr val="00E6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2FFA8A2-4D94-0812-20DF-26190F51F705}"/>
              </a:ext>
            </a:extLst>
          </p:cNvPr>
          <p:cNvSpPr txBox="1"/>
          <p:nvPr/>
        </p:nvSpPr>
        <p:spPr>
          <a:xfrm>
            <a:off x="1270000" y="3378200"/>
            <a:ext cx="11303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 b="1">
                <a:solidFill>
                  <a:srgbClr val="020C5A"/>
                </a:solidFill>
                <a:latin typeface="Arial" panose="020B0604020202020204" pitchFamily="34" charset="0"/>
              </a:rPr>
              <a:t>COLLECT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AED7486-32C8-F78E-B002-1A1F1856F2F0}"/>
              </a:ext>
            </a:extLst>
          </p:cNvPr>
          <p:cNvSpPr txBox="1"/>
          <p:nvPr/>
        </p:nvSpPr>
        <p:spPr>
          <a:xfrm>
            <a:off x="1168400" y="4038600"/>
            <a:ext cx="43815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 b="1">
                <a:solidFill>
                  <a:srgbClr val="FFFFFF"/>
                </a:solidFill>
                <a:latin typeface="Arial" panose="020B0604020202020204" pitchFamily="34" charset="0"/>
              </a:rPr>
              <a:t>SFTP + Node-RED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8B44B56-206D-F320-1510-0CCF772029AE}"/>
              </a:ext>
            </a:extLst>
          </p:cNvPr>
          <p:cNvSpPr/>
          <p:nvPr/>
        </p:nvSpPr>
        <p:spPr>
          <a:xfrm>
            <a:off x="6413500" y="3048000"/>
            <a:ext cx="4953000" cy="1905000"/>
          </a:xfrm>
          <a:prstGeom prst="roundRect">
            <a:avLst/>
          </a:prstGeom>
          <a:solidFill>
            <a:srgbClr val="051873"/>
          </a:solidFill>
          <a:ln w="12700">
            <a:solidFill>
              <a:srgbClr val="22C5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17C8AFC-208E-6A85-3A70-E7F5216DDB08}"/>
              </a:ext>
            </a:extLst>
          </p:cNvPr>
          <p:cNvSpPr/>
          <p:nvPr/>
        </p:nvSpPr>
        <p:spPr>
          <a:xfrm>
            <a:off x="6692900" y="3302000"/>
            <a:ext cx="1333500" cy="431800"/>
          </a:xfrm>
          <a:prstGeom prst="roundRect">
            <a:avLst>
              <a:gd name="adj" fmla="val 25000"/>
            </a:avLst>
          </a:prstGeom>
          <a:solidFill>
            <a:srgbClr val="22C5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CB64BE7-FD74-8FC1-BF61-AD89BCEE7981}"/>
              </a:ext>
            </a:extLst>
          </p:cNvPr>
          <p:cNvSpPr txBox="1"/>
          <p:nvPr/>
        </p:nvSpPr>
        <p:spPr>
          <a:xfrm>
            <a:off x="6794500" y="3378200"/>
            <a:ext cx="11303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 b="1">
                <a:solidFill>
                  <a:srgbClr val="020C5A"/>
                </a:solidFill>
                <a:latin typeface="Arial" panose="020B0604020202020204" pitchFamily="34" charset="0"/>
              </a:rPr>
              <a:t>STORE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3FBB836-907A-F0D8-561A-BFABE8A6A765}"/>
              </a:ext>
            </a:extLst>
          </p:cNvPr>
          <p:cNvSpPr txBox="1"/>
          <p:nvPr/>
        </p:nvSpPr>
        <p:spPr>
          <a:xfrm>
            <a:off x="6692900" y="4038600"/>
            <a:ext cx="43815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 b="1">
                <a:solidFill>
                  <a:srgbClr val="FFFFFF"/>
                </a:solidFill>
                <a:latin typeface="Arial" panose="020B0604020202020204" pitchFamily="34" charset="0"/>
              </a:rPr>
              <a:t>PostgreSQL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D09895B-3830-09C0-E3C2-8B6A3B3D430F}"/>
              </a:ext>
            </a:extLst>
          </p:cNvPr>
          <p:cNvSpPr/>
          <p:nvPr/>
        </p:nvSpPr>
        <p:spPr>
          <a:xfrm>
            <a:off x="11938000" y="3048000"/>
            <a:ext cx="4953000" cy="1905000"/>
          </a:xfrm>
          <a:prstGeom prst="roundRect">
            <a:avLst/>
          </a:prstGeom>
          <a:solidFill>
            <a:srgbClr val="051873"/>
          </a:solidFill>
          <a:ln w="12700">
            <a:solidFill>
              <a:srgbClr val="0050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E37205A2-1E7E-2A2F-D9D6-C3F9FCF393F3}"/>
              </a:ext>
            </a:extLst>
          </p:cNvPr>
          <p:cNvSpPr/>
          <p:nvPr/>
        </p:nvSpPr>
        <p:spPr>
          <a:xfrm>
            <a:off x="12217400" y="3302000"/>
            <a:ext cx="1333500" cy="431800"/>
          </a:xfrm>
          <a:prstGeom prst="roundRect">
            <a:avLst>
              <a:gd name="adj" fmla="val 25000"/>
            </a:avLst>
          </a:prstGeom>
          <a:solidFill>
            <a:srgbClr val="0050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15575BD-EC1A-3EC6-DBC7-A8CE704F3313}"/>
              </a:ext>
            </a:extLst>
          </p:cNvPr>
          <p:cNvSpPr txBox="1"/>
          <p:nvPr/>
        </p:nvSpPr>
        <p:spPr>
          <a:xfrm>
            <a:off x="12319000" y="3378200"/>
            <a:ext cx="11303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 b="1">
                <a:solidFill>
                  <a:srgbClr val="020C5A"/>
                </a:solidFill>
                <a:latin typeface="Arial" panose="020B0604020202020204" pitchFamily="34" charset="0"/>
              </a:rPr>
              <a:t>BACKEND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F52A7E8-9C7C-5907-4F40-E4BD7828907E}"/>
              </a:ext>
            </a:extLst>
          </p:cNvPr>
          <p:cNvSpPr txBox="1"/>
          <p:nvPr/>
        </p:nvSpPr>
        <p:spPr>
          <a:xfrm>
            <a:off x="12217400" y="4038600"/>
            <a:ext cx="43815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nl-NL" sz="1900" b="1">
                <a:solidFill>
                  <a:srgbClr val="FFFFFF"/>
                </a:solidFill>
                <a:latin typeface="Arial" panose="020B0604020202020204" pitchFamily="34" charset="0"/>
              </a:rPr>
              <a:t>.NET 9 + ASP.NET Core MVC</a:t>
            </a:r>
            <a:endParaRPr lang="en-US" sz="19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BB3A9DF-8FD4-5DE4-B858-93AE12F6DC6D}"/>
              </a:ext>
            </a:extLst>
          </p:cNvPr>
          <p:cNvSpPr/>
          <p:nvPr/>
        </p:nvSpPr>
        <p:spPr>
          <a:xfrm>
            <a:off x="889000" y="5461000"/>
            <a:ext cx="4953000" cy="1905000"/>
          </a:xfrm>
          <a:prstGeom prst="roundRect">
            <a:avLst/>
          </a:prstGeom>
          <a:solidFill>
            <a:srgbClr val="051873"/>
          </a:solidFill>
          <a:ln w="12700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7BC26C94-A5CE-FA20-EB0B-F590368330BC}"/>
              </a:ext>
            </a:extLst>
          </p:cNvPr>
          <p:cNvSpPr/>
          <p:nvPr/>
        </p:nvSpPr>
        <p:spPr>
          <a:xfrm>
            <a:off x="1168400" y="5715000"/>
            <a:ext cx="1333500" cy="431800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496C477-177E-38FF-DA81-AB8EB17F17D4}"/>
              </a:ext>
            </a:extLst>
          </p:cNvPr>
          <p:cNvSpPr txBox="1"/>
          <p:nvPr/>
        </p:nvSpPr>
        <p:spPr>
          <a:xfrm>
            <a:off x="1270000" y="5791200"/>
            <a:ext cx="11303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 b="1">
                <a:solidFill>
                  <a:srgbClr val="020C5A"/>
                </a:solidFill>
                <a:latin typeface="Arial" panose="020B0604020202020204" pitchFamily="34" charset="0"/>
              </a:rPr>
              <a:t>DATA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27E2912-52EB-3912-EDF0-21E64B98EFA6}"/>
              </a:ext>
            </a:extLst>
          </p:cNvPr>
          <p:cNvSpPr txBox="1"/>
          <p:nvPr/>
        </p:nvSpPr>
        <p:spPr>
          <a:xfrm>
            <a:off x="1168400" y="6451600"/>
            <a:ext cx="43815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 b="1">
                <a:solidFill>
                  <a:srgbClr val="FFFFFF"/>
                </a:solidFill>
                <a:latin typeface="Arial" panose="020B0604020202020204" pitchFamily="34" charset="0"/>
              </a:rPr>
              <a:t>EF Core + Npgsql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6725B5F4-49E4-EE8A-68CF-39D53AFE23B7}"/>
              </a:ext>
            </a:extLst>
          </p:cNvPr>
          <p:cNvSpPr/>
          <p:nvPr/>
        </p:nvSpPr>
        <p:spPr>
          <a:xfrm>
            <a:off x="6413500" y="5461000"/>
            <a:ext cx="4953000" cy="1905000"/>
          </a:xfrm>
          <a:prstGeom prst="roundRect">
            <a:avLst/>
          </a:prstGeom>
          <a:solidFill>
            <a:srgbClr val="051873"/>
          </a:solidFill>
          <a:ln w="12700">
            <a:solidFill>
              <a:srgbClr val="00E6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3584D3A-7C1C-9276-605C-8DCB21D7D8D2}"/>
              </a:ext>
            </a:extLst>
          </p:cNvPr>
          <p:cNvSpPr/>
          <p:nvPr/>
        </p:nvSpPr>
        <p:spPr>
          <a:xfrm>
            <a:off x="6692900" y="5715000"/>
            <a:ext cx="1333500" cy="431800"/>
          </a:xfrm>
          <a:prstGeom prst="roundRect">
            <a:avLst>
              <a:gd name="adj" fmla="val 25000"/>
            </a:avLst>
          </a:prstGeom>
          <a:solidFill>
            <a:srgbClr val="00E6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99B8797-C8CE-36B1-CA1C-B9EB8B0D1BEB}"/>
              </a:ext>
            </a:extLst>
          </p:cNvPr>
          <p:cNvSpPr txBox="1"/>
          <p:nvPr/>
        </p:nvSpPr>
        <p:spPr>
          <a:xfrm>
            <a:off x="6794500" y="5791200"/>
            <a:ext cx="11303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 b="1">
                <a:solidFill>
                  <a:srgbClr val="020C5A"/>
                </a:solidFill>
                <a:latin typeface="Arial" panose="020B0604020202020204" pitchFamily="34" charset="0"/>
              </a:rPr>
              <a:t>FRONTEND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455E852-18D4-E3F8-B510-7F11F114C3AC}"/>
              </a:ext>
            </a:extLst>
          </p:cNvPr>
          <p:cNvSpPr txBox="1"/>
          <p:nvPr/>
        </p:nvSpPr>
        <p:spPr>
          <a:xfrm>
            <a:off x="6692900" y="6451600"/>
            <a:ext cx="43815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 b="1">
                <a:solidFill>
                  <a:srgbClr val="FFFFFF"/>
                </a:solidFill>
                <a:latin typeface="Arial" panose="020B0604020202020204" pitchFamily="34" charset="0"/>
              </a:rPr>
              <a:t>Razor + Bootstrap + Chart.js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71C827FF-45FB-51CF-3E81-20FF2911AE91}"/>
              </a:ext>
            </a:extLst>
          </p:cNvPr>
          <p:cNvSpPr/>
          <p:nvPr/>
        </p:nvSpPr>
        <p:spPr>
          <a:xfrm>
            <a:off x="11938000" y="5461000"/>
            <a:ext cx="4953000" cy="1905000"/>
          </a:xfrm>
          <a:prstGeom prst="roundRect">
            <a:avLst/>
          </a:prstGeom>
          <a:solidFill>
            <a:srgbClr val="051873"/>
          </a:solidFill>
          <a:ln w="12700">
            <a:solidFill>
              <a:srgbClr val="22C5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C331D6B5-A69C-7657-67D5-E613C093772C}"/>
              </a:ext>
            </a:extLst>
          </p:cNvPr>
          <p:cNvSpPr/>
          <p:nvPr/>
        </p:nvSpPr>
        <p:spPr>
          <a:xfrm>
            <a:off x="12217400" y="5715000"/>
            <a:ext cx="1333500" cy="431800"/>
          </a:xfrm>
          <a:prstGeom prst="roundRect">
            <a:avLst>
              <a:gd name="adj" fmla="val 25000"/>
            </a:avLst>
          </a:prstGeom>
          <a:solidFill>
            <a:srgbClr val="22C5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CBD06FA-0D5F-C5DC-DA90-619A22893246}"/>
              </a:ext>
            </a:extLst>
          </p:cNvPr>
          <p:cNvSpPr txBox="1"/>
          <p:nvPr/>
        </p:nvSpPr>
        <p:spPr>
          <a:xfrm>
            <a:off x="12319000" y="5791200"/>
            <a:ext cx="11303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 b="1">
                <a:solidFill>
                  <a:srgbClr val="020C5A"/>
                </a:solidFill>
                <a:latin typeface="Arial" panose="020B0604020202020204" pitchFamily="34" charset="0"/>
              </a:rPr>
              <a:t>DEPLOY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B9511FF-8835-3972-3DE4-11130AECCECE}"/>
              </a:ext>
            </a:extLst>
          </p:cNvPr>
          <p:cNvSpPr txBox="1"/>
          <p:nvPr/>
        </p:nvSpPr>
        <p:spPr>
          <a:xfrm>
            <a:off x="12217400" y="6451600"/>
            <a:ext cx="43815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 b="1">
                <a:solidFill>
                  <a:srgbClr val="FFFFFF"/>
                </a:solidFill>
                <a:latin typeface="Arial" panose="020B0604020202020204" pitchFamily="34" charset="0"/>
              </a:rPr>
              <a:t>Docker containers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596C8E1-DB67-36FD-27B4-3E40D75F0149}"/>
              </a:ext>
            </a:extLst>
          </p:cNvPr>
          <p:cNvSpPr txBox="1"/>
          <p:nvPr/>
        </p:nvSpPr>
        <p:spPr>
          <a:xfrm>
            <a:off x="889000" y="8382000"/>
            <a:ext cx="16510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700">
                <a:solidFill>
                  <a:srgbClr val="E6F0FA"/>
                </a:solidFill>
                <a:latin typeface="Arial" panose="020B0604020202020204" pitchFamily="34" charset="0"/>
              </a:rPr>
              <a:t>PostgreSQL → report services → MVC controllers → Razor pages → dashboard / table / export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1791E9-871E-231C-05C3-2C37D870E3D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39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9394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C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7BBC2AD-E4F1-CF2B-7090-AEB7785A6BDA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272CDD98-0433-1F63-7BC3-119C3968653F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D53A0A99-CAB6-9B8B-1661-0C432FBF9E12}"/>
                </a:ext>
              </a:extLst>
            </p:cNvPr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20070">
                    <a:alpha val="67000"/>
                  </a:srgbClr>
                </a:gs>
                <a:gs pos="100000">
                  <a:srgbClr val="000640">
                    <a:alpha val="67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0E41F963-C887-A18E-35AA-A94FA9366582}"/>
                </a:ext>
              </a:extLst>
            </p:cNvPr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21571A0A-AF8A-2BAD-5178-1C5DD0D883E9}"/>
              </a:ext>
            </a:extLst>
          </p:cNvPr>
          <p:cNvSpPr txBox="1"/>
          <p:nvPr/>
        </p:nvSpPr>
        <p:spPr>
          <a:xfrm>
            <a:off x="889000" y="1498600"/>
            <a:ext cx="11684000" cy="35394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300" b="1">
                <a:solidFill>
                  <a:srgbClr val="FFFFFF"/>
                </a:solidFill>
                <a:latin typeface="[Font: Name=Arial, Size=15, Units=2, GdiCharSet=1, GdiVerticalFont=False]"/>
              </a:rPr>
              <a:t>REAL APPLICATION • QUICK ACCESS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80969F-945D-AA4F-2EC6-B01C6E4026FF}"/>
              </a:ext>
            </a:extLst>
          </p:cNvPr>
          <p:cNvSpPr txBox="1"/>
          <p:nvPr/>
        </p:nvSpPr>
        <p:spPr>
          <a:xfrm>
            <a:off x="889000" y="1854200"/>
            <a:ext cx="12954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400">
                <a:solidFill>
                  <a:srgbClr val="E6F0FA"/>
                </a:solidFill>
                <a:latin typeface="[Font: Name=Arial, Size=15, Units=2, GdiCharSet=1, GdiVerticalFont=False]"/>
              </a:rPr>
              <a:t>One-click access to the complete MPO reporting suite.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895F2A9-E7F1-459F-804F-4286A44E1FB7}"/>
              </a:ext>
            </a:extLst>
          </p:cNvPr>
          <p:cNvSpPr/>
          <p:nvPr/>
        </p:nvSpPr>
        <p:spPr>
          <a:xfrm>
            <a:off x="14922500" y="1549400"/>
            <a:ext cx="2476500" cy="431800"/>
          </a:xfrm>
          <a:prstGeom prst="roundRect">
            <a:avLst/>
          </a:prstGeom>
          <a:solidFill>
            <a:srgbClr val="00E6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C25DDA-7C91-9EC6-E0BF-5F6ECBBA164A}"/>
              </a:ext>
            </a:extLst>
          </p:cNvPr>
          <p:cNvSpPr txBox="1"/>
          <p:nvPr/>
        </p:nvSpPr>
        <p:spPr>
          <a:xfrm>
            <a:off x="15024100" y="1638300"/>
            <a:ext cx="22733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300" b="1">
                <a:solidFill>
                  <a:srgbClr val="020C5A"/>
                </a:solidFill>
                <a:latin typeface="[Font: Name=Arial, Size=15, Units=2, GdiCharSet=1, GdiVerticalFont=False]"/>
              </a:rPr>
              <a:t>SCREEN 01 / 10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5A11AA1-D2D4-0E6A-E6AD-43E9A125086E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2235200"/>
            <a:ext cx="15240000" cy="7576046"/>
          </a:xfrm>
          <a:prstGeom prst="rect">
            <a:avLst/>
          </a:prstGeom>
          <a:ln w="19050">
            <a:solidFill>
              <a:srgbClr val="00E6F0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563FC8F-B274-58C4-DAF7-137A1ADDBA8A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39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7851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C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B5C6118-EA53-A023-0938-615CA4021598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0F1AF1DB-C2CF-7379-EE7F-98C9E400B521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AC8261B-8176-0E7B-0F2A-C6F4693469E0}"/>
                </a:ext>
              </a:extLst>
            </p:cNvPr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20070">
                    <a:alpha val="67000"/>
                  </a:srgbClr>
                </a:gs>
                <a:gs pos="100000">
                  <a:srgbClr val="000640">
                    <a:alpha val="67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AB9067D3-9551-9B65-F8DE-A31E742ADE60}"/>
                </a:ext>
              </a:extLst>
            </p:cNvPr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A75F5DF8-61C1-6235-67DA-698662423815}"/>
              </a:ext>
            </a:extLst>
          </p:cNvPr>
          <p:cNvSpPr txBox="1"/>
          <p:nvPr/>
        </p:nvSpPr>
        <p:spPr>
          <a:xfrm>
            <a:off x="889000" y="1498600"/>
            <a:ext cx="11684000" cy="35394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300" b="1">
                <a:solidFill>
                  <a:srgbClr val="FFFFFF"/>
                </a:solidFill>
                <a:latin typeface="[Font: Name=Arial, Size=15, Units=2, GdiCharSet=1, GdiVerticalFont=False]"/>
              </a:rPr>
              <a:t>REAL APPLICATION • OVERALL DASHBOARD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141B0E-2550-1672-2C9B-FFD3F697C3BF}"/>
              </a:ext>
            </a:extLst>
          </p:cNvPr>
          <p:cNvSpPr txBox="1"/>
          <p:nvPr/>
        </p:nvSpPr>
        <p:spPr>
          <a:xfrm>
            <a:off x="889000" y="1854200"/>
            <a:ext cx="12954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400">
                <a:solidFill>
                  <a:srgbClr val="E6F0FA"/>
                </a:solidFill>
                <a:latin typeface="[Font: Name=Arial, Size=15, Units=2, GdiCharSet=1, GdiVerticalFont=False]"/>
              </a:rPr>
              <a:t>Management view combining output, equipment risk and downtime.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3332CCB-A252-7CBF-71CB-D797DE3B075E}"/>
              </a:ext>
            </a:extLst>
          </p:cNvPr>
          <p:cNvSpPr/>
          <p:nvPr/>
        </p:nvSpPr>
        <p:spPr>
          <a:xfrm>
            <a:off x="14922500" y="1549400"/>
            <a:ext cx="2476500" cy="431800"/>
          </a:xfrm>
          <a:prstGeom prst="roundRect">
            <a:avLst/>
          </a:prstGeom>
          <a:solidFill>
            <a:srgbClr val="00E6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9D49D1-2BD0-3027-F567-F734D544749F}"/>
              </a:ext>
            </a:extLst>
          </p:cNvPr>
          <p:cNvSpPr txBox="1"/>
          <p:nvPr/>
        </p:nvSpPr>
        <p:spPr>
          <a:xfrm>
            <a:off x="15024100" y="1638300"/>
            <a:ext cx="22733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300" b="1">
                <a:solidFill>
                  <a:srgbClr val="020C5A"/>
                </a:solidFill>
                <a:latin typeface="[Font: Name=Arial, Size=15, Units=2, GdiCharSet=1, GdiVerticalFont=False]"/>
              </a:rPr>
              <a:t>SCREEN 02 / 10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D84845E-5BEC-79BC-2F57-FBD71108C77D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2235200"/>
            <a:ext cx="15240000" cy="7567891"/>
          </a:xfrm>
          <a:prstGeom prst="rect">
            <a:avLst/>
          </a:prstGeom>
          <a:ln w="19050">
            <a:solidFill>
              <a:srgbClr val="00E6F0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14E7300-939A-E15D-148E-07D5109C4E8E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39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5533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C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Freeform 2">
            <a:extLst>
              <a:ext uri="{FF2B5EF4-FFF2-40B4-BE49-F238E27FC236}">
                <a16:creationId xmlns:a16="http://schemas.microsoft.com/office/drawing/2014/main" id="{CD06DDBC-F7BF-522A-5CB2-36258112398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2" name="Group 3">
            <a:extLst>
              <a:ext uri="{FF2B5EF4-FFF2-40B4-BE49-F238E27FC236}">
                <a16:creationId xmlns:a16="http://schemas.microsoft.com/office/drawing/2014/main" id="{FB3C18CE-9211-DDB8-75D2-B40288952CD3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33" name="Freeform 4">
              <a:extLst>
                <a:ext uri="{FF2B5EF4-FFF2-40B4-BE49-F238E27FC236}">
                  <a16:creationId xmlns:a16="http://schemas.microsoft.com/office/drawing/2014/main" id="{7B82718C-AC00-759E-0DE9-87640D8119CA}"/>
                </a:ext>
              </a:extLst>
            </p:cNvPr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20070">
                    <a:alpha val="67000"/>
                  </a:srgbClr>
                </a:gs>
                <a:gs pos="100000">
                  <a:srgbClr val="000640">
                    <a:alpha val="67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34" name="TextBox 5">
              <a:extLst>
                <a:ext uri="{FF2B5EF4-FFF2-40B4-BE49-F238E27FC236}">
                  <a16:creationId xmlns:a16="http://schemas.microsoft.com/office/drawing/2014/main" id="{AA51FB98-3D30-AB46-D433-70C10BAF07DC}"/>
                </a:ext>
              </a:extLst>
            </p:cNvPr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30968FA8-F743-F125-C088-ED5E09D5B179}"/>
              </a:ext>
            </a:extLst>
          </p:cNvPr>
          <p:cNvSpPr txBox="1"/>
          <p:nvPr/>
        </p:nvSpPr>
        <p:spPr>
          <a:xfrm>
            <a:off x="889000" y="1574800"/>
            <a:ext cx="7620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00E6F0"/>
                </a:solidFill>
                <a:latin typeface="Arial" panose="020B0604020202020204" pitchFamily="34" charset="0"/>
              </a:rPr>
              <a:t>MANAGEMENT TAKEAWAYS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6297D8-C5DF-82E7-9549-3D66F3D503C8}"/>
              </a:ext>
            </a:extLst>
          </p:cNvPr>
          <p:cNvSpPr txBox="1"/>
          <p:nvPr/>
        </p:nvSpPr>
        <p:spPr>
          <a:xfrm>
            <a:off x="889000" y="1917700"/>
            <a:ext cx="16510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400" b="1">
                <a:solidFill>
                  <a:srgbClr val="FFFFFF"/>
                </a:solidFill>
                <a:latin typeface="Arial" panose="020B0604020202020204" pitchFamily="34" charset="0"/>
              </a:rPr>
              <a:t>Ba thông điệp dành cho quản lý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A9F7C41-A907-9D4F-8428-C129AC0BFA6D}"/>
              </a:ext>
            </a:extLst>
          </p:cNvPr>
          <p:cNvCxnSpPr/>
          <p:nvPr/>
        </p:nvCxnSpPr>
        <p:spPr>
          <a:xfrm>
            <a:off x="889000" y="9550400"/>
            <a:ext cx="16510000" cy="0"/>
          </a:xfrm>
          <a:prstGeom prst="line">
            <a:avLst/>
          </a:prstGeom>
          <a:ln w="1016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A835496-47A5-4AB0-64CF-17A4AC5FEFAF}"/>
              </a:ext>
            </a:extLst>
          </p:cNvPr>
          <p:cNvSpPr txBox="1"/>
          <p:nvPr/>
        </p:nvSpPr>
        <p:spPr>
          <a:xfrm>
            <a:off x="889000" y="9702800"/>
            <a:ext cx="660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94A3B8"/>
                </a:solidFill>
                <a:latin typeface="Arial" panose="020B0604020202020204" pitchFamily="34" charset="0"/>
              </a:rPr>
              <a:t>MPO | Manufacturing Performance Overview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41A1D7-1B7F-9A3A-180A-62A743527E6F}"/>
              </a:ext>
            </a:extLst>
          </p:cNvPr>
          <p:cNvSpPr txBox="1"/>
          <p:nvPr/>
        </p:nvSpPr>
        <p:spPr>
          <a:xfrm>
            <a:off x="15367000" y="9702800"/>
            <a:ext cx="2032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1100">
                <a:solidFill>
                  <a:srgbClr val="94A3B8"/>
                </a:solidFill>
                <a:latin typeface="Arial" panose="020B0604020202020204" pitchFamily="34" charset="0"/>
              </a:rPr>
              <a:t>PANASONIC • 10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9786835-FF44-4B78-85BD-643FE30C8120}"/>
              </a:ext>
            </a:extLst>
          </p:cNvPr>
          <p:cNvSpPr/>
          <p:nvPr/>
        </p:nvSpPr>
        <p:spPr>
          <a:xfrm>
            <a:off x="889000" y="3302000"/>
            <a:ext cx="4953000" cy="3810000"/>
          </a:xfrm>
          <a:prstGeom prst="roundRect">
            <a:avLst/>
          </a:prstGeom>
          <a:solidFill>
            <a:srgbClr val="051873"/>
          </a:solidFill>
          <a:ln w="15240">
            <a:solidFill>
              <a:srgbClr val="00E6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043D2B9-F29A-19C8-75D3-6E768D1C22A4}"/>
              </a:ext>
            </a:extLst>
          </p:cNvPr>
          <p:cNvSpPr txBox="1"/>
          <p:nvPr/>
        </p:nvSpPr>
        <p:spPr>
          <a:xfrm>
            <a:off x="1206500" y="3708400"/>
            <a:ext cx="1016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4200" b="1">
                <a:solidFill>
                  <a:srgbClr val="00E6F0"/>
                </a:solidFill>
                <a:latin typeface="Arial" panose="020B0604020202020204" pitchFamily="34" charset="0"/>
              </a:rPr>
              <a:t>01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9EB3BB-6A71-E608-440C-06ED4D195916}"/>
              </a:ext>
            </a:extLst>
          </p:cNvPr>
          <p:cNvSpPr txBox="1"/>
          <p:nvPr/>
        </p:nvSpPr>
        <p:spPr>
          <a:xfrm>
            <a:off x="1206500" y="4800600"/>
            <a:ext cx="4318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>
                <a:solidFill>
                  <a:srgbClr val="FFFFFF"/>
                </a:solidFill>
                <a:latin typeface="Arial" panose="020B0604020202020204" pitchFamily="34" charset="0"/>
              </a:rPr>
              <a:t>Một nguồn sự thật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B82169B-0591-FAB4-E23A-D5969D0240D3}"/>
              </a:ext>
            </a:extLst>
          </p:cNvPr>
          <p:cNvSpPr txBox="1"/>
          <p:nvPr/>
        </p:nvSpPr>
        <p:spPr>
          <a:xfrm>
            <a:off x="1206500" y="5524500"/>
            <a:ext cx="4318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700">
                <a:solidFill>
                  <a:srgbClr val="E6F0FA"/>
                </a:solidFill>
                <a:latin typeface="Arial" panose="020B0604020202020204" pitchFamily="34" charset="0"/>
              </a:rPr>
              <a:t>MPO tập trung dữ liệu máy, chất lượng và downtime.</a:t>
            </a:r>
            <a:endParaRPr lang="en-US" sz="1700">
              <a:solidFill>
                <a:srgbClr val="E6F0FA"/>
              </a:solidFill>
              <a:latin typeface="Arial" panose="020B0604020202020204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419F6ED-FC2A-62D4-A43F-BBD056E64B47}"/>
              </a:ext>
            </a:extLst>
          </p:cNvPr>
          <p:cNvSpPr/>
          <p:nvPr/>
        </p:nvSpPr>
        <p:spPr>
          <a:xfrm>
            <a:off x="6350000" y="3302000"/>
            <a:ext cx="4953000" cy="3810000"/>
          </a:xfrm>
          <a:prstGeom prst="roundRect">
            <a:avLst/>
          </a:prstGeom>
          <a:solidFill>
            <a:srgbClr val="051873"/>
          </a:solidFill>
          <a:ln w="15240">
            <a:solidFill>
              <a:srgbClr val="00E6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C7CCE69-6169-EDE2-1A77-8CE3E59C6C66}"/>
              </a:ext>
            </a:extLst>
          </p:cNvPr>
          <p:cNvSpPr txBox="1"/>
          <p:nvPr/>
        </p:nvSpPr>
        <p:spPr>
          <a:xfrm>
            <a:off x="6667500" y="3708400"/>
            <a:ext cx="1016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4200" b="1">
                <a:solidFill>
                  <a:srgbClr val="00E6F0"/>
                </a:solidFill>
                <a:latin typeface="Arial" panose="020B0604020202020204" pitchFamily="34" charset="0"/>
              </a:rPr>
              <a:t>02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FE64FD9-FDE3-9937-F92A-824D4D9D29AB}"/>
              </a:ext>
            </a:extLst>
          </p:cNvPr>
          <p:cNvSpPr txBox="1"/>
          <p:nvPr/>
        </p:nvSpPr>
        <p:spPr>
          <a:xfrm>
            <a:off x="6667500" y="4800600"/>
            <a:ext cx="4318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>
                <a:solidFill>
                  <a:srgbClr val="FFFFFF"/>
                </a:solidFill>
                <a:latin typeface="Arial" panose="020B0604020202020204" pitchFamily="34" charset="0"/>
              </a:rPr>
              <a:t>Từ KPI đến nguyên nhân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175AD6D-B0DE-3970-070D-F0EF82602F63}"/>
              </a:ext>
            </a:extLst>
          </p:cNvPr>
          <p:cNvSpPr txBox="1"/>
          <p:nvPr/>
        </p:nvSpPr>
        <p:spPr>
          <a:xfrm>
            <a:off x="6667500" y="5524500"/>
            <a:ext cx="4318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700">
                <a:solidFill>
                  <a:srgbClr val="E6F0FA"/>
                </a:solidFill>
                <a:latin typeface="Arial" panose="020B0604020202020204" pitchFamily="34" charset="0"/>
              </a:rPr>
              <a:t>Dashboard định hướng; report chi tiết xác minh.</a:t>
            </a:r>
            <a:endParaRPr lang="en-US" sz="1700">
              <a:solidFill>
                <a:srgbClr val="E6F0FA"/>
              </a:solidFill>
              <a:latin typeface="Arial" panose="020B0604020202020204" pitchFamily="34" charset="0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B60FE75-C0D0-02F2-A839-7E0040698CC5}"/>
              </a:ext>
            </a:extLst>
          </p:cNvPr>
          <p:cNvSpPr/>
          <p:nvPr/>
        </p:nvSpPr>
        <p:spPr>
          <a:xfrm>
            <a:off x="11811000" y="3302000"/>
            <a:ext cx="4953000" cy="3810000"/>
          </a:xfrm>
          <a:prstGeom prst="roundRect">
            <a:avLst/>
          </a:prstGeom>
          <a:solidFill>
            <a:srgbClr val="051873"/>
          </a:solidFill>
          <a:ln w="15240">
            <a:solidFill>
              <a:srgbClr val="00E6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66D0E33-9EF3-6AB7-1D77-8B692670CD32}"/>
              </a:ext>
            </a:extLst>
          </p:cNvPr>
          <p:cNvSpPr txBox="1"/>
          <p:nvPr/>
        </p:nvSpPr>
        <p:spPr>
          <a:xfrm>
            <a:off x="12128500" y="3708400"/>
            <a:ext cx="1016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4200" b="1">
                <a:solidFill>
                  <a:srgbClr val="00E6F0"/>
                </a:solidFill>
                <a:latin typeface="Arial" panose="020B0604020202020204" pitchFamily="34" charset="0"/>
              </a:rPr>
              <a:t>03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2E050DA-5571-9AFF-34C8-19DDB6176417}"/>
              </a:ext>
            </a:extLst>
          </p:cNvPr>
          <p:cNvSpPr txBox="1"/>
          <p:nvPr/>
        </p:nvSpPr>
        <p:spPr>
          <a:xfrm>
            <a:off x="12128500" y="4800600"/>
            <a:ext cx="4318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>
                <a:solidFill>
                  <a:srgbClr val="FFFFFF"/>
                </a:solidFill>
                <a:latin typeface="Arial" panose="020B0604020202020204" pitchFamily="34" charset="0"/>
              </a:rPr>
              <a:t>Sẵn sàng vận hành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1BFFEA1-FB42-81E8-3533-E8A09392ED02}"/>
              </a:ext>
            </a:extLst>
          </p:cNvPr>
          <p:cNvSpPr txBox="1"/>
          <p:nvPr/>
        </p:nvSpPr>
        <p:spPr>
          <a:xfrm>
            <a:off x="12128500" y="5524500"/>
            <a:ext cx="4318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>
                <a:solidFill>
                  <a:srgbClr val="E6F0FA"/>
                </a:solidFill>
                <a:latin typeface="Arial" panose="020B0604020202020204" pitchFamily="34" charset="0"/>
              </a:rPr>
              <a:t>Pipeline tự động, state khôi phục và export linh hoạt.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287FD11-78E8-B72A-866A-9CBDDF0EC2AD}"/>
              </a:ext>
            </a:extLst>
          </p:cNvPr>
          <p:cNvSpPr txBox="1"/>
          <p:nvPr/>
        </p:nvSpPr>
        <p:spPr>
          <a:xfrm>
            <a:off x="889000" y="8064500"/>
            <a:ext cx="16510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100" b="1">
                <a:solidFill>
                  <a:srgbClr val="00E6F0"/>
                </a:solidFill>
                <a:latin typeface="Arial" panose="020B0604020202020204" pitchFamily="34" charset="0"/>
              </a:rPr>
              <a:t>Raw machine data → operational evidence → focused action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1D36458-3854-0CC7-C4B7-CBE8E0F235BB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39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8511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653</Words>
  <Application>Microsoft Office PowerPoint</Application>
  <PresentationFormat>Custom</PresentationFormat>
  <Paragraphs>147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[Font: Name=Arial, Size=15, Units=2, GdiCharSet=1, GdiVerticalFont=False]</vt:lpstr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Panasonic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Trinh Quoc Vinh</dc:creator>
  <cp:lastModifiedBy>Trinh Quoc Vinh</cp:lastModifiedBy>
  <cp:revision>12</cp:revision>
  <dcterms:created xsi:type="dcterms:W3CDTF">2026-08-18T08:02:55Z</dcterms:created>
  <dcterms:modified xsi:type="dcterms:W3CDTF">2026-08-18T09:09:44Z</dcterms:modified>
</cp:coreProperties>
</file>