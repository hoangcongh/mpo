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Zen Dots" charset="1" panose="00000000000000000000"/>
      <p:regular r:id="rId16"/>
    </p:embeddedFont>
    <p:embeddedFont>
      <p:font typeface="Poppins Bold" charset="1" panose="00000800000000000000"/>
      <p:regular r:id="rId17"/>
    </p:embeddedFont>
    <p:embeddedFont>
      <p:font typeface="Poppins" charset="1" panose="00000500000000000000"/>
      <p:regular r:id="rId18"/>
    </p:embeddedFont>
    <p:embeddedFont>
      <p:font typeface="Poppins Heavy" charset="1" panose="00000A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096" t="0" r="-14096" b="-51837"/>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19FF">
                <a:alpha val="20784"/>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874463" y="3620749"/>
            <a:ext cx="13842681" cy="3061570"/>
          </a:xfrm>
          <a:prstGeom prst="rect">
            <a:avLst/>
          </a:prstGeom>
        </p:spPr>
        <p:txBody>
          <a:bodyPr anchor="t" rtlCol="false" tIns="0" lIns="0" bIns="0" rIns="0">
            <a:spAutoFit/>
          </a:bodyPr>
          <a:lstStyle/>
          <a:p>
            <a:pPr algn="ctr">
              <a:lnSpc>
                <a:spcPts val="11613"/>
              </a:lnSpc>
            </a:pPr>
            <a:r>
              <a:rPr lang="en-US" sz="12487">
                <a:solidFill>
                  <a:srgbClr val="FFFFFF"/>
                </a:solidFill>
                <a:latin typeface="Zen Dots"/>
                <a:ea typeface="Zen Dots"/>
                <a:cs typeface="Zen Dots"/>
                <a:sym typeface="Zen Dots"/>
              </a:rPr>
              <a:t>MPO</a:t>
            </a:r>
          </a:p>
        </p:txBody>
      </p:sp>
      <p:sp>
        <p:nvSpPr>
          <p:cNvPr name="AutoShape 7" id="7"/>
          <p:cNvSpPr/>
          <p:nvPr/>
        </p:nvSpPr>
        <p:spPr>
          <a:xfrm>
            <a:off x="1028683" y="8732575"/>
            <a:ext cx="16230600" cy="19050"/>
          </a:xfrm>
          <a:prstGeom prst="line">
            <a:avLst/>
          </a:prstGeom>
          <a:ln cap="flat" w="19050">
            <a:solidFill>
              <a:srgbClr val="FFFFFF"/>
            </a:solidFill>
            <a:prstDash val="solid"/>
            <a:headEnd type="none" len="sm" w="sm"/>
            <a:tailEnd type="none" len="sm" w="sm"/>
          </a:ln>
        </p:spPr>
      </p:sp>
      <p:sp>
        <p:nvSpPr>
          <p:cNvPr name="Freeform 8" id="8"/>
          <p:cNvSpPr/>
          <p:nvPr/>
        </p:nvSpPr>
        <p:spPr>
          <a:xfrm flipH="false" flipV="false" rot="0">
            <a:off x="656761" y="447161"/>
            <a:ext cx="2777782" cy="1007971"/>
          </a:xfrm>
          <a:custGeom>
            <a:avLst/>
            <a:gdLst/>
            <a:ahLst/>
            <a:cxnLst/>
            <a:rect r="r" b="b" t="t" l="l"/>
            <a:pathLst>
              <a:path h="1007971" w="2777782">
                <a:moveTo>
                  <a:pt x="0" y="0"/>
                </a:moveTo>
                <a:lnTo>
                  <a:pt x="2777782" y="0"/>
                </a:lnTo>
                <a:lnTo>
                  <a:pt x="2777782" y="1007971"/>
                </a:lnTo>
                <a:lnTo>
                  <a:pt x="0" y="1007971"/>
                </a:lnTo>
                <a:lnTo>
                  <a:pt x="0" y="0"/>
                </a:lnTo>
                <a:close/>
              </a:path>
            </a:pathLst>
          </a:custGeom>
          <a:blipFill>
            <a:blip r:embed="rId3"/>
            <a:stretch>
              <a:fillRect l="0" t="0" r="0" b="0"/>
            </a:stretch>
          </a:blipFill>
        </p:spPr>
      </p:sp>
      <p:sp>
        <p:nvSpPr>
          <p:cNvPr name="TextBox 9" id="9"/>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MPO</a:t>
            </a:r>
          </a:p>
        </p:txBody>
      </p:sp>
      <p:sp>
        <p:nvSpPr>
          <p:cNvPr name="TextBox 10" id="10"/>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11" id="11"/>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Reports</a:t>
            </a:r>
          </a:p>
        </p:txBody>
      </p:sp>
      <p:sp>
        <p:nvSpPr>
          <p:cNvPr name="TextBox 12" id="12"/>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3" id="13"/>
          <p:cNvSpPr txBox="true"/>
          <p:nvPr/>
        </p:nvSpPr>
        <p:spPr>
          <a:xfrm rot="0">
            <a:off x="8528202" y="9061735"/>
            <a:ext cx="1274721"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640">
                <a:alpha val="100000"/>
              </a:srgbClr>
            </a:gs>
            <a:gs pos="100000">
              <a:srgbClr val="02007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893774" y="2856807"/>
            <a:ext cx="3086100" cy="5446038"/>
            <a:chOff x="0" y="0"/>
            <a:chExt cx="812800" cy="1434347"/>
          </a:xfrm>
        </p:grpSpPr>
        <p:sp>
          <p:nvSpPr>
            <p:cNvPr name="Freeform 3" id="3"/>
            <p:cNvSpPr/>
            <p:nvPr/>
          </p:nvSpPr>
          <p:spPr>
            <a:xfrm flipH="false" flipV="false" rot="0">
              <a:off x="0" y="0"/>
              <a:ext cx="812800" cy="1434347"/>
            </a:xfrm>
            <a:custGeom>
              <a:avLst/>
              <a:gdLst/>
              <a:ahLst/>
              <a:cxnLst/>
              <a:rect r="r" b="b" t="t" l="l"/>
              <a:pathLst>
                <a:path h="1434347" w="812800">
                  <a:moveTo>
                    <a:pt x="0" y="0"/>
                  </a:moveTo>
                  <a:lnTo>
                    <a:pt x="812800" y="0"/>
                  </a:lnTo>
                  <a:lnTo>
                    <a:pt x="812800" y="1434347"/>
                  </a:lnTo>
                  <a:lnTo>
                    <a:pt x="0" y="1434347"/>
                  </a:lnTo>
                  <a:close/>
                </a:path>
              </a:pathLst>
            </a:custGeom>
            <a:gradFill rotWithShape="true">
              <a:gsLst>
                <a:gs pos="0">
                  <a:srgbClr val="00E8FF">
                    <a:alpha val="100000"/>
                  </a:srgbClr>
                </a:gs>
                <a:gs pos="100000">
                  <a:srgbClr val="0076E4">
                    <a:alpha val="100000"/>
                  </a:srgbClr>
                </a:gs>
              </a:gsLst>
              <a:lin ang="5400000"/>
            </a:gradFill>
          </p:spPr>
        </p:sp>
        <p:sp>
          <p:nvSpPr>
            <p:cNvPr name="TextBox 4" id="4"/>
            <p:cNvSpPr txBox="true"/>
            <p:nvPr/>
          </p:nvSpPr>
          <p:spPr>
            <a:xfrm>
              <a:off x="0" y="-57150"/>
              <a:ext cx="812800" cy="1491497"/>
            </a:xfrm>
            <a:prstGeom prst="rect">
              <a:avLst/>
            </a:prstGeom>
          </p:spPr>
          <p:txBody>
            <a:bodyPr anchor="ctr" rtlCol="false" tIns="50800" lIns="50800" bIns="50800" rIns="50800"/>
            <a:lstStyle/>
            <a:p>
              <a:pPr algn="ctr">
                <a:lnSpc>
                  <a:spcPts val="2871"/>
                </a:lnSpc>
              </a:pPr>
            </a:p>
          </p:txBody>
        </p:sp>
      </p:grpSp>
      <p:grpSp>
        <p:nvGrpSpPr>
          <p:cNvPr name="Group 5" id="5"/>
          <p:cNvGrpSpPr/>
          <p:nvPr/>
        </p:nvGrpSpPr>
        <p:grpSpPr>
          <a:xfrm rot="0">
            <a:off x="1642351" y="2392921"/>
            <a:ext cx="5023431" cy="5909924"/>
            <a:chOff x="0" y="0"/>
            <a:chExt cx="778261" cy="915602"/>
          </a:xfrm>
        </p:grpSpPr>
        <p:sp>
          <p:nvSpPr>
            <p:cNvPr name="Freeform 6" id="6"/>
            <p:cNvSpPr/>
            <p:nvPr/>
          </p:nvSpPr>
          <p:spPr>
            <a:xfrm flipH="false" flipV="false" rot="0">
              <a:off x="0" y="0"/>
              <a:ext cx="778261" cy="915602"/>
            </a:xfrm>
            <a:custGeom>
              <a:avLst/>
              <a:gdLst/>
              <a:ahLst/>
              <a:cxnLst/>
              <a:rect r="r" b="b" t="t" l="l"/>
              <a:pathLst>
                <a:path h="915602" w="778261">
                  <a:moveTo>
                    <a:pt x="0" y="0"/>
                  </a:moveTo>
                  <a:lnTo>
                    <a:pt x="778261" y="0"/>
                  </a:lnTo>
                  <a:lnTo>
                    <a:pt x="778261" y="915602"/>
                  </a:lnTo>
                  <a:lnTo>
                    <a:pt x="0" y="915602"/>
                  </a:lnTo>
                  <a:close/>
                </a:path>
              </a:pathLst>
            </a:custGeom>
            <a:blipFill>
              <a:blip r:embed="rId2"/>
              <a:stretch>
                <a:fillRect l="-66191" t="0" r="-10224" b="0"/>
              </a:stretch>
            </a:blipFill>
          </p:spPr>
        </p:sp>
      </p:grpSp>
      <p:sp>
        <p:nvSpPr>
          <p:cNvPr name="Freeform 7" id="7"/>
          <p:cNvSpPr/>
          <p:nvPr/>
        </p:nvSpPr>
        <p:spPr>
          <a:xfrm flipH="false" flipV="false" rot="8831280">
            <a:off x="-2149749" y="2740944"/>
            <a:ext cx="4001809" cy="4001809"/>
          </a:xfrm>
          <a:custGeom>
            <a:avLst/>
            <a:gdLst/>
            <a:ahLst/>
            <a:cxnLst/>
            <a:rect r="r" b="b" t="t" l="l"/>
            <a:pathLst>
              <a:path h="4001809" w="4001809">
                <a:moveTo>
                  <a:pt x="0" y="0"/>
                </a:moveTo>
                <a:lnTo>
                  <a:pt x="4001809" y="0"/>
                </a:lnTo>
                <a:lnTo>
                  <a:pt x="4001809" y="4001809"/>
                </a:lnTo>
                <a:lnTo>
                  <a:pt x="0" y="4001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8284169" y="2800423"/>
            <a:ext cx="6963635" cy="1311162"/>
          </a:xfrm>
          <a:prstGeom prst="rect">
            <a:avLst/>
          </a:prstGeom>
        </p:spPr>
        <p:txBody>
          <a:bodyPr anchor="t" rtlCol="false" tIns="0" lIns="0" bIns="0" rIns="0">
            <a:spAutoFit/>
          </a:bodyPr>
          <a:lstStyle/>
          <a:p>
            <a:pPr algn="just">
              <a:lnSpc>
                <a:spcPts val="4989"/>
              </a:lnSpc>
            </a:pPr>
            <a:r>
              <a:rPr lang="en-US" sz="5365">
                <a:solidFill>
                  <a:srgbClr val="00FFFF"/>
                </a:solidFill>
                <a:latin typeface="Zen Dots"/>
                <a:ea typeface="Zen Dots"/>
                <a:cs typeface="Zen Dots"/>
                <a:sym typeface="Zen Dots"/>
              </a:rPr>
              <a:t>MPO PROJECT OVERVIEW</a:t>
            </a:r>
          </a:p>
        </p:txBody>
      </p:sp>
      <p:sp>
        <p:nvSpPr>
          <p:cNvPr name="AutoShape 9" id="9"/>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Freeform 10" id="10"/>
          <p:cNvSpPr/>
          <p:nvPr/>
        </p:nvSpPr>
        <p:spPr>
          <a:xfrm flipH="false" flipV="false" rot="-1886788">
            <a:off x="16349986" y="3775189"/>
            <a:ext cx="4464076" cy="4464076"/>
          </a:xfrm>
          <a:custGeom>
            <a:avLst/>
            <a:gdLst/>
            <a:ahLst/>
            <a:cxnLst/>
            <a:rect r="r" b="b" t="t" l="l"/>
            <a:pathLst>
              <a:path h="4464076" w="4464076">
                <a:moveTo>
                  <a:pt x="0" y="0"/>
                </a:moveTo>
                <a:lnTo>
                  <a:pt x="4464076" y="0"/>
                </a:lnTo>
                <a:lnTo>
                  <a:pt x="4464076" y="4464076"/>
                </a:lnTo>
                <a:lnTo>
                  <a:pt x="0" y="44640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4624599" y="707935"/>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12" id="12"/>
          <p:cNvSpPr txBox="true"/>
          <p:nvPr/>
        </p:nvSpPr>
        <p:spPr>
          <a:xfrm rot="0">
            <a:off x="6888721" y="710148"/>
            <a:ext cx="1907082"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Pipeline</a:t>
            </a:r>
          </a:p>
        </p:txBody>
      </p:sp>
      <p:sp>
        <p:nvSpPr>
          <p:cNvPr name="TextBox 13" id="13"/>
          <p:cNvSpPr txBox="true"/>
          <p:nvPr/>
        </p:nvSpPr>
        <p:spPr>
          <a:xfrm rot="0">
            <a:off x="9596344" y="710148"/>
            <a:ext cx="158919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Reports</a:t>
            </a:r>
          </a:p>
        </p:txBody>
      </p:sp>
      <p:sp>
        <p:nvSpPr>
          <p:cNvPr name="TextBox 14" id="14"/>
          <p:cNvSpPr txBox="true"/>
          <p:nvPr/>
        </p:nvSpPr>
        <p:spPr>
          <a:xfrm rot="0">
            <a:off x="11529929" y="707935"/>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5" id="15"/>
          <p:cNvSpPr txBox="true"/>
          <p:nvPr/>
        </p:nvSpPr>
        <p:spPr>
          <a:xfrm rot="0">
            <a:off x="8284169" y="4843370"/>
            <a:ext cx="7753056" cy="4232529"/>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The Website </a:t>
            </a:r>
            <a:r>
              <a:rPr lang="en-US" sz="2100" spc="-58">
                <a:solidFill>
                  <a:srgbClr val="FFFFFF"/>
                </a:solidFill>
                <a:latin typeface="Poppins"/>
                <a:ea typeface="Poppins"/>
                <a:cs typeface="Poppins"/>
                <a:sym typeface="Poppins"/>
              </a:rPr>
              <a:t>centralizes manufacturing performance data into one web-based reporting workspace. It addresses the operational bottleneck of reviewing production output, equipment stops, and pick-and-placement quality across multiple screens, manual data extracts, or disconnected records.</a:t>
            </a:r>
          </a:p>
          <a:p>
            <a:pPr algn="just">
              <a:lnSpc>
                <a:spcPts val="2793"/>
              </a:lnSpc>
            </a:pPr>
            <a:r>
              <a:rPr lang="en-US" sz="2100" spc="-58">
                <a:solidFill>
                  <a:srgbClr val="FFFFFF"/>
                </a:solidFill>
                <a:latin typeface="Poppins"/>
                <a:ea typeface="Poppins"/>
                <a:cs typeface="Poppins"/>
                <a:sym typeface="Poppins"/>
              </a:rPr>
              <a:t>The project gives supervisors and management a faster path from MES production data to operational insight. Users can review line-level performance, identify recurring feeder or nozzle issues, assess downtime categories, and export filtered results for follow-up analysis.</a:t>
            </a:r>
          </a:p>
          <a:p>
            <a:pPr algn="just">
              <a:lnSpc>
                <a:spcPts val="2793"/>
              </a:lnSpc>
            </a:pPr>
          </a:p>
        </p:txBody>
      </p:sp>
      <p:sp>
        <p:nvSpPr>
          <p:cNvPr name="Freeform 16" id="16"/>
          <p:cNvSpPr/>
          <p:nvPr/>
        </p:nvSpPr>
        <p:spPr>
          <a:xfrm flipH="false" flipV="false" rot="0">
            <a:off x="656761" y="447161"/>
            <a:ext cx="2777782" cy="1007971"/>
          </a:xfrm>
          <a:custGeom>
            <a:avLst/>
            <a:gdLst/>
            <a:ahLst/>
            <a:cxnLst/>
            <a:rect r="r" b="b" t="t" l="l"/>
            <a:pathLst>
              <a:path h="1007971" w="2777782">
                <a:moveTo>
                  <a:pt x="0" y="0"/>
                </a:moveTo>
                <a:lnTo>
                  <a:pt x="2777782" y="0"/>
                </a:lnTo>
                <a:lnTo>
                  <a:pt x="2777782" y="1007971"/>
                </a:lnTo>
                <a:lnTo>
                  <a:pt x="0" y="1007971"/>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Freeform 3" id="3"/>
          <p:cNvSpPr/>
          <p:nvPr/>
        </p:nvSpPr>
        <p:spPr>
          <a:xfrm flipH="false" flipV="false" rot="0">
            <a:off x="13179897" y="2396664"/>
            <a:ext cx="5919398" cy="5704147"/>
          </a:xfrm>
          <a:custGeom>
            <a:avLst/>
            <a:gdLst/>
            <a:ahLst/>
            <a:cxnLst/>
            <a:rect r="r" b="b" t="t" l="l"/>
            <a:pathLst>
              <a:path h="5704147" w="5919398">
                <a:moveTo>
                  <a:pt x="0" y="0"/>
                </a:moveTo>
                <a:lnTo>
                  <a:pt x="5919398" y="0"/>
                </a:lnTo>
                <a:lnTo>
                  <a:pt x="5919398" y="5704147"/>
                </a:lnTo>
                <a:lnTo>
                  <a:pt x="0" y="57041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5" id="5"/>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6" id="6"/>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7" id="7"/>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8" id="8"/>
          <p:cNvSpPr txBox="true"/>
          <p:nvPr/>
        </p:nvSpPr>
        <p:spPr>
          <a:xfrm rot="0">
            <a:off x="1736149" y="2637937"/>
            <a:ext cx="10405523" cy="794047"/>
          </a:xfrm>
          <a:prstGeom prst="rect">
            <a:avLst/>
          </a:prstGeom>
        </p:spPr>
        <p:txBody>
          <a:bodyPr anchor="t" rtlCol="false" tIns="0" lIns="0" bIns="0" rIns="0">
            <a:spAutoFit/>
          </a:bodyPr>
          <a:lstStyle/>
          <a:p>
            <a:pPr algn="just">
              <a:lnSpc>
                <a:spcPts val="5858"/>
              </a:lnSpc>
            </a:pPr>
            <a:r>
              <a:rPr lang="en-US" sz="6299">
                <a:solidFill>
                  <a:srgbClr val="00FFFF"/>
                </a:solidFill>
                <a:latin typeface="Zen Dots"/>
                <a:ea typeface="Zen Dots"/>
                <a:cs typeface="Zen Dots"/>
                <a:sym typeface="Zen Dots"/>
              </a:rPr>
              <a:t>BUSINESS VALUE</a:t>
            </a:r>
          </a:p>
        </p:txBody>
      </p:sp>
      <p:sp>
        <p:nvSpPr>
          <p:cNvPr name="TextBox 9" id="9"/>
          <p:cNvSpPr txBox="true"/>
          <p:nvPr/>
        </p:nvSpPr>
        <p:spPr>
          <a:xfrm rot="0">
            <a:off x="1736149" y="4943475"/>
            <a:ext cx="4550999" cy="381127"/>
          </a:xfrm>
          <a:prstGeom prst="rect">
            <a:avLst/>
          </a:prstGeom>
        </p:spPr>
        <p:txBody>
          <a:bodyPr anchor="t" rtlCol="false" tIns="0" lIns="0" bIns="0" rIns="0">
            <a:spAutoFit/>
          </a:bodyPr>
          <a:lstStyle/>
          <a:p>
            <a:pPr algn="just">
              <a:lnSpc>
                <a:spcPts val="3058"/>
              </a:lnSpc>
            </a:pPr>
            <a:r>
              <a:rPr lang="en-US" b="true" sz="2299" spc="-64">
                <a:solidFill>
                  <a:srgbClr val="00FFFF"/>
                </a:solidFill>
                <a:latin typeface="Poppins Bold"/>
                <a:ea typeface="Poppins Bold"/>
                <a:cs typeface="Poppins Bold"/>
                <a:sym typeface="Poppins Bold"/>
              </a:rPr>
              <a:t>Improve Performance:</a:t>
            </a:r>
          </a:p>
        </p:txBody>
      </p:sp>
      <p:sp>
        <p:nvSpPr>
          <p:cNvPr name="TextBox 10" id="10"/>
          <p:cNvSpPr txBox="true"/>
          <p:nvPr/>
        </p:nvSpPr>
        <p:spPr>
          <a:xfrm rot="0">
            <a:off x="1736149" y="5578587"/>
            <a:ext cx="3936870" cy="708279"/>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Reduces manual consolidation of production and quality data.</a:t>
            </a:r>
          </a:p>
        </p:txBody>
      </p:sp>
      <p:sp>
        <p:nvSpPr>
          <p:cNvPr name="TextBox 11" id="11"/>
          <p:cNvSpPr txBox="true"/>
          <p:nvPr/>
        </p:nvSpPr>
        <p:spPr>
          <a:xfrm rot="0">
            <a:off x="1736149" y="6952543"/>
            <a:ext cx="4550999" cy="381127"/>
          </a:xfrm>
          <a:prstGeom prst="rect">
            <a:avLst/>
          </a:prstGeom>
        </p:spPr>
        <p:txBody>
          <a:bodyPr anchor="t" rtlCol="false" tIns="0" lIns="0" bIns="0" rIns="0">
            <a:spAutoFit/>
          </a:bodyPr>
          <a:lstStyle/>
          <a:p>
            <a:pPr algn="just">
              <a:lnSpc>
                <a:spcPts val="3058"/>
              </a:lnSpc>
            </a:pPr>
            <a:r>
              <a:rPr lang="en-US" b="true" sz="2299" spc="-64">
                <a:solidFill>
                  <a:srgbClr val="00FFFF"/>
                </a:solidFill>
                <a:latin typeface="Poppins Bold"/>
                <a:ea typeface="Poppins Bold"/>
                <a:cs typeface="Poppins Bold"/>
                <a:sym typeface="Poppins Bold"/>
              </a:rPr>
              <a:t>Improved Efficiency: </a:t>
            </a:r>
          </a:p>
        </p:txBody>
      </p:sp>
      <p:sp>
        <p:nvSpPr>
          <p:cNvPr name="TextBox 12" id="12"/>
          <p:cNvSpPr txBox="true"/>
          <p:nvPr/>
        </p:nvSpPr>
        <p:spPr>
          <a:xfrm rot="0">
            <a:off x="1736149" y="7587655"/>
            <a:ext cx="3821830" cy="1060704"/>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Helps teams focus corrective action on the highest-impact equipment and quality losses.</a:t>
            </a:r>
          </a:p>
        </p:txBody>
      </p:sp>
      <p:sp>
        <p:nvSpPr>
          <p:cNvPr name="TextBox 13" id="13"/>
          <p:cNvSpPr txBox="true"/>
          <p:nvPr/>
        </p:nvSpPr>
        <p:spPr>
          <a:xfrm rot="0">
            <a:off x="7320844" y="4943475"/>
            <a:ext cx="4550999" cy="381127"/>
          </a:xfrm>
          <a:prstGeom prst="rect">
            <a:avLst/>
          </a:prstGeom>
        </p:spPr>
        <p:txBody>
          <a:bodyPr anchor="t" rtlCol="false" tIns="0" lIns="0" bIns="0" rIns="0">
            <a:spAutoFit/>
          </a:bodyPr>
          <a:lstStyle/>
          <a:p>
            <a:pPr algn="just">
              <a:lnSpc>
                <a:spcPts val="3058"/>
              </a:lnSpc>
            </a:pPr>
            <a:r>
              <a:rPr lang="en-US" b="true" sz="2299" spc="-64">
                <a:solidFill>
                  <a:srgbClr val="00FFFF"/>
                </a:solidFill>
                <a:latin typeface="Poppins Bold"/>
                <a:ea typeface="Poppins Bold"/>
                <a:cs typeface="Poppins Bold"/>
                <a:sym typeface="Poppins Bold"/>
              </a:rPr>
              <a:t>Flexible Reporting Filters</a:t>
            </a:r>
          </a:p>
        </p:txBody>
      </p:sp>
      <p:sp>
        <p:nvSpPr>
          <p:cNvPr name="TextBox 14" id="14"/>
          <p:cNvSpPr txBox="true"/>
          <p:nvPr/>
        </p:nvSpPr>
        <p:spPr>
          <a:xfrm rot="0">
            <a:off x="7320844" y="5578587"/>
            <a:ext cx="4550999" cy="1060704"/>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Creates a consistent, filterable view of performance by line, machine, model, part, feeder, and nozzle.</a:t>
            </a:r>
          </a:p>
        </p:txBody>
      </p:sp>
      <p:sp>
        <p:nvSpPr>
          <p:cNvPr name="TextBox 15" id="15"/>
          <p:cNvSpPr txBox="true"/>
          <p:nvPr/>
        </p:nvSpPr>
        <p:spPr>
          <a:xfrm rot="0">
            <a:off x="7320844" y="6952543"/>
            <a:ext cx="4550999" cy="381127"/>
          </a:xfrm>
          <a:prstGeom prst="rect">
            <a:avLst/>
          </a:prstGeom>
        </p:spPr>
        <p:txBody>
          <a:bodyPr anchor="t" rtlCol="false" tIns="0" lIns="0" bIns="0" rIns="0">
            <a:spAutoFit/>
          </a:bodyPr>
          <a:lstStyle/>
          <a:p>
            <a:pPr algn="just">
              <a:lnSpc>
                <a:spcPts val="3058"/>
              </a:lnSpc>
            </a:pPr>
            <a:r>
              <a:rPr lang="en-US" b="true" sz="2299" spc="-64">
                <a:solidFill>
                  <a:srgbClr val="00FFFF"/>
                </a:solidFill>
                <a:latin typeface="Poppins Bold"/>
                <a:ea typeface="Poppins Bold"/>
                <a:cs typeface="Poppins Bold"/>
                <a:sym typeface="Poppins Bold"/>
              </a:rPr>
              <a:t>Export Excel</a:t>
            </a:r>
          </a:p>
        </p:txBody>
      </p:sp>
      <p:sp>
        <p:nvSpPr>
          <p:cNvPr name="TextBox 16" id="16"/>
          <p:cNvSpPr txBox="true"/>
          <p:nvPr/>
        </p:nvSpPr>
        <p:spPr>
          <a:xfrm rot="0">
            <a:off x="7320844" y="7587655"/>
            <a:ext cx="4209084" cy="708279"/>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Supports management reporting through Excel export.</a:t>
            </a:r>
          </a:p>
        </p:txBody>
      </p:sp>
      <p:sp>
        <p:nvSpPr>
          <p:cNvPr name="Freeform 17" id="17"/>
          <p:cNvSpPr/>
          <p:nvPr/>
        </p:nvSpPr>
        <p:spPr>
          <a:xfrm flipH="false" flipV="false" rot="0">
            <a:off x="656761" y="447161"/>
            <a:ext cx="2777782" cy="1007971"/>
          </a:xfrm>
          <a:custGeom>
            <a:avLst/>
            <a:gdLst/>
            <a:ahLst/>
            <a:cxnLst/>
            <a:rect r="r" b="b" t="t" l="l"/>
            <a:pathLst>
              <a:path h="1007971" w="2777782">
                <a:moveTo>
                  <a:pt x="0" y="0"/>
                </a:moveTo>
                <a:lnTo>
                  <a:pt x="2777782" y="0"/>
                </a:lnTo>
                <a:lnTo>
                  <a:pt x="2777782" y="1007971"/>
                </a:lnTo>
                <a:lnTo>
                  <a:pt x="0" y="1007971"/>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4" id="4"/>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306817" y="1295381"/>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6" id="6"/>
          <p:cNvGraphicFramePr>
            <a:graphicFrameLocks noGrp="true"/>
          </p:cNvGraphicFramePr>
          <p:nvPr/>
        </p:nvGraphicFramePr>
        <p:xfrm>
          <a:off x="855218" y="3281097"/>
          <a:ext cx="16577564" cy="5943600"/>
        </p:xfrm>
        <a:graphic>
          <a:graphicData uri="http://schemas.openxmlformats.org/drawingml/2006/table">
            <a:tbl>
              <a:tblPr/>
              <a:tblGrid>
                <a:gridCol w="3607163"/>
                <a:gridCol w="6915289"/>
                <a:gridCol w="6055112"/>
              </a:tblGrid>
              <a:tr h="939472">
                <a:tc>
                  <a:txBody>
                    <a:bodyPr anchor="t" rtlCol="false"/>
                    <a:lstStyle/>
                    <a:p>
                      <a:pPr algn="ctr">
                        <a:lnSpc>
                          <a:spcPts val="2871"/>
                        </a:lnSpc>
                        <a:defRPr/>
                      </a:pPr>
                      <a:r>
                        <a:rPr lang="en-US" sz="2051" b="true">
                          <a:solidFill>
                            <a:srgbClr val="FFFFFF"/>
                          </a:solidFill>
                          <a:latin typeface="Poppins Bold"/>
                          <a:ea typeface="Poppins Bold"/>
                          <a:cs typeface="Poppins Bold"/>
                          <a:sym typeface="Poppins Bold"/>
                        </a:rPr>
                        <a:t>Feature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b="true">
                          <a:solidFill>
                            <a:srgbClr val="FFFFFF"/>
                          </a:solidFill>
                          <a:latin typeface="Poppins Bold"/>
                          <a:ea typeface="Poppins Bold"/>
                          <a:cs typeface="Poppins Bold"/>
                          <a:sym typeface="Poppins Bold"/>
                        </a:rPr>
                        <a:t>What it does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b="true">
                          <a:solidFill>
                            <a:srgbClr val="FFFFFF"/>
                          </a:solidFill>
                          <a:latin typeface="Poppins Bold"/>
                          <a:ea typeface="Poppins Bold"/>
                          <a:cs typeface="Poppins Bold"/>
                          <a:sym typeface="Poppins Bold"/>
                        </a:rPr>
                        <a:t>Business Benefit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2032328">
                <a:tc>
                  <a:txBody>
                    <a:bodyPr anchor="t" rtlCol="false"/>
                    <a:lstStyle/>
                    <a:p>
                      <a:pPr algn="ctr">
                        <a:lnSpc>
                          <a:spcPts val="2871"/>
                        </a:lnSpc>
                        <a:defRPr/>
                      </a:pPr>
                      <a:r>
                        <a:rPr lang="en-US" sz="2051">
                          <a:solidFill>
                            <a:srgbClr val="FFFFFF"/>
                          </a:solidFill>
                          <a:latin typeface="Poppins"/>
                          <a:ea typeface="Poppins"/>
                          <a:cs typeface="Poppins"/>
                          <a:sym typeface="Poppins"/>
                        </a:rPr>
                        <a:t>Overall Dashboard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a:solidFill>
                            <a:srgbClr val="FFFFFF"/>
                          </a:solidFill>
                          <a:latin typeface="Poppins"/>
                          <a:ea typeface="Poppins"/>
                          <a:cs typeface="Poppins"/>
                          <a:sym typeface="Poppins"/>
                        </a:rPr>
                        <a:t>Presents board production, top problematic feeders, top problematic nozzles, pickup/placement totals, PPM, and error-stop time by line.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a:solidFill>
                            <a:srgbClr val="FFFFFF"/>
                          </a:solidFill>
                          <a:latin typeface="Poppins"/>
                          <a:ea typeface="Poppins"/>
                          <a:cs typeface="Poppins"/>
                          <a:sym typeface="Poppins"/>
                        </a:rPr>
                        <a:t>Gives leadership an immediate operational health check and highlights where attention is needed.</a:t>
                      </a:r>
                      <a:endParaRPr lang="en-US" sz="1100"/>
                    </a:p>
                    <a:p>
                      <a:pPr algn="ctr">
                        <a:lnSpc>
                          <a:spcPts val="2871"/>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668043">
                <a:tc>
                  <a:txBody>
                    <a:bodyPr anchor="t" rtlCol="false"/>
                    <a:lstStyle/>
                    <a:p>
                      <a:pPr algn="ctr">
                        <a:lnSpc>
                          <a:spcPts val="2871"/>
                        </a:lnSpc>
                        <a:defRPr/>
                      </a:pPr>
                      <a:r>
                        <a:rPr lang="en-US" sz="2051">
                          <a:solidFill>
                            <a:srgbClr val="FFFFFF"/>
                          </a:solidFill>
                          <a:latin typeface="Poppins"/>
                          <a:ea typeface="Poppins"/>
                          <a:cs typeface="Poppins"/>
                          <a:sym typeface="Poppins"/>
                        </a:rPr>
                        <a:t>Board Count DashboardBoard Count Dashboard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a:solidFill>
                            <a:srgbClr val="FFFFFF"/>
                          </a:solidFill>
                          <a:latin typeface="Poppins"/>
                          <a:ea typeface="Poppins"/>
                          <a:cs typeface="Poppins"/>
                          <a:sym typeface="Poppins"/>
                        </a:rPr>
                        <a:t>Visualizes production-board counts by selected line, lane, time range, and model.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a:solidFill>
                            <a:srgbClr val="FFFFFF"/>
                          </a:solidFill>
                          <a:latin typeface="Poppins"/>
                          <a:ea typeface="Poppins"/>
                          <a:cs typeface="Poppins"/>
                          <a:sym typeface="Poppins"/>
                        </a:rPr>
                        <a:t>Makes output trends easier to compare across lines and shifts.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303757">
                <a:tc>
                  <a:txBody>
                    <a:bodyPr anchor="t" rtlCol="false"/>
                    <a:lstStyle/>
                    <a:p>
                      <a:pPr algn="ctr">
                        <a:lnSpc>
                          <a:spcPts val="2871"/>
                        </a:lnSpc>
                        <a:defRPr/>
                      </a:pPr>
                      <a:r>
                        <a:rPr lang="en-US" sz="2051">
                          <a:solidFill>
                            <a:srgbClr val="FFFFFF"/>
                          </a:solidFill>
                          <a:latin typeface="Poppins"/>
                          <a:ea typeface="Poppins"/>
                          <a:cs typeface="Poppins"/>
                          <a:sym typeface="Poppins"/>
                        </a:rPr>
                        <a:t>Production Report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a:solidFill>
                            <a:srgbClr val="FFFFFF"/>
                          </a:solidFill>
                          <a:latin typeface="Poppins"/>
                          <a:ea typeface="Poppins"/>
                          <a:cs typeface="Poppins"/>
                          <a:sym typeface="Poppins"/>
                        </a:rPr>
                        <a:t>Lists produced panel and pattern quantities by line, lane, model, group, and time range.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71"/>
                        </a:lnSpc>
                        <a:defRPr/>
                      </a:pPr>
                      <a:r>
                        <a:rPr lang="en-US" sz="2051">
                          <a:solidFill>
                            <a:srgbClr val="FFFFFF"/>
                          </a:solidFill>
                          <a:latin typeface="Poppins"/>
                          <a:ea typeface="Poppins"/>
                          <a:cs typeface="Poppins"/>
                          <a:sym typeface="Poppins"/>
                        </a:rPr>
                        <a:t>Supports production tracking and provides a clear record of completed output.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7" id="7"/>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8" id="8"/>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9" id="9"/>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10" id="10"/>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1" id="11"/>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04</a:t>
            </a:r>
          </a:p>
        </p:txBody>
      </p:sp>
      <p:sp>
        <p:nvSpPr>
          <p:cNvPr name="TextBox 12" id="12"/>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13" id="13"/>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TextBox 14" id="14"/>
          <p:cNvSpPr txBox="true"/>
          <p:nvPr/>
        </p:nvSpPr>
        <p:spPr>
          <a:xfrm rot="0">
            <a:off x="855218" y="1598460"/>
            <a:ext cx="12524356" cy="1311162"/>
          </a:xfrm>
          <a:prstGeom prst="rect">
            <a:avLst/>
          </a:prstGeom>
        </p:spPr>
        <p:txBody>
          <a:bodyPr anchor="t" rtlCol="false" tIns="0" lIns="0" bIns="0" rIns="0">
            <a:spAutoFit/>
          </a:bodyPr>
          <a:lstStyle/>
          <a:p>
            <a:pPr algn="just">
              <a:lnSpc>
                <a:spcPts val="4989"/>
              </a:lnSpc>
            </a:pPr>
            <a:r>
              <a:rPr lang="en-US" sz="5365">
                <a:solidFill>
                  <a:srgbClr val="00FFFF"/>
                </a:solidFill>
                <a:latin typeface="Zen Dots"/>
                <a:ea typeface="Zen Dots"/>
                <a:cs typeface="Zen Dots"/>
                <a:sym typeface="Zen Dots"/>
              </a:rPr>
              <a:t>KEY FEATURES AND VALUE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640">
                <a:alpha val="100000"/>
              </a:srgbClr>
            </a:gs>
            <a:gs pos="100000">
              <a:srgbClr val="02007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4" id="4"/>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6" id="6"/>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7" id="7"/>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8" id="8"/>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9" id="9"/>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05</a:t>
            </a:r>
          </a:p>
        </p:txBody>
      </p:sp>
      <p:sp>
        <p:nvSpPr>
          <p:cNvPr name="TextBox 10" id="10"/>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11" id="11"/>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Freeform 12" id="12"/>
          <p:cNvSpPr/>
          <p:nvPr/>
        </p:nvSpPr>
        <p:spPr>
          <a:xfrm flipH="false" flipV="false" rot="0">
            <a:off x="10815206" y="2402329"/>
            <a:ext cx="6145566" cy="5832701"/>
          </a:xfrm>
          <a:custGeom>
            <a:avLst/>
            <a:gdLst/>
            <a:ahLst/>
            <a:cxnLst/>
            <a:rect r="r" b="b" t="t" l="l"/>
            <a:pathLst>
              <a:path h="5832701" w="6145566">
                <a:moveTo>
                  <a:pt x="0" y="0"/>
                </a:moveTo>
                <a:lnTo>
                  <a:pt x="6145567" y="0"/>
                </a:lnTo>
                <a:lnTo>
                  <a:pt x="6145567" y="5832701"/>
                </a:lnTo>
                <a:lnTo>
                  <a:pt x="0" y="5832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3" id="13"/>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TextBox 14" id="14"/>
          <p:cNvSpPr txBox="true"/>
          <p:nvPr/>
        </p:nvSpPr>
        <p:spPr>
          <a:xfrm rot="0">
            <a:off x="1736149" y="3195369"/>
            <a:ext cx="7647473" cy="1311162"/>
          </a:xfrm>
          <a:prstGeom prst="rect">
            <a:avLst/>
          </a:prstGeom>
        </p:spPr>
        <p:txBody>
          <a:bodyPr anchor="t" rtlCol="false" tIns="0" lIns="0" bIns="0" rIns="0">
            <a:spAutoFit/>
          </a:bodyPr>
          <a:lstStyle/>
          <a:p>
            <a:pPr algn="just">
              <a:lnSpc>
                <a:spcPts val="4989"/>
              </a:lnSpc>
            </a:pPr>
            <a:r>
              <a:rPr lang="en-US" sz="5365">
                <a:solidFill>
                  <a:srgbClr val="00FFFF"/>
                </a:solidFill>
                <a:latin typeface="Zen Dots"/>
                <a:ea typeface="Zen Dots"/>
                <a:cs typeface="Zen Dots"/>
                <a:sym typeface="Zen Dots"/>
              </a:rPr>
              <a:t>END-TO-END DATA PIPELINE</a:t>
            </a:r>
          </a:p>
        </p:txBody>
      </p:sp>
      <p:sp>
        <p:nvSpPr>
          <p:cNvPr name="TextBox 15" id="15"/>
          <p:cNvSpPr txBox="true"/>
          <p:nvPr/>
        </p:nvSpPr>
        <p:spPr>
          <a:xfrm rot="0">
            <a:off x="1736149" y="4894353"/>
            <a:ext cx="6637171" cy="1765554"/>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LNB machines generate raw .u01 files. Files move through SFTP to the incoming folder, where Node-RED detects, reads, parses, and prepares them for PostgreSQL. The web application then turns the stored data into dashboards and reports.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20070">
                    <a:alpha val="67000"/>
                  </a:srgbClr>
                </a:gs>
                <a:gs pos="100000">
                  <a:srgbClr val="000640">
                    <a:alpha val="67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grpSp>
        <p:nvGrpSpPr>
          <p:cNvPr name="Group 6" id="6"/>
          <p:cNvGrpSpPr/>
          <p:nvPr/>
        </p:nvGrpSpPr>
        <p:grpSpPr>
          <a:xfrm rot="0">
            <a:off x="15513352" y="667880"/>
            <a:ext cx="1919429" cy="566532"/>
            <a:chOff x="0" y="0"/>
            <a:chExt cx="505529" cy="149210"/>
          </a:xfrm>
        </p:grpSpPr>
        <p:sp>
          <p:nvSpPr>
            <p:cNvPr name="Freeform 7" id="7"/>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8" id="8"/>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10" id="10"/>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11" id="11"/>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12" id="12"/>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3" id="13"/>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06</a:t>
            </a:r>
          </a:p>
        </p:txBody>
      </p:sp>
      <p:sp>
        <p:nvSpPr>
          <p:cNvPr name="TextBox 14" id="14"/>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15" id="15"/>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AutoShape 16" id="16"/>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TextBox 17" id="17"/>
          <p:cNvSpPr txBox="true"/>
          <p:nvPr/>
        </p:nvSpPr>
        <p:spPr>
          <a:xfrm rot="0">
            <a:off x="3353593" y="3255891"/>
            <a:ext cx="11580815" cy="2144518"/>
          </a:xfrm>
          <a:prstGeom prst="rect">
            <a:avLst/>
          </a:prstGeom>
        </p:spPr>
        <p:txBody>
          <a:bodyPr anchor="t" rtlCol="false" tIns="0" lIns="0" bIns="0" rIns="0">
            <a:spAutoFit/>
          </a:bodyPr>
          <a:lstStyle/>
          <a:p>
            <a:pPr algn="ctr">
              <a:lnSpc>
                <a:spcPts val="8130"/>
              </a:lnSpc>
            </a:pPr>
            <a:r>
              <a:rPr lang="en-US" sz="8742">
                <a:solidFill>
                  <a:srgbClr val="00FFFF"/>
                </a:solidFill>
                <a:latin typeface="Zen Dots"/>
                <a:ea typeface="Zen Dots"/>
                <a:cs typeface="Zen Dots"/>
                <a:sym typeface="Zen Dots"/>
              </a:rPr>
              <a:t>NODE-RED DATA PROCESSING</a:t>
            </a:r>
          </a:p>
        </p:txBody>
      </p:sp>
      <p:sp>
        <p:nvSpPr>
          <p:cNvPr name="TextBox 18" id="18"/>
          <p:cNvSpPr txBox="true"/>
          <p:nvPr/>
        </p:nvSpPr>
        <p:spPr>
          <a:xfrm rot="0">
            <a:off x="4519626" y="5754263"/>
            <a:ext cx="9248747" cy="1413129"/>
          </a:xfrm>
          <a:prstGeom prst="rect">
            <a:avLst/>
          </a:prstGeom>
        </p:spPr>
        <p:txBody>
          <a:bodyPr anchor="t" rtlCol="false" tIns="0" lIns="0" bIns="0" rIns="0">
            <a:spAutoFit/>
          </a:bodyPr>
          <a:lstStyle/>
          <a:p>
            <a:pPr algn="ctr">
              <a:lnSpc>
                <a:spcPts val="2793"/>
              </a:lnSpc>
            </a:pPr>
            <a:r>
              <a:rPr lang="en-US" sz="2100" spc="-58">
                <a:solidFill>
                  <a:srgbClr val="FFFFFF"/>
                </a:solidFill>
                <a:latin typeface="Poppins"/>
                <a:ea typeface="Poppins"/>
                <a:cs typeface="Poppins"/>
                <a:sym typeface="Poppins"/>
              </a:rPr>
              <a:t>Node-RED extracts machine identity, MJS ID, lot, product, production counters, downtime, feeder data, and nozzle data. It calculates the delta between the current and prior counters, including counter-reset handling, before submitting one structured JSON payload to PostgreSQL.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640">
                <a:alpha val="100000"/>
              </a:srgbClr>
            </a:gs>
            <a:gs pos="100000">
              <a:srgbClr val="02007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4" id="4"/>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07</a:t>
            </a:r>
          </a:p>
        </p:txBody>
      </p:sp>
      <p:grpSp>
        <p:nvGrpSpPr>
          <p:cNvPr name="Group 6" id="6"/>
          <p:cNvGrpSpPr/>
          <p:nvPr/>
        </p:nvGrpSpPr>
        <p:grpSpPr>
          <a:xfrm rot="0">
            <a:off x="2811052" y="3019148"/>
            <a:ext cx="4522428" cy="5181900"/>
            <a:chOff x="0" y="0"/>
            <a:chExt cx="1191092" cy="1364780"/>
          </a:xfrm>
        </p:grpSpPr>
        <p:sp>
          <p:nvSpPr>
            <p:cNvPr name="Freeform 7" id="7"/>
            <p:cNvSpPr/>
            <p:nvPr/>
          </p:nvSpPr>
          <p:spPr>
            <a:xfrm flipH="false" flipV="false" rot="0">
              <a:off x="0" y="0"/>
              <a:ext cx="1191092" cy="1364780"/>
            </a:xfrm>
            <a:custGeom>
              <a:avLst/>
              <a:gdLst/>
              <a:ahLst/>
              <a:cxnLst/>
              <a:rect r="r" b="b" t="t" l="l"/>
              <a:pathLst>
                <a:path h="1364780" w="1191092">
                  <a:moveTo>
                    <a:pt x="0" y="0"/>
                  </a:moveTo>
                  <a:lnTo>
                    <a:pt x="1191092" y="0"/>
                  </a:lnTo>
                  <a:lnTo>
                    <a:pt x="1191092" y="1364780"/>
                  </a:lnTo>
                  <a:lnTo>
                    <a:pt x="0" y="1364780"/>
                  </a:lnTo>
                  <a:close/>
                </a:path>
              </a:pathLst>
            </a:custGeom>
            <a:gradFill rotWithShape="true">
              <a:gsLst>
                <a:gs pos="0">
                  <a:srgbClr val="00E8FF">
                    <a:alpha val="100000"/>
                  </a:srgbClr>
                </a:gs>
                <a:gs pos="100000">
                  <a:srgbClr val="0076E4">
                    <a:alpha val="100000"/>
                  </a:srgbClr>
                </a:gs>
              </a:gsLst>
              <a:lin ang="5400000"/>
            </a:gradFill>
          </p:spPr>
        </p:sp>
        <p:sp>
          <p:nvSpPr>
            <p:cNvPr name="TextBox 8" id="8"/>
            <p:cNvSpPr txBox="true"/>
            <p:nvPr/>
          </p:nvSpPr>
          <p:spPr>
            <a:xfrm>
              <a:off x="0" y="-57150"/>
              <a:ext cx="1191092" cy="1421930"/>
            </a:xfrm>
            <a:prstGeom prst="rect">
              <a:avLst/>
            </a:prstGeom>
          </p:spPr>
          <p:txBody>
            <a:bodyPr anchor="ctr" rtlCol="false" tIns="50800" lIns="50800" bIns="50800" rIns="50800"/>
            <a:lstStyle/>
            <a:p>
              <a:pPr algn="ctr">
                <a:lnSpc>
                  <a:spcPts val="2871"/>
                </a:lnSpc>
              </a:pPr>
            </a:p>
          </p:txBody>
        </p:sp>
      </p:grpSp>
      <p:grpSp>
        <p:nvGrpSpPr>
          <p:cNvPr name="Group 9" id="9"/>
          <p:cNvGrpSpPr/>
          <p:nvPr/>
        </p:nvGrpSpPr>
        <p:grpSpPr>
          <a:xfrm rot="0">
            <a:off x="-395952" y="2577760"/>
            <a:ext cx="7361429" cy="5623288"/>
            <a:chOff x="0" y="0"/>
            <a:chExt cx="1140478" cy="871194"/>
          </a:xfrm>
        </p:grpSpPr>
        <p:sp>
          <p:nvSpPr>
            <p:cNvPr name="Freeform 10" id="10"/>
            <p:cNvSpPr/>
            <p:nvPr/>
          </p:nvSpPr>
          <p:spPr>
            <a:xfrm flipH="false" flipV="false" rot="0">
              <a:off x="0" y="0"/>
              <a:ext cx="1140478" cy="871194"/>
            </a:xfrm>
            <a:custGeom>
              <a:avLst/>
              <a:gdLst/>
              <a:ahLst/>
              <a:cxnLst/>
              <a:rect r="r" b="b" t="t" l="l"/>
              <a:pathLst>
                <a:path h="871194" w="1140478">
                  <a:moveTo>
                    <a:pt x="0" y="0"/>
                  </a:moveTo>
                  <a:lnTo>
                    <a:pt x="1140478" y="0"/>
                  </a:lnTo>
                  <a:lnTo>
                    <a:pt x="1140478" y="871194"/>
                  </a:lnTo>
                  <a:lnTo>
                    <a:pt x="0" y="871194"/>
                  </a:lnTo>
                  <a:close/>
                </a:path>
              </a:pathLst>
            </a:custGeom>
            <a:blipFill>
              <a:blip r:embed="rId2"/>
              <a:stretch>
                <a:fillRect l="-17900" t="0" r="-17900" b="0"/>
              </a:stretch>
            </a:blipFill>
          </p:spPr>
        </p:sp>
      </p:grpSp>
      <p:sp>
        <p:nvSpPr>
          <p:cNvPr name="AutoShape 11" id="11"/>
          <p:cNvSpPr/>
          <p:nvPr/>
        </p:nvSpPr>
        <p:spPr>
          <a:xfrm>
            <a:off x="1028683" y="9272587"/>
            <a:ext cx="16230600" cy="19050"/>
          </a:xfrm>
          <a:prstGeom prst="line">
            <a:avLst/>
          </a:prstGeom>
          <a:ln cap="flat" w="19050">
            <a:solidFill>
              <a:srgbClr val="FFFFFF"/>
            </a:solidFill>
            <a:prstDash val="solid"/>
            <a:headEnd type="none" len="sm" w="sm"/>
            <a:tailEnd type="none" len="sm" w="sm"/>
          </a:ln>
        </p:spPr>
      </p:sp>
      <p:sp>
        <p:nvSpPr>
          <p:cNvPr name="TextBox 12" id="12"/>
          <p:cNvSpPr txBox="true"/>
          <p:nvPr/>
        </p:nvSpPr>
        <p:spPr>
          <a:xfrm rot="0">
            <a:off x="8966577" y="3162734"/>
            <a:ext cx="7351678" cy="2101077"/>
          </a:xfrm>
          <a:prstGeom prst="rect">
            <a:avLst/>
          </a:prstGeom>
        </p:spPr>
        <p:txBody>
          <a:bodyPr anchor="t" rtlCol="false" tIns="0" lIns="0" bIns="0" rIns="0">
            <a:spAutoFit/>
          </a:bodyPr>
          <a:lstStyle/>
          <a:p>
            <a:pPr algn="just">
              <a:lnSpc>
                <a:spcPts val="8014"/>
              </a:lnSpc>
            </a:pPr>
            <a:r>
              <a:rPr lang="en-US" sz="8617">
                <a:solidFill>
                  <a:srgbClr val="00FFFF"/>
                </a:solidFill>
                <a:latin typeface="Zen Dots"/>
                <a:ea typeface="Zen Dots"/>
                <a:cs typeface="Zen Dots"/>
                <a:sym typeface="Zen Dots"/>
              </a:rPr>
              <a:t>DATABASE DESIGN</a:t>
            </a:r>
          </a:p>
        </p:txBody>
      </p:sp>
      <p:sp>
        <p:nvSpPr>
          <p:cNvPr name="Freeform 13" id="13"/>
          <p:cNvSpPr/>
          <p:nvPr/>
        </p:nvSpPr>
        <p:spPr>
          <a:xfrm flipH="false" flipV="false" rot="-3185288">
            <a:off x="15595742" y="262509"/>
            <a:ext cx="4630504" cy="4630504"/>
          </a:xfrm>
          <a:custGeom>
            <a:avLst/>
            <a:gdLst/>
            <a:ahLst/>
            <a:cxnLst/>
            <a:rect r="r" b="b" t="t" l="l"/>
            <a:pathLst>
              <a:path h="4630504" w="4630504">
                <a:moveTo>
                  <a:pt x="0" y="0"/>
                </a:moveTo>
                <a:lnTo>
                  <a:pt x="4630504" y="0"/>
                </a:lnTo>
                <a:lnTo>
                  <a:pt x="4630504" y="4630503"/>
                </a:lnTo>
                <a:lnTo>
                  <a:pt x="0" y="4630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15" id="15"/>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16" id="16"/>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17" id="17"/>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8" id="18"/>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19" id="19"/>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TextBox 20" id="20"/>
          <p:cNvSpPr txBox="true"/>
          <p:nvPr/>
        </p:nvSpPr>
        <p:spPr>
          <a:xfrm rot="0">
            <a:off x="8966577" y="5577787"/>
            <a:ext cx="6851101" cy="1765554"/>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PostgreSQL separates master machine data, historical production reports, feeder details, nozzle details, and the latest machine counter state. This structure supports efficient reporting while preserving the raw state required for accurate delta calculation after Node-RED restarts.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4" id="4"/>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8182712">
            <a:off x="-1710092" y="156469"/>
            <a:ext cx="10210559" cy="9690748"/>
          </a:xfrm>
          <a:custGeom>
            <a:avLst/>
            <a:gdLst/>
            <a:ahLst/>
            <a:cxnLst/>
            <a:rect r="r" b="b" t="t" l="l"/>
            <a:pathLst>
              <a:path h="9690748" w="10210559">
                <a:moveTo>
                  <a:pt x="0" y="0"/>
                </a:moveTo>
                <a:lnTo>
                  <a:pt x="10210558" y="0"/>
                </a:lnTo>
                <a:lnTo>
                  <a:pt x="10210558" y="9690749"/>
                </a:lnTo>
                <a:lnTo>
                  <a:pt x="0" y="9690749"/>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028683" y="9272587"/>
            <a:ext cx="16230600" cy="19050"/>
          </a:xfrm>
          <a:prstGeom prst="line">
            <a:avLst/>
          </a:prstGeom>
          <a:ln cap="flat" w="19050">
            <a:solidFill>
              <a:srgbClr val="FFFFFF"/>
            </a:solidFill>
            <a:prstDash val="solid"/>
            <a:headEnd type="none" len="sm" w="sm"/>
            <a:tailEnd type="none" len="sm" w="sm"/>
          </a:ln>
        </p:spPr>
      </p:sp>
      <p:grpSp>
        <p:nvGrpSpPr>
          <p:cNvPr name="Group 7" id="7"/>
          <p:cNvGrpSpPr/>
          <p:nvPr/>
        </p:nvGrpSpPr>
        <p:grpSpPr>
          <a:xfrm rot="0">
            <a:off x="10194623" y="3045555"/>
            <a:ext cx="2985565" cy="4924127"/>
            <a:chOff x="0" y="0"/>
            <a:chExt cx="786322" cy="1296889"/>
          </a:xfrm>
        </p:grpSpPr>
        <p:sp>
          <p:nvSpPr>
            <p:cNvPr name="Freeform 8" id="8"/>
            <p:cNvSpPr/>
            <p:nvPr/>
          </p:nvSpPr>
          <p:spPr>
            <a:xfrm flipH="false" flipV="false" rot="0">
              <a:off x="0" y="0"/>
              <a:ext cx="786322" cy="1296889"/>
            </a:xfrm>
            <a:custGeom>
              <a:avLst/>
              <a:gdLst/>
              <a:ahLst/>
              <a:cxnLst/>
              <a:rect r="r" b="b" t="t" l="l"/>
              <a:pathLst>
                <a:path h="1296889" w="786322">
                  <a:moveTo>
                    <a:pt x="0" y="0"/>
                  </a:moveTo>
                  <a:lnTo>
                    <a:pt x="786322" y="0"/>
                  </a:lnTo>
                  <a:lnTo>
                    <a:pt x="786322" y="1296889"/>
                  </a:lnTo>
                  <a:lnTo>
                    <a:pt x="0" y="1296889"/>
                  </a:lnTo>
                  <a:close/>
                </a:path>
              </a:pathLst>
            </a:custGeom>
            <a:gradFill rotWithShape="true">
              <a:gsLst>
                <a:gs pos="0">
                  <a:srgbClr val="00E8FF">
                    <a:alpha val="100000"/>
                  </a:srgbClr>
                </a:gs>
                <a:gs pos="100000">
                  <a:srgbClr val="0076E4">
                    <a:alpha val="100000"/>
                  </a:srgbClr>
                </a:gs>
              </a:gsLst>
              <a:lin ang="5400000"/>
            </a:gradFill>
          </p:spPr>
        </p:sp>
        <p:sp>
          <p:nvSpPr>
            <p:cNvPr name="TextBox 9" id="9"/>
            <p:cNvSpPr txBox="true"/>
            <p:nvPr/>
          </p:nvSpPr>
          <p:spPr>
            <a:xfrm>
              <a:off x="0" y="-57150"/>
              <a:ext cx="786322" cy="1354039"/>
            </a:xfrm>
            <a:prstGeom prst="rect">
              <a:avLst/>
            </a:prstGeom>
          </p:spPr>
          <p:txBody>
            <a:bodyPr anchor="ctr" rtlCol="false" tIns="50800" lIns="50800" bIns="50800" rIns="50800"/>
            <a:lstStyle/>
            <a:p>
              <a:pPr algn="ctr">
                <a:lnSpc>
                  <a:spcPts val="2871"/>
                </a:lnSpc>
              </a:pPr>
            </a:p>
          </p:txBody>
        </p:sp>
      </p:grpSp>
      <p:grpSp>
        <p:nvGrpSpPr>
          <p:cNvPr name="Group 10" id="10"/>
          <p:cNvGrpSpPr/>
          <p:nvPr/>
        </p:nvGrpSpPr>
        <p:grpSpPr>
          <a:xfrm rot="0">
            <a:off x="10519472" y="2527793"/>
            <a:ext cx="4366808" cy="5441889"/>
            <a:chOff x="0" y="0"/>
            <a:chExt cx="676533" cy="843091"/>
          </a:xfrm>
        </p:grpSpPr>
        <p:sp>
          <p:nvSpPr>
            <p:cNvPr name="Freeform 11" id="11"/>
            <p:cNvSpPr/>
            <p:nvPr/>
          </p:nvSpPr>
          <p:spPr>
            <a:xfrm flipH="false" flipV="false" rot="0">
              <a:off x="0" y="0"/>
              <a:ext cx="676533" cy="843091"/>
            </a:xfrm>
            <a:custGeom>
              <a:avLst/>
              <a:gdLst/>
              <a:ahLst/>
              <a:cxnLst/>
              <a:rect r="r" b="b" t="t" l="l"/>
              <a:pathLst>
                <a:path h="843091" w="676533">
                  <a:moveTo>
                    <a:pt x="0" y="0"/>
                  </a:moveTo>
                  <a:lnTo>
                    <a:pt x="676533" y="0"/>
                  </a:lnTo>
                  <a:lnTo>
                    <a:pt x="676533" y="843091"/>
                  </a:lnTo>
                  <a:lnTo>
                    <a:pt x="0" y="843091"/>
                  </a:lnTo>
                  <a:close/>
                </a:path>
              </a:pathLst>
            </a:custGeom>
            <a:blipFill>
              <a:blip r:embed="rId4"/>
              <a:stretch>
                <a:fillRect l="-42999" t="0" r="-42999" b="0"/>
              </a:stretch>
            </a:blipFill>
          </p:spPr>
        </p:sp>
      </p:grpSp>
      <p:grpSp>
        <p:nvGrpSpPr>
          <p:cNvPr name="Group 12" id="12"/>
          <p:cNvGrpSpPr/>
          <p:nvPr/>
        </p:nvGrpSpPr>
        <p:grpSpPr>
          <a:xfrm rot="0">
            <a:off x="15219119" y="2527793"/>
            <a:ext cx="4366808" cy="5343557"/>
            <a:chOff x="0" y="0"/>
            <a:chExt cx="676533" cy="827857"/>
          </a:xfrm>
        </p:grpSpPr>
        <p:sp>
          <p:nvSpPr>
            <p:cNvPr name="Freeform 13" id="13"/>
            <p:cNvSpPr/>
            <p:nvPr/>
          </p:nvSpPr>
          <p:spPr>
            <a:xfrm flipH="false" flipV="false" rot="0">
              <a:off x="0" y="0"/>
              <a:ext cx="676533" cy="827857"/>
            </a:xfrm>
            <a:custGeom>
              <a:avLst/>
              <a:gdLst/>
              <a:ahLst/>
              <a:cxnLst/>
              <a:rect r="r" b="b" t="t" l="l"/>
              <a:pathLst>
                <a:path h="827857" w="676533">
                  <a:moveTo>
                    <a:pt x="0" y="0"/>
                  </a:moveTo>
                  <a:lnTo>
                    <a:pt x="676533" y="0"/>
                  </a:lnTo>
                  <a:lnTo>
                    <a:pt x="676533" y="827857"/>
                  </a:lnTo>
                  <a:lnTo>
                    <a:pt x="0" y="827857"/>
                  </a:lnTo>
                  <a:close/>
                </a:path>
              </a:pathLst>
            </a:custGeom>
            <a:blipFill>
              <a:blip r:embed="rId5"/>
              <a:stretch>
                <a:fillRect l="-58771" t="0" r="-58771" b="0"/>
              </a:stretch>
            </a:blipFill>
          </p:spPr>
        </p:sp>
      </p:grpSp>
      <p:sp>
        <p:nvSpPr>
          <p:cNvPr name="Freeform 14" id="14"/>
          <p:cNvSpPr/>
          <p:nvPr/>
        </p:nvSpPr>
        <p:spPr>
          <a:xfrm flipH="false" flipV="false" rot="-10800000">
            <a:off x="-2600533" y="2084602"/>
            <a:ext cx="4001809" cy="4001809"/>
          </a:xfrm>
          <a:custGeom>
            <a:avLst/>
            <a:gdLst/>
            <a:ahLst/>
            <a:cxnLst/>
            <a:rect r="r" b="b" t="t" l="l"/>
            <a:pathLst>
              <a:path h="4001809" w="4001809">
                <a:moveTo>
                  <a:pt x="0" y="0"/>
                </a:moveTo>
                <a:lnTo>
                  <a:pt x="4001810" y="0"/>
                </a:lnTo>
                <a:lnTo>
                  <a:pt x="4001810" y="4001809"/>
                </a:lnTo>
                <a:lnTo>
                  <a:pt x="0" y="4001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16" id="16"/>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17" id="17"/>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18" id="18"/>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9" id="19"/>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07</a:t>
            </a:r>
          </a:p>
        </p:txBody>
      </p:sp>
      <p:sp>
        <p:nvSpPr>
          <p:cNvPr name="TextBox 20" id="20"/>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21" id="21"/>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TextBox 22" id="22"/>
          <p:cNvSpPr txBox="true"/>
          <p:nvPr/>
        </p:nvSpPr>
        <p:spPr>
          <a:xfrm rot="0">
            <a:off x="1563202" y="3264759"/>
            <a:ext cx="7299277" cy="1311162"/>
          </a:xfrm>
          <a:prstGeom prst="rect">
            <a:avLst/>
          </a:prstGeom>
        </p:spPr>
        <p:txBody>
          <a:bodyPr anchor="t" rtlCol="false" tIns="0" lIns="0" bIns="0" rIns="0">
            <a:spAutoFit/>
          </a:bodyPr>
          <a:lstStyle/>
          <a:p>
            <a:pPr algn="just">
              <a:lnSpc>
                <a:spcPts val="4989"/>
              </a:lnSpc>
            </a:pPr>
            <a:r>
              <a:rPr lang="en-US" sz="5365">
                <a:solidFill>
                  <a:srgbClr val="00FFFF"/>
                </a:solidFill>
                <a:latin typeface="Zen Dots"/>
                <a:ea typeface="Zen Dots"/>
                <a:cs typeface="Zen Dots"/>
                <a:sym typeface="Zen Dots"/>
              </a:rPr>
              <a:t>REPORTING AND DRILL-DOWN</a:t>
            </a:r>
          </a:p>
        </p:txBody>
      </p:sp>
      <p:sp>
        <p:nvSpPr>
          <p:cNvPr name="TextBox 23" id="23"/>
          <p:cNvSpPr txBox="true"/>
          <p:nvPr/>
        </p:nvSpPr>
        <p:spPr>
          <a:xfrm rot="0">
            <a:off x="1563202" y="4963743"/>
            <a:ext cx="6637171" cy="1765554"/>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Management starts with the Overall Dashboard, then drills into Board Count, Production, Pick-Placement by Part, Feeder, Nozzle, Cycle Time, Downtime, and Total Pickup Placement reports. Each report supports filtering, pagination, adjustable columns, and Excel export.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070">
                <a:alpha val="100000"/>
              </a:srgbClr>
            </a:gs>
            <a:gs pos="100000">
              <a:srgbClr val="00064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1028683" y="9272587"/>
            <a:ext cx="16230600" cy="19050"/>
          </a:xfrm>
          <a:prstGeom prst="line">
            <a:avLst/>
          </a:prstGeom>
          <a:ln cap="flat" w="19050">
            <a:solidFill>
              <a:srgbClr val="FFFFFF"/>
            </a:solidFill>
            <a:prstDash val="solid"/>
            <a:headEnd type="none" len="sm" w="sm"/>
            <a:tailEnd type="none" len="sm" w="sm"/>
          </a:ln>
        </p:spPr>
      </p:sp>
      <p:grpSp>
        <p:nvGrpSpPr>
          <p:cNvPr name="Group 3" id="3"/>
          <p:cNvGrpSpPr/>
          <p:nvPr/>
        </p:nvGrpSpPr>
        <p:grpSpPr>
          <a:xfrm rot="0">
            <a:off x="15513352" y="667880"/>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5" id="5"/>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05129" y="2632943"/>
            <a:ext cx="6638939" cy="5262868"/>
          </a:xfrm>
          <a:custGeom>
            <a:avLst/>
            <a:gdLst/>
            <a:ahLst/>
            <a:cxnLst/>
            <a:rect r="r" b="b" t="t" l="l"/>
            <a:pathLst>
              <a:path h="5262868" w="6638939">
                <a:moveTo>
                  <a:pt x="0" y="0"/>
                </a:moveTo>
                <a:lnTo>
                  <a:pt x="6638939" y="0"/>
                </a:lnTo>
                <a:lnTo>
                  <a:pt x="6638939" y="5262868"/>
                </a:lnTo>
                <a:lnTo>
                  <a:pt x="0" y="5262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8" id="8"/>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9" id="9"/>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10" id="10"/>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1" id="11"/>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09</a:t>
            </a:r>
          </a:p>
        </p:txBody>
      </p:sp>
      <p:sp>
        <p:nvSpPr>
          <p:cNvPr name="TextBox 12" id="12"/>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13" id="13"/>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TextBox 14" id="14"/>
          <p:cNvSpPr txBox="true"/>
          <p:nvPr/>
        </p:nvSpPr>
        <p:spPr>
          <a:xfrm rot="0">
            <a:off x="9144000" y="3477906"/>
            <a:ext cx="7329067" cy="1311162"/>
          </a:xfrm>
          <a:prstGeom prst="rect">
            <a:avLst/>
          </a:prstGeom>
        </p:spPr>
        <p:txBody>
          <a:bodyPr anchor="t" rtlCol="false" tIns="0" lIns="0" bIns="0" rIns="0">
            <a:spAutoFit/>
          </a:bodyPr>
          <a:lstStyle/>
          <a:p>
            <a:pPr algn="just">
              <a:lnSpc>
                <a:spcPts val="4989"/>
              </a:lnSpc>
            </a:pPr>
            <a:r>
              <a:rPr lang="en-US" sz="5365">
                <a:solidFill>
                  <a:srgbClr val="00FFFF"/>
                </a:solidFill>
                <a:latin typeface="Zen Dots"/>
                <a:ea typeface="Zen Dots"/>
                <a:cs typeface="Zen Dots"/>
                <a:sym typeface="Zen Dots"/>
              </a:rPr>
              <a:t>TECHNICAL ARCHITECTURE</a:t>
            </a:r>
          </a:p>
        </p:txBody>
      </p:sp>
      <p:sp>
        <p:nvSpPr>
          <p:cNvPr name="TextBox 15" id="15"/>
          <p:cNvSpPr txBox="true"/>
          <p:nvPr/>
        </p:nvSpPr>
        <p:spPr>
          <a:xfrm rot="0">
            <a:off x="9144000" y="5176890"/>
            <a:ext cx="6637171" cy="1765554"/>
          </a:xfrm>
          <a:prstGeom prst="rect">
            <a:avLst/>
          </a:prstGeom>
        </p:spPr>
        <p:txBody>
          <a:bodyPr anchor="t" rtlCol="false" tIns="0" lIns="0" bIns="0" rIns="0">
            <a:spAutoFit/>
          </a:bodyPr>
          <a:lstStyle/>
          <a:p>
            <a:pPr algn="just">
              <a:lnSpc>
                <a:spcPts val="2793"/>
              </a:lnSpc>
            </a:pPr>
            <a:r>
              <a:rPr lang="en-US" sz="2100" spc="-58">
                <a:solidFill>
                  <a:srgbClr val="FFFFFF"/>
                </a:solidFill>
                <a:latin typeface="Poppins"/>
                <a:ea typeface="Poppins"/>
                <a:cs typeface="Poppins"/>
                <a:sym typeface="Poppins"/>
              </a:rPr>
              <a:t>The reporting application uses ASP.NET Core MVC on .NET 9 with C#, Entity Framework Core, Npgsql, PostgreSQL, Razor Views, Bootstrap, JavaScript, Chart.js, and Lucide icons. Backend and frontend components run in Docker containers.</a:t>
            </a:r>
          </a:p>
        </p:txBody>
      </p:sp>
      <p:sp>
        <p:nvSpPr>
          <p:cNvPr name="Freeform 16" id="16"/>
          <p:cNvSpPr/>
          <p:nvPr/>
        </p:nvSpPr>
        <p:spPr>
          <a:xfrm flipH="false" flipV="false" rot="0">
            <a:off x="-3306817" y="1295381"/>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7432782" y="4544162"/>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20070">
                    <a:alpha val="24000"/>
                  </a:srgbClr>
                </a:gs>
                <a:gs pos="100000">
                  <a:srgbClr val="000640">
                    <a:alpha val="24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grpSp>
        <p:nvGrpSpPr>
          <p:cNvPr name="Group 6" id="6"/>
          <p:cNvGrpSpPr/>
          <p:nvPr/>
        </p:nvGrpSpPr>
        <p:grpSpPr>
          <a:xfrm rot="0">
            <a:off x="15513352" y="667880"/>
            <a:ext cx="1919429" cy="566532"/>
            <a:chOff x="0" y="0"/>
            <a:chExt cx="505529" cy="149210"/>
          </a:xfrm>
        </p:grpSpPr>
        <p:sp>
          <p:nvSpPr>
            <p:cNvPr name="Freeform 7" id="7"/>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sp>
        <p:sp>
          <p:nvSpPr>
            <p:cNvPr name="TextBox 8" id="8"/>
            <p:cNvSpPr txBox="true"/>
            <p:nvPr/>
          </p:nvSpPr>
          <p:spPr>
            <a:xfrm>
              <a:off x="0" y="-57150"/>
              <a:ext cx="505529" cy="206360"/>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683" y="8732575"/>
            <a:ext cx="16230600" cy="19050"/>
          </a:xfrm>
          <a:prstGeom prst="line">
            <a:avLst/>
          </a:prstGeom>
          <a:ln cap="flat" w="19050">
            <a:solidFill>
              <a:srgbClr val="FFFFFF"/>
            </a:solidFill>
            <a:prstDash val="solid"/>
            <a:headEnd type="none" len="sm" w="sm"/>
            <a:tailEnd type="none" len="sm" w="sm"/>
          </a:ln>
        </p:spPr>
      </p:sp>
      <p:sp>
        <p:nvSpPr>
          <p:cNvPr name="TextBox 10" id="10"/>
          <p:cNvSpPr txBox="true"/>
          <p:nvPr/>
        </p:nvSpPr>
        <p:spPr>
          <a:xfrm rot="0">
            <a:off x="4624599" y="731452"/>
            <a:ext cx="1662550"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MPO</a:t>
            </a:r>
          </a:p>
        </p:txBody>
      </p:sp>
      <p:sp>
        <p:nvSpPr>
          <p:cNvPr name="TextBox 11" id="11"/>
          <p:cNvSpPr txBox="true"/>
          <p:nvPr/>
        </p:nvSpPr>
        <p:spPr>
          <a:xfrm rot="0">
            <a:off x="6888721" y="733665"/>
            <a:ext cx="1907082"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Pipeline</a:t>
            </a:r>
          </a:p>
        </p:txBody>
      </p:sp>
      <p:sp>
        <p:nvSpPr>
          <p:cNvPr name="TextBox 12" id="12"/>
          <p:cNvSpPr txBox="true"/>
          <p:nvPr/>
        </p:nvSpPr>
        <p:spPr>
          <a:xfrm rot="0">
            <a:off x="9596344" y="733665"/>
            <a:ext cx="1589190" cy="36699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FFFFFF"/>
                </a:solidFill>
                <a:latin typeface="Poppins Bold"/>
                <a:ea typeface="Poppins Bold"/>
                <a:cs typeface="Poppins Bold"/>
                <a:sym typeface="Poppins Bold"/>
              </a:rPr>
              <a:t>Reports</a:t>
            </a:r>
          </a:p>
        </p:txBody>
      </p:sp>
      <p:sp>
        <p:nvSpPr>
          <p:cNvPr name="TextBox 13" id="13"/>
          <p:cNvSpPr txBox="true"/>
          <p:nvPr/>
        </p:nvSpPr>
        <p:spPr>
          <a:xfrm rot="0">
            <a:off x="11529929" y="731452"/>
            <a:ext cx="2224975" cy="366996"/>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Poppins"/>
                <a:ea typeface="Poppins"/>
                <a:cs typeface="Poppins"/>
                <a:sym typeface="Poppins"/>
              </a:rPr>
              <a:t>Architecture</a:t>
            </a:r>
          </a:p>
        </p:txBody>
      </p:sp>
      <p:sp>
        <p:nvSpPr>
          <p:cNvPr name="TextBox 14" id="14"/>
          <p:cNvSpPr txBox="true"/>
          <p:nvPr/>
        </p:nvSpPr>
        <p:spPr>
          <a:xfrm rot="0">
            <a:off x="15762422" y="735562"/>
            <a:ext cx="1421291" cy="358775"/>
          </a:xfrm>
          <a:prstGeom prst="rect">
            <a:avLst/>
          </a:prstGeom>
        </p:spPr>
        <p:txBody>
          <a:bodyPr anchor="t" rtlCol="false" tIns="0" lIns="0" bIns="0" rIns="0">
            <a:spAutoFit/>
          </a:bodyPr>
          <a:lstStyle/>
          <a:p>
            <a:pPr algn="ctr">
              <a:lnSpc>
                <a:spcPts val="2799"/>
              </a:lnSpc>
              <a:spcBef>
                <a:spcPct val="0"/>
              </a:spcBef>
            </a:pPr>
            <a:r>
              <a:rPr lang="en-US" b="true" sz="1999" spc="3">
                <a:solidFill>
                  <a:srgbClr val="020F8D"/>
                </a:solidFill>
                <a:latin typeface="Poppins Bold"/>
                <a:ea typeface="Poppins Bold"/>
                <a:cs typeface="Poppins Bold"/>
                <a:sym typeface="Poppins Bold"/>
              </a:rPr>
              <a:t>Slide 10</a:t>
            </a:r>
          </a:p>
        </p:txBody>
      </p:sp>
      <p:sp>
        <p:nvSpPr>
          <p:cNvPr name="TextBox 15" id="15"/>
          <p:cNvSpPr txBox="true"/>
          <p:nvPr/>
        </p:nvSpPr>
        <p:spPr>
          <a:xfrm rot="0">
            <a:off x="855218" y="552992"/>
            <a:ext cx="1761862" cy="39164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Poppins Heavy"/>
                <a:ea typeface="Poppins Heavy"/>
                <a:cs typeface="Poppins Heavy"/>
                <a:sym typeface="Poppins Heavy"/>
              </a:rPr>
              <a:t>MPO</a:t>
            </a:r>
          </a:p>
        </p:txBody>
      </p:sp>
      <p:sp>
        <p:nvSpPr>
          <p:cNvPr name="TextBox 16" id="16"/>
          <p:cNvSpPr txBox="true"/>
          <p:nvPr/>
        </p:nvSpPr>
        <p:spPr>
          <a:xfrm rot="0">
            <a:off x="855218" y="874053"/>
            <a:ext cx="1761862" cy="39164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Poppins"/>
                <a:ea typeface="Poppins"/>
                <a:cs typeface="Poppins"/>
                <a:sym typeface="Poppins"/>
              </a:rPr>
              <a:t>Project</a:t>
            </a:r>
          </a:p>
        </p:txBody>
      </p:sp>
      <p:sp>
        <p:nvSpPr>
          <p:cNvPr name="TextBox 17" id="17"/>
          <p:cNvSpPr txBox="true"/>
          <p:nvPr/>
        </p:nvSpPr>
        <p:spPr>
          <a:xfrm rot="0">
            <a:off x="2104405" y="3203404"/>
            <a:ext cx="14079189" cy="2018692"/>
          </a:xfrm>
          <a:prstGeom prst="rect">
            <a:avLst/>
          </a:prstGeom>
        </p:spPr>
        <p:txBody>
          <a:bodyPr anchor="t" rtlCol="false" tIns="0" lIns="0" bIns="0" rIns="0">
            <a:spAutoFit/>
          </a:bodyPr>
          <a:lstStyle/>
          <a:p>
            <a:pPr algn="ctr">
              <a:lnSpc>
                <a:spcPts val="7665"/>
              </a:lnSpc>
            </a:pPr>
            <a:r>
              <a:rPr lang="en-US" sz="8242">
                <a:solidFill>
                  <a:srgbClr val="00FFFF"/>
                </a:solidFill>
                <a:latin typeface="Zen Dots"/>
                <a:ea typeface="Zen Dots"/>
                <a:cs typeface="Zen Dots"/>
                <a:sym typeface="Zen Dots"/>
              </a:rPr>
              <a:t>MPO FOR MANAGEMENT</a:t>
            </a:r>
          </a:p>
        </p:txBody>
      </p:sp>
      <p:sp>
        <p:nvSpPr>
          <p:cNvPr name="TextBox 18" id="18"/>
          <p:cNvSpPr txBox="true"/>
          <p:nvPr/>
        </p:nvSpPr>
        <p:spPr>
          <a:xfrm rot="0">
            <a:off x="4753655" y="5545946"/>
            <a:ext cx="8780690" cy="1413129"/>
          </a:xfrm>
          <a:prstGeom prst="rect">
            <a:avLst/>
          </a:prstGeom>
        </p:spPr>
        <p:txBody>
          <a:bodyPr anchor="t" rtlCol="false" tIns="0" lIns="0" bIns="0" rIns="0">
            <a:spAutoFit/>
          </a:bodyPr>
          <a:lstStyle/>
          <a:p>
            <a:pPr algn="ctr">
              <a:lnSpc>
                <a:spcPts val="2793"/>
              </a:lnSpc>
            </a:pPr>
            <a:r>
              <a:rPr lang="en-US" sz="2100" spc="-58">
                <a:solidFill>
                  <a:srgbClr val="FFFFFF"/>
                </a:solidFill>
                <a:latin typeface="Poppins"/>
                <a:ea typeface="Poppins"/>
                <a:cs typeface="Poppins"/>
                <a:sym typeface="Poppins"/>
              </a:rPr>
              <a:t>MPO provides a single route from machine data to operational insight. During a live review, select the time period, review output and risks on the dashboard, drill into downtime or equipment detail, and export the exact filtered evidence for follow-up.</a:t>
            </a:r>
          </a:p>
        </p:txBody>
      </p:sp>
      <p:sp>
        <p:nvSpPr>
          <p:cNvPr name="TextBox 19" id="19"/>
          <p:cNvSpPr txBox="true"/>
          <p:nvPr/>
        </p:nvSpPr>
        <p:spPr>
          <a:xfrm rot="0">
            <a:off x="1060873" y="9046346"/>
            <a:ext cx="4747340" cy="451551"/>
          </a:xfrm>
          <a:prstGeom prst="rect">
            <a:avLst/>
          </a:prstGeom>
        </p:spPr>
        <p:txBody>
          <a:bodyPr anchor="t" rtlCol="false" tIns="0" lIns="0" bIns="0" rIns="0">
            <a:spAutoFit/>
          </a:bodyPr>
          <a:lstStyle/>
          <a:p>
            <a:pPr algn="l">
              <a:lnSpc>
                <a:spcPts val="3461"/>
              </a:lnSpc>
            </a:pPr>
            <a:r>
              <a:rPr lang="en-US" sz="2472">
                <a:solidFill>
                  <a:srgbClr val="FFFFFF"/>
                </a:solidFill>
                <a:latin typeface="Poppins"/>
                <a:ea typeface="Poppins"/>
                <a:cs typeface="Poppins"/>
                <a:sym typeface="Poppins"/>
              </a:rPr>
              <a:t>Manufacturing Performance Overview</a:t>
            </a:r>
          </a:p>
        </p:txBody>
      </p:sp>
      <p:sp>
        <p:nvSpPr>
          <p:cNvPr name="TextBox 20" id="20"/>
          <p:cNvSpPr txBox="true"/>
          <p:nvPr/>
        </p:nvSpPr>
        <p:spPr>
          <a:xfrm rot="0">
            <a:off x="12544133" y="9046346"/>
            <a:ext cx="4747340" cy="451551"/>
          </a:xfrm>
          <a:prstGeom prst="rect">
            <a:avLst/>
          </a:prstGeom>
        </p:spPr>
        <p:txBody>
          <a:bodyPr anchor="t" rtlCol="false" tIns="0" lIns="0" bIns="0" rIns="0">
            <a:spAutoFit/>
          </a:bodyPr>
          <a:lstStyle/>
          <a:p>
            <a:pPr algn="r">
              <a:lnSpc>
                <a:spcPts val="3461"/>
              </a:lnSpc>
            </a:pPr>
            <a:r>
              <a:rPr lang="en-US" sz="2472">
                <a:solidFill>
                  <a:srgbClr val="FFFFFF"/>
                </a:solidFill>
                <a:latin typeface="Poppins"/>
                <a:ea typeface="Poppins"/>
                <a:cs typeface="Poppins"/>
                <a:sym typeface="Poppins"/>
              </a:rPr>
              <a:t>LNB -&gt; SFTP -&gt; Node-RED -&gt; PostgreSQL -&gt; Docker Web Portal</a:t>
            </a:r>
          </a:p>
        </p:txBody>
      </p:sp>
      <p:sp>
        <p:nvSpPr>
          <p:cNvPr name="TextBox 21" id="21"/>
          <p:cNvSpPr txBox="true"/>
          <p:nvPr/>
        </p:nvSpPr>
        <p:spPr>
          <a:xfrm rot="0">
            <a:off x="8528202" y="9061735"/>
            <a:ext cx="1274721"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DAHSmfwPc7k</dc:identifier>
  <dcterms:modified xsi:type="dcterms:W3CDTF">2011-08-01T06:04:30Z</dcterms:modified>
  <cp:revision>1</cp:revision>
  <dc:title>Blue Modern Data Analysis Presentation</dc:title>
</cp:coreProperties>
</file>