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3" r:id="rId6"/>
    <p:sldId id="267" r:id="rId7"/>
    <p:sldId id="273" r:id="rId8"/>
    <p:sldId id="274" r:id="rId9"/>
    <p:sldId id="275" r:id="rId10"/>
    <p:sldId id="276" r:id="rId11"/>
    <p:sldId id="277" r:id="rId12"/>
    <p:sldId id="278" r:id="rId13"/>
    <p:sldId id="284" r:id="rId1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8A905-70E2-4A0C-B349-B7096566C448}"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46738-2443-4093-9CCF-CC14B157ED04}" type="slidenum">
              <a:rPr lang="en-US" smtClean="0"/>
              <a:t>‹#›</a:t>
            </a:fld>
            <a:endParaRPr lang="en-US"/>
          </a:p>
        </p:txBody>
      </p:sp>
    </p:spTree>
    <p:extLst>
      <p:ext uri="{BB962C8B-B14F-4D97-AF65-F5344CB8AC3E}">
        <p14:creationId xmlns:p14="http://schemas.microsoft.com/office/powerpoint/2010/main" val="42795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MPO is a web-based manufacturing performance reporting system that turns raw LNB machine data into dashboards and reports for daily operations.</a:t>
            </a:r>
          </a:p>
        </p:txBody>
      </p:sp>
      <p:sp>
        <p:nvSpPr>
          <p:cNvPr id="4" name="Slide Number Placeholder 3"/>
          <p:cNvSpPr>
            <a:spLocks noGrp="1"/>
          </p:cNvSpPr>
          <p:nvPr>
            <p:ph type="sldNum" sz="quarter" idx="5"/>
          </p:nvPr>
        </p:nvSpPr>
        <p:spPr/>
        <p:txBody>
          <a:bodyPr/>
          <a:lstStyle/>
          <a:p>
            <a:fld id="{6EB46738-2443-4093-9CCF-CC14B157ED04}" type="slidenum">
              <a:rPr lang="en-US" smtClean="0"/>
              <a:t>1</a:t>
            </a:fld>
            <a:endParaRPr lang="en-US"/>
          </a:p>
        </p:txBody>
      </p:sp>
    </p:spTree>
    <p:extLst>
      <p:ext uri="{BB962C8B-B14F-4D97-AF65-F5344CB8AC3E}">
        <p14:creationId xmlns:p14="http://schemas.microsoft.com/office/powerpoint/2010/main" val="204221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dashboard highlights areas that need attention; detailed reports provide evidence for investigation.</a:t>
            </a:r>
          </a:p>
        </p:txBody>
      </p:sp>
      <p:sp>
        <p:nvSpPr>
          <p:cNvPr id="4" name="Slide Number Placeholder 3"/>
          <p:cNvSpPr>
            <a:spLocks noGrp="1"/>
          </p:cNvSpPr>
          <p:nvPr>
            <p:ph type="sldNum" sz="quarter" idx="5"/>
          </p:nvPr>
        </p:nvSpPr>
        <p:spPr/>
        <p:txBody>
          <a:bodyPr/>
          <a:lstStyle/>
          <a:p>
            <a:fld id="{6EB46738-2443-4093-9CCF-CC14B157ED04}" type="slidenum">
              <a:rPr lang="en-US" smtClean="0"/>
              <a:t>2</a:t>
            </a:fld>
            <a:endParaRPr lang="en-US"/>
          </a:p>
        </p:txBody>
      </p:sp>
    </p:spTree>
    <p:extLst>
      <p:ext uri="{BB962C8B-B14F-4D97-AF65-F5344CB8AC3E}">
        <p14:creationId xmlns:p14="http://schemas.microsoft.com/office/powerpoint/2010/main" val="5347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3</a:t>
            </a:fld>
            <a:endParaRPr lang="en-US"/>
          </a:p>
        </p:txBody>
      </p:sp>
    </p:spTree>
    <p:extLst>
      <p:ext uri="{BB962C8B-B14F-4D97-AF65-F5344CB8AC3E}">
        <p14:creationId xmlns:p14="http://schemas.microsoft.com/office/powerpoint/2010/main" val="1446655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Overall flow: LNB raw data, SFTP, incoming folder, Node-RED Watch, parsing and delta calculation, PostgreSQL, ASP.NET Core, and the web frontend in Docker.</a:t>
            </a:r>
          </a:p>
        </p:txBody>
      </p:sp>
      <p:sp>
        <p:nvSpPr>
          <p:cNvPr id="4" name="Slide Number Placeholder 3"/>
          <p:cNvSpPr>
            <a:spLocks noGrp="1"/>
          </p:cNvSpPr>
          <p:nvPr>
            <p:ph type="sldNum" sz="quarter" idx="5"/>
          </p:nvPr>
        </p:nvSpPr>
        <p:spPr/>
        <p:txBody>
          <a:bodyPr/>
          <a:lstStyle/>
          <a:p>
            <a:fld id="{6EB46738-2443-4093-9CCF-CC14B157ED04}" type="slidenum">
              <a:rPr lang="en-US" smtClean="0"/>
              <a:t>4</a:t>
            </a:fld>
            <a:endParaRPr lang="en-US"/>
          </a:p>
        </p:txBody>
      </p:sp>
    </p:spTree>
    <p:extLst>
      <p:ext uri="{BB962C8B-B14F-4D97-AF65-F5344CB8AC3E}">
        <p14:creationId xmlns:p14="http://schemas.microsoft.com/office/powerpoint/2010/main" val="2912772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important point in the flow. Machines send cumulative values, while the system needs the actual increment for each period. Delta calculation prevents double counting and handles counter resets.</a:t>
            </a:r>
          </a:p>
        </p:txBody>
      </p:sp>
      <p:sp>
        <p:nvSpPr>
          <p:cNvPr id="4" name="Slide Number Placeholder 3"/>
          <p:cNvSpPr>
            <a:spLocks noGrp="1"/>
          </p:cNvSpPr>
          <p:nvPr>
            <p:ph type="sldNum" sz="quarter" idx="5"/>
          </p:nvPr>
        </p:nvSpPr>
        <p:spPr/>
        <p:txBody>
          <a:bodyPr/>
          <a:lstStyle/>
          <a:p>
            <a:fld id="{6EB46738-2443-4093-9CCF-CC14B157ED04}" type="slidenum">
              <a:rPr lang="en-US" smtClean="0"/>
              <a:t>5</a:t>
            </a:fld>
            <a:endParaRPr lang="en-US"/>
          </a:p>
        </p:txBody>
      </p:sp>
    </p:spTree>
    <p:extLst>
      <p:ext uri="{BB962C8B-B14F-4D97-AF65-F5344CB8AC3E}">
        <p14:creationId xmlns:p14="http://schemas.microsoft.com/office/powerpoint/2010/main" val="216951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database separates master data, report history, feeder/nozzle details, and technical state. Clear relationships support fast reporting while preserving delta recovery after restart.</a:t>
            </a:r>
          </a:p>
        </p:txBody>
      </p:sp>
      <p:sp>
        <p:nvSpPr>
          <p:cNvPr id="4" name="Slide Number Placeholder 3"/>
          <p:cNvSpPr>
            <a:spLocks noGrp="1"/>
          </p:cNvSpPr>
          <p:nvPr>
            <p:ph type="sldNum" sz="quarter" idx="5"/>
          </p:nvPr>
        </p:nvSpPr>
        <p:spPr/>
        <p:txBody>
          <a:bodyPr/>
          <a:lstStyle/>
          <a:p>
            <a:fld id="{6EB46738-2443-4093-9CCF-CC14B157ED04}" type="slidenum">
              <a:rPr lang="en-US" smtClean="0"/>
              <a:t>6</a:t>
            </a:fld>
            <a:endParaRPr lang="en-US"/>
          </a:p>
        </p:txBody>
      </p:sp>
    </p:spTree>
    <p:extLst>
      <p:ext uri="{BB962C8B-B14F-4D97-AF65-F5344CB8AC3E}">
        <p14:creationId xmlns:p14="http://schemas.microsoft.com/office/powerpoint/2010/main" val="2875981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7</a:t>
            </a:fld>
            <a:endParaRPr lang="en-US"/>
          </a:p>
        </p:txBody>
      </p:sp>
    </p:spTree>
    <p:extLst>
      <p:ext uri="{BB962C8B-B14F-4D97-AF65-F5344CB8AC3E}">
        <p14:creationId xmlns:p14="http://schemas.microsoft.com/office/powerpoint/2010/main" val="3405137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8</a:t>
            </a:fld>
            <a:endParaRPr lang="en-US"/>
          </a:p>
        </p:txBody>
      </p:sp>
    </p:spTree>
    <p:extLst>
      <p:ext uri="{BB962C8B-B14F-4D97-AF65-F5344CB8AC3E}">
        <p14:creationId xmlns:p14="http://schemas.microsoft.com/office/powerpoint/2010/main" val="971719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dashboard combines board produced, top worst feeder/nozzle, total pickup/placement, PPM, and error-stop time by line.</a:t>
            </a:r>
          </a:p>
        </p:txBody>
      </p:sp>
      <p:sp>
        <p:nvSpPr>
          <p:cNvPr id="4" name="Slide Number Placeholder 3"/>
          <p:cNvSpPr>
            <a:spLocks noGrp="1"/>
          </p:cNvSpPr>
          <p:nvPr>
            <p:ph type="sldNum" sz="quarter" idx="5"/>
          </p:nvPr>
        </p:nvSpPr>
        <p:spPr/>
        <p:txBody>
          <a:bodyPr/>
          <a:lstStyle/>
          <a:p>
            <a:fld id="{6EB46738-2443-4093-9CCF-CC14B157ED04}" type="slidenum">
              <a:rPr lang="en-US" smtClean="0"/>
              <a:t>9</a:t>
            </a:fld>
            <a:endParaRPr lang="en-US"/>
          </a:p>
        </p:txBody>
      </p:sp>
    </p:spTree>
    <p:extLst>
      <p:ext uri="{BB962C8B-B14F-4D97-AF65-F5344CB8AC3E}">
        <p14:creationId xmlns:p14="http://schemas.microsoft.com/office/powerpoint/2010/main" val="2013841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10</a:t>
            </a:fld>
            <a:endParaRPr lang="en-US"/>
          </a:p>
        </p:txBody>
      </p:sp>
    </p:spTree>
    <p:extLst>
      <p:ext uri="{BB962C8B-B14F-4D97-AF65-F5344CB8AC3E}">
        <p14:creationId xmlns:p14="http://schemas.microsoft.com/office/powerpoint/2010/main" val="1145691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11</a:t>
            </a:fld>
            <a:endParaRPr lang="en-US"/>
          </a:p>
        </p:txBody>
      </p:sp>
    </p:spTree>
    <p:extLst>
      <p:ext uri="{BB962C8B-B14F-4D97-AF65-F5344CB8AC3E}">
        <p14:creationId xmlns:p14="http://schemas.microsoft.com/office/powerpoint/2010/main" val="3320419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12</a:t>
            </a:fld>
            <a:endParaRPr lang="en-US"/>
          </a:p>
        </p:txBody>
      </p:sp>
    </p:spTree>
    <p:extLst>
      <p:ext uri="{BB962C8B-B14F-4D97-AF65-F5344CB8AC3E}">
        <p14:creationId xmlns:p14="http://schemas.microsoft.com/office/powerpoint/2010/main" val="9609032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13</a:t>
            </a:fld>
            <a:endParaRPr lang="en-US"/>
          </a:p>
        </p:txBody>
      </p:sp>
    </p:spTree>
    <p:extLst>
      <p:ext uri="{BB962C8B-B14F-4D97-AF65-F5344CB8AC3E}">
        <p14:creationId xmlns:p14="http://schemas.microsoft.com/office/powerpoint/2010/main" val="3878991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92A3-23FB-1F34-722B-5E3E910B5B77}"/>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4CB25A-6A5E-E636-780E-A4D1B589A4DA}"/>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8C5985-3791-E6AC-C4B2-21E8692E0079}"/>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C68D1AAA-1008-46F3-A90C-946BC0E390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68C04E-1F54-F39B-E3E1-E1249C30573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93710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DA5E-60D0-C9E4-1C0E-55FFFB5E1C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B7E07-6AED-184E-B091-A631031C87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5C100-2587-6710-2072-9F1FEFDE9A1C}"/>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F7D9DDE-A1EE-F86B-9405-DEDB31C62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E99E5-C2A1-414B-E0EF-B8640BC47EC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256426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8BC-7A51-4D34-9739-8836CF18E4E3}"/>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F76FE5-C216-1303-C72E-7668AB7433BE}"/>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D78583-C2BB-A253-ABA9-9F7B559B4AD2}"/>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9281265-1478-49F1-E774-FA177A9B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22096-B0EB-3DD3-EEAC-EA2D243ACEAF}"/>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522736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3E5F-6E83-D768-E002-A2DABBDE2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6EAA5-C2DB-5DAF-2164-2B94880BBB9C}"/>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EBE84D-AD5D-79CF-11F8-68E0E4DCD9A7}"/>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9770B-9F2E-745B-E87C-7FF9403AE58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C66DC936-4AE1-2FFE-00B3-AAED21A9B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47049-3D15-3414-0546-65215CB42041}"/>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616147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C425-C752-E275-FACB-0A219DA17763}"/>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8F5E02-A4EC-9E27-7862-AD2BD384D63A}"/>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F56C76-70A4-2A79-36D0-8C0BBACF46D6}"/>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865FAF-9B8F-5753-DDBB-82A8947B31ED}"/>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1FB9B6-8E87-4F36-DCD0-A329CB4B2822}"/>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5F5E05-A0FA-CD51-7F55-683AD46C7E4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8" name="Footer Placeholder 7">
            <a:extLst>
              <a:ext uri="{FF2B5EF4-FFF2-40B4-BE49-F238E27FC236}">
                <a16:creationId xmlns:a16="http://schemas.microsoft.com/office/drawing/2014/main" id="{7C8FDCDB-2EA2-1DAF-E97F-457121D072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6EA4A6-00FC-82F6-A721-CEFFA4BF5768}"/>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94192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CA97-F1AA-8B7A-65B8-16538BF547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6041F2-E09E-3D1B-81A9-9AE6D8A2562A}"/>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4" name="Footer Placeholder 3">
            <a:extLst>
              <a:ext uri="{FF2B5EF4-FFF2-40B4-BE49-F238E27FC236}">
                <a16:creationId xmlns:a16="http://schemas.microsoft.com/office/drawing/2014/main" id="{38A69FCD-F9B9-349E-CD48-9587647E7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04ACE1-D2FB-16A5-F66E-EC61CC4E979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792890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36450-68C6-A396-7352-52DD6F28A435}"/>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3" name="Footer Placeholder 2">
            <a:extLst>
              <a:ext uri="{FF2B5EF4-FFF2-40B4-BE49-F238E27FC236}">
                <a16:creationId xmlns:a16="http://schemas.microsoft.com/office/drawing/2014/main" id="{45C3D1AE-4BC6-C5FF-5A19-6AF3C10192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AA5E42-9C85-80D7-BF7F-8C2D2AD29F76}"/>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494228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E779A-98C4-8BC5-73B4-1CD4F11DF4AB}"/>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D25713-BC91-2159-A6C3-48AE12B87FCB}"/>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A299A5-0AA5-A0DF-DE8D-6FEC9D86393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86256-903B-E02E-338D-1C76033C5DF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8E7D41B3-BCC4-4240-1DD6-44CC333F0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AA18E-EDFC-9947-BA14-ECBE231B4DAC}"/>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00388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89D6-FA8F-B145-B8C2-2A7C60EAD673}"/>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FDFF2B-4A9B-D5A1-8C3A-908371AC6533}"/>
              </a:ext>
            </a:extLst>
          </p:cNvPr>
          <p:cNvSpPr>
            <a:spLocks noGrp="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D33E00-D0A1-05AB-AE09-755376F5B4A0}"/>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219CE5-87BF-9418-3A56-9436D3A6F844}"/>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31B5194E-8EA0-C1C3-B08E-9BC60AF0B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6B1B3-2178-29D7-F8A0-D822DF3C3C8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034560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B38D-E4B8-F523-A830-BCA9FF6BBC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9DF627-ED4F-EF60-73E9-754ED3ECD5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3C552-729F-B973-77EB-827059CD12E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14656AFB-C573-AE0E-E2E5-7FAC70B1D1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84E0B-5F4B-0C92-05D8-4982A4D6198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236888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903CAD-5D2D-26B7-D65A-CA14F291BCC6}"/>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97196E-FEA1-BD13-0D69-A20991A44E99}"/>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29752-AD71-82D7-2EA6-EA19B8CC3CE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385B3453-4D2E-9DDF-B2F4-51D9B55D5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AF4F1-5AC2-6A56-DA02-9C0FCB1B488A}"/>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8657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6DC260-65CF-C945-BFA8-3FED9BA64F8C}"/>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8858E-D220-055D-ED33-E19234C5D9D7}"/>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24B75-5F41-6E09-7CD4-76A1F510AD8E}"/>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F87C45F7-BF32-57DC-BDCF-D488EC753F22}"/>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FEC798-2F79-3C69-C71F-EFCC3395E871}"/>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F1E9BE65-3261-4D01-A418-908AEC5E5799}" type="slidenum">
              <a:rPr lang="en-US" smtClean="0"/>
              <a:t>‹#›</a:t>
            </a:fld>
            <a:endParaRPr lang="en-US"/>
          </a:p>
        </p:txBody>
      </p:sp>
    </p:spTree>
    <p:extLst>
      <p:ext uri="{BB962C8B-B14F-4D97-AF65-F5344CB8AC3E}">
        <p14:creationId xmlns:p14="http://schemas.microsoft.com/office/powerpoint/2010/main" val="1666129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4096" r="-14096" b="-51837"/>
            </a:stretch>
          </a:blipFill>
        </p:spPr>
        <p:txBody>
          <a:bodyPr/>
          <a:lstStyle/>
          <a:p>
            <a:endParaRPr lang="en-US"/>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19FF">
                <a:alpha val="20784"/>
              </a:srgbClr>
            </a:solidFill>
          </p:spPr>
          <p:txBody>
            <a:bodyPr/>
            <a:lstStyle/>
            <a:p>
              <a:endParaRPr lang="en-US"/>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874463" y="3620749"/>
            <a:ext cx="13842681" cy="4248535"/>
          </a:xfrm>
          <a:prstGeom prst="rect">
            <a:avLst/>
          </a:prstGeom>
        </p:spPr>
        <p:txBody>
          <a:bodyPr lIns="0" tIns="0" rIns="0" bIns="0" rtlCol="0" anchor="t">
            <a:spAutoFit/>
          </a:bodyPr>
          <a:lstStyle/>
          <a:p>
            <a:pPr algn="ctr">
              <a:lnSpc>
                <a:spcPts val="11613"/>
              </a:lnSpc>
            </a:pPr>
            <a:r>
              <a:rPr lang="en-US" sz="5400" b="1" dirty="0">
                <a:solidFill>
                  <a:srgbClr val="FFFFFF"/>
                </a:solidFill>
                <a:latin typeface="Arial" panose="020B0604020202020204" pitchFamily="34" charset="0"/>
                <a:ea typeface="Zen Dots"/>
                <a:cs typeface="Zen Dots"/>
                <a:sym typeface="Zen Dots"/>
              </a:rPr>
              <a:t>MPO</a:t>
            </a:r>
          </a:p>
          <a:p>
            <a:pPr algn="ctr">
              <a:lnSpc>
                <a:spcPts val="11613"/>
              </a:lnSpc>
            </a:pPr>
            <a:r>
              <a:rPr lang="en-US" sz="5400" b="1" dirty="0">
                <a:solidFill>
                  <a:srgbClr val="FFFFFF"/>
                </a:solidFill>
                <a:latin typeface="Arial" panose="020B0604020202020204" pitchFamily="34" charset="0"/>
                <a:ea typeface="Zen Dots"/>
                <a:cs typeface="Zen Dots"/>
                <a:sym typeface="Zen Dots"/>
              </a:rPr>
              <a:t>MANUFACTURING PERFORMANCE OVERVIEW</a:t>
            </a:r>
          </a:p>
        </p:txBody>
      </p:sp>
      <p:sp>
        <p:nvSpPr>
          <p:cNvPr id="7" name="AutoShape 7"/>
          <p:cNvSpPr/>
          <p:nvPr/>
        </p:nvSpPr>
        <p:spPr>
          <a:xfrm>
            <a:off x="1028683" y="8732575"/>
            <a:ext cx="16230600" cy="19050"/>
          </a:xfrm>
          <a:prstGeom prst="line">
            <a:avLst/>
          </a:prstGeom>
          <a:ln w="19050" cap="flat">
            <a:solidFill>
              <a:srgbClr val="FFFFFF"/>
            </a:solidFill>
            <a:prstDash val="solid"/>
            <a:headEnd type="none" w="sm" len="sm"/>
            <a:tailEnd type="none" w="sm" len="sm"/>
          </a:ln>
        </p:spPr>
        <p:txBody>
          <a:bodyPr/>
          <a:lstStyle/>
          <a:p>
            <a:endParaRPr lang="en-US"/>
          </a:p>
        </p:txBody>
      </p:sp>
      <p:sp>
        <p:nvSpPr>
          <p:cNvPr id="8" name="Freeform 8"/>
          <p:cNvSpPr/>
          <p:nvPr/>
        </p:nvSpPr>
        <p:spPr>
          <a:xfrm>
            <a:off x="656761" y="447161"/>
            <a:ext cx="2777782" cy="1007971"/>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4306706" y="731452"/>
            <a:ext cx="2224975" cy="352597"/>
          </a:xfrm>
          <a:prstGeom prst="rect">
            <a:avLst/>
          </a:prstGeom>
        </p:spPr>
        <p:txBody>
          <a:bodyPr wrap="square" lIns="0" tIns="0" rIns="0" bIns="0" rtlCol="0" anchor="t">
            <a:spAutoFit/>
          </a:bodyPr>
          <a:lstStyle/>
          <a:p>
            <a:pPr marL="0" lvl="0" indent="0" algn="ctr">
              <a:lnSpc>
                <a:spcPts val="2871"/>
              </a:lnSpc>
              <a:spcBef>
                <a:spcPct val="0"/>
              </a:spcBef>
            </a:pPr>
            <a:r>
              <a:rPr lang="en-US" sz="2051" b="1" spc="4" dirty="0">
                <a:solidFill>
                  <a:srgbClr val="FFFFFF"/>
                </a:solidFill>
                <a:latin typeface="Poppins Bold"/>
                <a:ea typeface="Poppins Bold"/>
                <a:cs typeface="Poppins Bold"/>
                <a:sym typeface="Poppins Bold"/>
              </a:rPr>
              <a:t>Manufacturing</a:t>
            </a:r>
          </a:p>
        </p:txBody>
      </p:sp>
      <p:sp>
        <p:nvSpPr>
          <p:cNvPr id="10" name="TextBox 10"/>
          <p:cNvSpPr txBox="1"/>
          <p:nvPr/>
        </p:nvSpPr>
        <p:spPr>
          <a:xfrm>
            <a:off x="6888721" y="733665"/>
            <a:ext cx="1907082" cy="352597"/>
          </a:xfrm>
          <a:prstGeom prst="rect">
            <a:avLst/>
          </a:prstGeom>
        </p:spPr>
        <p:txBody>
          <a:bodyPr lIns="0" tIns="0" rIns="0" bIns="0" rtlCol="0" anchor="t">
            <a:spAutoFit/>
          </a:bodyPr>
          <a:lstStyle/>
          <a:p>
            <a:pPr marL="0" lvl="0" indent="0" algn="ctr">
              <a:lnSpc>
                <a:spcPts val="2871"/>
              </a:lnSpc>
              <a:spcBef>
                <a:spcPct val="0"/>
              </a:spcBef>
            </a:pPr>
            <a:r>
              <a:rPr lang="en-US" sz="2051" spc="4" dirty="0">
                <a:solidFill>
                  <a:srgbClr val="FFFFFF"/>
                </a:solidFill>
                <a:latin typeface="Poppins"/>
                <a:ea typeface="Poppins"/>
                <a:cs typeface="Poppins"/>
                <a:sym typeface="Poppins"/>
              </a:rPr>
              <a:t>Performance</a:t>
            </a:r>
          </a:p>
        </p:txBody>
      </p:sp>
      <p:sp>
        <p:nvSpPr>
          <p:cNvPr id="11" name="TextBox 11"/>
          <p:cNvSpPr txBox="1"/>
          <p:nvPr/>
        </p:nvSpPr>
        <p:spPr>
          <a:xfrm>
            <a:off x="9596344" y="733665"/>
            <a:ext cx="1589190" cy="352597"/>
          </a:xfrm>
          <a:prstGeom prst="rect">
            <a:avLst/>
          </a:prstGeom>
        </p:spPr>
        <p:txBody>
          <a:bodyPr lIns="0" tIns="0" rIns="0" bIns="0" rtlCol="0" anchor="t">
            <a:spAutoFit/>
          </a:bodyPr>
          <a:lstStyle/>
          <a:p>
            <a:pPr marL="0" lvl="0" indent="0" algn="ctr">
              <a:lnSpc>
                <a:spcPts val="2871"/>
              </a:lnSpc>
              <a:spcBef>
                <a:spcPct val="0"/>
              </a:spcBef>
            </a:pPr>
            <a:r>
              <a:rPr lang="en-US" sz="2051" spc="4">
                <a:solidFill>
                  <a:srgbClr val="FFFFFF"/>
                </a:solidFill>
                <a:latin typeface="Poppins"/>
                <a:ea typeface="Poppins"/>
                <a:cs typeface="Poppins"/>
                <a:sym typeface="Poppins"/>
              </a:rPr>
              <a:t>Overview</a:t>
            </a:r>
          </a:p>
        </p:txBody>
      </p:sp>
      <p:sp>
        <p:nvSpPr>
          <p:cNvPr id="12" name="TextBox 12"/>
          <p:cNvSpPr txBox="1"/>
          <p:nvPr/>
        </p:nvSpPr>
        <p:spPr>
          <a:xfrm>
            <a:off x="11529929" y="731452"/>
            <a:ext cx="2224975" cy="352597"/>
          </a:xfrm>
          <a:prstGeom prst="rect">
            <a:avLst/>
          </a:prstGeom>
        </p:spPr>
        <p:txBody>
          <a:bodyPr lIns="0" tIns="0" rIns="0" bIns="0" rtlCol="0" anchor="t">
            <a:spAutoFit/>
          </a:bodyPr>
          <a:lstStyle/>
          <a:p>
            <a:pPr marL="0" lvl="0" indent="0" algn="ctr">
              <a:lnSpc>
                <a:spcPts val="2871"/>
              </a:lnSpc>
              <a:spcBef>
                <a:spcPct val="0"/>
              </a:spcBef>
            </a:pPr>
            <a:r>
              <a:rPr lang="en-US" sz="2051" spc="4">
                <a:solidFill>
                  <a:srgbClr val="FFFFFF"/>
                </a:solidFill>
                <a:latin typeface="Poppins"/>
                <a:ea typeface="Poppins"/>
                <a:cs typeface="Poppins"/>
                <a:sym typeface="Poppins"/>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C4FD0353-71A5-3549-1999-56725F05B4EC}"/>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4" name="TextBox 3">
            <a:extLst>
              <a:ext uri="{FF2B5EF4-FFF2-40B4-BE49-F238E27FC236}">
                <a16:creationId xmlns:a16="http://schemas.microsoft.com/office/drawing/2014/main" id="{32A964EB-997B-9BA0-2217-0BE63D9F06D6}"/>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MPO</a:t>
            </a:r>
          </a:p>
        </p:txBody>
      </p:sp>
      <p:cxnSp>
        <p:nvCxnSpPr>
          <p:cNvPr id="5" name="Straight Connector 4">
            <a:extLst>
              <a:ext uri="{FF2B5EF4-FFF2-40B4-BE49-F238E27FC236}">
                <a16:creationId xmlns:a16="http://schemas.microsoft.com/office/drawing/2014/main" id="{E975A2BA-0698-18F4-D34C-34CD4B2F5C46}"/>
              </a:ext>
            </a:extLst>
          </p:cNvPr>
          <p:cNvCxnSpPr/>
          <p:nvPr/>
        </p:nvCxnSpPr>
        <p:spPr>
          <a:xfrm>
            <a:off x="55349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7DA3B9F-A236-BA9D-9C21-69A05DBEF487}"/>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7" name="TextBox 6">
            <a:extLst>
              <a:ext uri="{FF2B5EF4-FFF2-40B4-BE49-F238E27FC236}">
                <a16:creationId xmlns:a16="http://schemas.microsoft.com/office/drawing/2014/main" id="{4E290E30-E390-21A6-C25E-29B07213A6E3}"/>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DAF858D9-6F03-9725-7CF7-7087D1804CBC}"/>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10" name="TextBox 9">
            <a:extLst>
              <a:ext uri="{FF2B5EF4-FFF2-40B4-BE49-F238E27FC236}">
                <a16:creationId xmlns:a16="http://schemas.microsoft.com/office/drawing/2014/main" id="{4A1329C8-90CE-A7C9-9FC7-DF964EFEAC46}"/>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02</a:t>
            </a:r>
          </a:p>
        </p:txBody>
      </p:sp>
      <p:sp>
        <p:nvSpPr>
          <p:cNvPr id="11" name="TextBox 10">
            <a:extLst>
              <a:ext uri="{FF2B5EF4-FFF2-40B4-BE49-F238E27FC236}">
                <a16:creationId xmlns:a16="http://schemas.microsoft.com/office/drawing/2014/main" id="{645CC2C5-6540-D65C-0795-631553F4DF3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EXECUTIVE SUMMARY</a:t>
            </a:r>
          </a:p>
        </p:txBody>
      </p:sp>
      <p:sp>
        <p:nvSpPr>
          <p:cNvPr id="12" name="TextBox 11">
            <a:extLst>
              <a:ext uri="{FF2B5EF4-FFF2-40B4-BE49-F238E27FC236}">
                <a16:creationId xmlns:a16="http://schemas.microsoft.com/office/drawing/2014/main" id="{E5A8254F-A1F3-A762-048C-7789F818B7C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MPO Turns Machine Data into Action</a:t>
            </a:r>
          </a:p>
        </p:txBody>
      </p:sp>
      <p:cxnSp>
        <p:nvCxnSpPr>
          <p:cNvPr id="13" name="Straight Connector 12">
            <a:extLst>
              <a:ext uri="{FF2B5EF4-FFF2-40B4-BE49-F238E27FC236}">
                <a16:creationId xmlns:a16="http://schemas.microsoft.com/office/drawing/2014/main" id="{8F604FB2-B5D5-F926-2190-448F7D511DA3}"/>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6567F40-4EA2-E107-7699-6DFE778CE2D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DC6ADCA-4F23-8D09-4D07-4A76F4717C4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02</a:t>
            </a:r>
          </a:p>
        </p:txBody>
      </p:sp>
      <p:sp>
        <p:nvSpPr>
          <p:cNvPr id="16" name="TextBox 15">
            <a:extLst>
              <a:ext uri="{FF2B5EF4-FFF2-40B4-BE49-F238E27FC236}">
                <a16:creationId xmlns:a16="http://schemas.microsoft.com/office/drawing/2014/main" id="{CD5819B8-78DA-51FC-BE43-BFA20D3C3CC4}"/>
              </a:ext>
            </a:extLst>
          </p:cNvPr>
          <p:cNvSpPr txBox="1"/>
          <p:nvPr/>
        </p:nvSpPr>
        <p:spPr>
          <a:xfrm>
            <a:off x="889000" y="2819400"/>
            <a:ext cx="15748000" cy="369332"/>
          </a:xfrm>
          <a:prstGeom prst="rect">
            <a:avLst/>
          </a:prstGeom>
          <a:noFill/>
        </p:spPr>
        <p:txBody>
          <a:bodyPr vert="horz" wrap="square" lIns="0" tIns="0" rIns="0" bIns="0" rtlCol="0">
            <a:spAutoFit/>
          </a:bodyPr>
          <a:lstStyle/>
          <a:p>
            <a:r>
              <a:rPr lang="en-US" sz="2400">
                <a:solidFill>
                  <a:srgbClr val="E6F0FA"/>
                </a:solidFill>
                <a:latin typeface="Arial" panose="020B0604020202020204" pitchFamily="34" charset="0"/>
              </a:rPr>
              <a:t>One automated flow unifies output, quality, and downtime—from .u01 files to the management dashboard.</a:t>
            </a:r>
            <a:endParaRPr lang="en-US" sz="2400" dirty="0">
              <a:solidFill>
                <a:srgbClr val="E6F0FA"/>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4778EDE6-14BA-D60B-3EB0-C272A4583D40}"/>
              </a:ext>
            </a:extLst>
          </p:cNvPr>
          <p:cNvSpPr/>
          <p:nvPr/>
        </p:nvSpPr>
        <p:spPr>
          <a:xfrm>
            <a:off x="889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477D18-BB35-7A90-1006-F97CDA400C1F}"/>
              </a:ext>
            </a:extLst>
          </p:cNvPr>
          <p:cNvSpPr/>
          <p:nvPr/>
        </p:nvSpPr>
        <p:spPr>
          <a:xfrm>
            <a:off x="889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64764308-F7EB-752F-7809-1BFE21C46F7D}"/>
              </a:ext>
            </a:extLst>
          </p:cNvPr>
          <p:cNvSpPr/>
          <p:nvPr/>
        </p:nvSpPr>
        <p:spPr>
          <a:xfrm>
            <a:off x="1193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82CE164-BCC1-0794-1907-CAF72292BA4D}"/>
              </a:ext>
            </a:extLst>
          </p:cNvPr>
          <p:cNvSpPr txBox="1"/>
          <p:nvPr/>
        </p:nvSpPr>
        <p:spPr>
          <a:xfrm>
            <a:off x="1295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38799253-8A74-BF54-5287-1BC12153D411}"/>
              </a:ext>
            </a:extLst>
          </p:cNvPr>
          <p:cNvSpPr txBox="1"/>
          <p:nvPr/>
        </p:nvSpPr>
        <p:spPr>
          <a:xfrm>
            <a:off x="1193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Centralize</a:t>
            </a:r>
          </a:p>
        </p:txBody>
      </p:sp>
      <p:sp>
        <p:nvSpPr>
          <p:cNvPr id="22" name="TextBox 21">
            <a:extLst>
              <a:ext uri="{FF2B5EF4-FFF2-40B4-BE49-F238E27FC236}">
                <a16:creationId xmlns:a16="http://schemas.microsoft.com/office/drawing/2014/main" id="{F080BC86-A873-1E94-0D0F-877337D20854}"/>
              </a:ext>
            </a:extLst>
          </p:cNvPr>
          <p:cNvSpPr txBox="1"/>
          <p:nvPr/>
        </p:nvSpPr>
        <p:spPr>
          <a:xfrm>
            <a:off x="1193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One unified reporting source for LNB machine data.</a:t>
            </a:r>
          </a:p>
        </p:txBody>
      </p:sp>
      <p:sp>
        <p:nvSpPr>
          <p:cNvPr id="23" name="Rectangle: Rounded Corners 22">
            <a:extLst>
              <a:ext uri="{FF2B5EF4-FFF2-40B4-BE49-F238E27FC236}">
                <a16:creationId xmlns:a16="http://schemas.microsoft.com/office/drawing/2014/main" id="{7A37C9C7-9B27-96AA-4981-F7A9FF6AF628}"/>
              </a:ext>
            </a:extLst>
          </p:cNvPr>
          <p:cNvSpPr/>
          <p:nvPr/>
        </p:nvSpPr>
        <p:spPr>
          <a:xfrm>
            <a:off x="6350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51CDE2D-820C-1AF7-35BB-5195948B080A}"/>
              </a:ext>
            </a:extLst>
          </p:cNvPr>
          <p:cNvSpPr/>
          <p:nvPr/>
        </p:nvSpPr>
        <p:spPr>
          <a:xfrm>
            <a:off x="6350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2B9BF30-08AC-325A-AACE-77357D0121B6}"/>
              </a:ext>
            </a:extLst>
          </p:cNvPr>
          <p:cNvSpPr/>
          <p:nvPr/>
        </p:nvSpPr>
        <p:spPr>
          <a:xfrm>
            <a:off x="6654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E58221D-FA50-2F72-C2A6-6C119828062B}"/>
              </a:ext>
            </a:extLst>
          </p:cNvPr>
          <p:cNvSpPr txBox="1"/>
          <p:nvPr/>
        </p:nvSpPr>
        <p:spPr>
          <a:xfrm>
            <a:off x="6756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7" name="TextBox 26">
            <a:extLst>
              <a:ext uri="{FF2B5EF4-FFF2-40B4-BE49-F238E27FC236}">
                <a16:creationId xmlns:a16="http://schemas.microsoft.com/office/drawing/2014/main" id="{18D47094-5D16-1BC2-4DEB-0E885FB2CD1E}"/>
              </a:ext>
            </a:extLst>
          </p:cNvPr>
          <p:cNvSpPr txBox="1"/>
          <p:nvPr/>
        </p:nvSpPr>
        <p:spPr>
          <a:xfrm>
            <a:off x="6654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Analyze</a:t>
            </a:r>
          </a:p>
        </p:txBody>
      </p:sp>
      <p:sp>
        <p:nvSpPr>
          <p:cNvPr id="28" name="TextBox 27">
            <a:extLst>
              <a:ext uri="{FF2B5EF4-FFF2-40B4-BE49-F238E27FC236}">
                <a16:creationId xmlns:a16="http://schemas.microsoft.com/office/drawing/2014/main" id="{650472D0-A590-ABBD-E863-35060924E0C2}"/>
              </a:ext>
            </a:extLst>
          </p:cNvPr>
          <p:cNvSpPr txBox="1"/>
          <p:nvPr/>
        </p:nvSpPr>
        <p:spPr>
          <a:xfrm>
            <a:off x="6654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Drill down by line, lane, machine, model, part, feeder, and nozzle.</a:t>
            </a:r>
          </a:p>
        </p:txBody>
      </p:sp>
      <p:sp>
        <p:nvSpPr>
          <p:cNvPr id="29" name="Rectangle: Rounded Corners 28">
            <a:extLst>
              <a:ext uri="{FF2B5EF4-FFF2-40B4-BE49-F238E27FC236}">
                <a16:creationId xmlns:a16="http://schemas.microsoft.com/office/drawing/2014/main" id="{A47D5E63-6A6D-52C5-AD50-A054B449F840}"/>
              </a:ext>
            </a:extLst>
          </p:cNvPr>
          <p:cNvSpPr/>
          <p:nvPr/>
        </p:nvSpPr>
        <p:spPr>
          <a:xfrm>
            <a:off x="11811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5076F9F-AF04-94A0-7440-94C307DB21CB}"/>
              </a:ext>
            </a:extLst>
          </p:cNvPr>
          <p:cNvSpPr/>
          <p:nvPr/>
        </p:nvSpPr>
        <p:spPr>
          <a:xfrm>
            <a:off x="11811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5ACE12BA-BFF9-97B7-5A0A-D96E3742943B}"/>
              </a:ext>
            </a:extLst>
          </p:cNvPr>
          <p:cNvSpPr/>
          <p:nvPr/>
        </p:nvSpPr>
        <p:spPr>
          <a:xfrm>
            <a:off x="12115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F15A8CE-FF83-B485-D20C-108387835326}"/>
              </a:ext>
            </a:extLst>
          </p:cNvPr>
          <p:cNvSpPr txBox="1"/>
          <p:nvPr/>
        </p:nvSpPr>
        <p:spPr>
          <a:xfrm>
            <a:off x="12217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3" name="TextBox 32">
            <a:extLst>
              <a:ext uri="{FF2B5EF4-FFF2-40B4-BE49-F238E27FC236}">
                <a16:creationId xmlns:a16="http://schemas.microsoft.com/office/drawing/2014/main" id="{027DDC23-8942-DFD7-AF20-732394687429}"/>
              </a:ext>
            </a:extLst>
          </p:cNvPr>
          <p:cNvSpPr txBox="1"/>
          <p:nvPr/>
        </p:nvSpPr>
        <p:spPr>
          <a:xfrm>
            <a:off x="12115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Act</a:t>
            </a:r>
          </a:p>
        </p:txBody>
      </p:sp>
      <p:sp>
        <p:nvSpPr>
          <p:cNvPr id="34" name="TextBox 33">
            <a:extLst>
              <a:ext uri="{FF2B5EF4-FFF2-40B4-BE49-F238E27FC236}">
                <a16:creationId xmlns:a16="http://schemas.microsoft.com/office/drawing/2014/main" id="{85C508D4-4A1D-C6F0-B931-F74559C4FA94}"/>
              </a:ext>
            </a:extLst>
          </p:cNvPr>
          <p:cNvSpPr txBox="1"/>
          <p:nvPr/>
        </p:nvSpPr>
        <p:spPr>
          <a:xfrm>
            <a:off x="12115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Identify at-risk equipment, investigate root causes, and export data.</a:t>
            </a:r>
          </a:p>
        </p:txBody>
      </p:sp>
      <p:sp>
        <p:nvSpPr>
          <p:cNvPr id="35" name="TextBox 34">
            <a:extLst>
              <a:ext uri="{FF2B5EF4-FFF2-40B4-BE49-F238E27FC236}">
                <a16:creationId xmlns:a16="http://schemas.microsoft.com/office/drawing/2014/main" id="{7C4FD30D-F58B-2B28-25A9-B5AD346EBB63}"/>
              </a:ext>
            </a:extLst>
          </p:cNvPr>
          <p:cNvSpPr txBox="1"/>
          <p:nvPr/>
        </p:nvSpPr>
        <p:spPr>
          <a:xfrm>
            <a:off x="889000" y="7937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Outcome: raw data becomes evidence for daily operations.</a:t>
            </a:r>
          </a:p>
        </p:txBody>
      </p:sp>
    </p:spTree>
    <p:extLst>
      <p:ext uri="{BB962C8B-B14F-4D97-AF65-F5344CB8AC3E}">
        <p14:creationId xmlns:p14="http://schemas.microsoft.com/office/powerpoint/2010/main" val="4110318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0E7A4F04-A090-8F35-31FC-83077B3032B6}"/>
              </a:ext>
            </a:extLst>
          </p:cNvPr>
          <p:cNvSpPr/>
          <p:nvPr/>
        </p:nvSpPr>
        <p:spPr>
          <a:xfrm>
            <a:off x="749300" y="344016"/>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267776C5-EC78-B913-5DF5-D5A84687ECEC}"/>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03</a:t>
            </a:r>
          </a:p>
        </p:txBody>
      </p:sp>
      <p:sp>
        <p:nvSpPr>
          <p:cNvPr id="11" name="TextBox 10">
            <a:extLst>
              <a:ext uri="{FF2B5EF4-FFF2-40B4-BE49-F238E27FC236}">
                <a16:creationId xmlns:a16="http://schemas.microsoft.com/office/drawing/2014/main" id="{C9783CC7-7588-E941-AA8C-A4A18D3F17C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BUSINESS VALUE</a:t>
            </a:r>
          </a:p>
        </p:txBody>
      </p:sp>
      <p:sp>
        <p:nvSpPr>
          <p:cNvPr id="12" name="TextBox 11">
            <a:extLst>
              <a:ext uri="{FF2B5EF4-FFF2-40B4-BE49-F238E27FC236}">
                <a16:creationId xmlns:a16="http://schemas.microsoft.com/office/drawing/2014/main" id="{A2BCE1F5-40CA-19E9-78AC-9D8242AD7A36}"/>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Four Direct Operational Benefits</a:t>
            </a:r>
          </a:p>
        </p:txBody>
      </p:sp>
      <p:cxnSp>
        <p:nvCxnSpPr>
          <p:cNvPr id="13" name="Straight Connector 12">
            <a:extLst>
              <a:ext uri="{FF2B5EF4-FFF2-40B4-BE49-F238E27FC236}">
                <a16:creationId xmlns:a16="http://schemas.microsoft.com/office/drawing/2014/main" id="{7E1BD5C2-2BB4-1CD6-9F58-2D9C747E6D2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12FA56-9DA5-D842-C454-037E0859BDD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6B571C9-84C4-125C-FBC0-32E69EDE47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03</a:t>
            </a:r>
          </a:p>
        </p:txBody>
      </p:sp>
      <p:sp>
        <p:nvSpPr>
          <p:cNvPr id="16" name="Rectangle: Rounded Corners 15">
            <a:extLst>
              <a:ext uri="{FF2B5EF4-FFF2-40B4-BE49-F238E27FC236}">
                <a16:creationId xmlns:a16="http://schemas.microsoft.com/office/drawing/2014/main" id="{DCEFED37-CCA6-8816-9276-65099ABCB84C}"/>
              </a:ext>
            </a:extLst>
          </p:cNvPr>
          <p:cNvSpPr/>
          <p:nvPr/>
        </p:nvSpPr>
        <p:spPr>
          <a:xfrm>
            <a:off x="889000" y="3005744"/>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C9523DC-0A1D-3C71-2259-D04AEE97CD19}"/>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40B44C4-2CC1-88E0-89C0-DCFAEC7418CE}"/>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2859A82-D835-DEF5-4F89-D4B524BA1452}"/>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6144C155-0F33-A93D-161A-3BA90F9E7547}"/>
              </a:ext>
            </a:extLst>
          </p:cNvPr>
          <p:cNvSpPr txBox="1"/>
          <p:nvPr/>
        </p:nvSpPr>
        <p:spPr>
          <a:xfrm>
            <a:off x="1193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One Data Source</a:t>
            </a:r>
          </a:p>
        </p:txBody>
      </p:sp>
      <p:sp>
        <p:nvSpPr>
          <p:cNvPr id="21" name="TextBox 20">
            <a:extLst>
              <a:ext uri="{FF2B5EF4-FFF2-40B4-BE49-F238E27FC236}">
                <a16:creationId xmlns:a16="http://schemas.microsoft.com/office/drawing/2014/main" id="{F4E4473C-60C7-1608-076B-969A8D44C346}"/>
              </a:ext>
            </a:extLst>
          </p:cNvPr>
          <p:cNvSpPr txBox="1"/>
          <p:nvPr/>
        </p:nvSpPr>
        <p:spPr>
          <a:xfrm>
            <a:off x="1193800" y="44323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Centralize production, quality, and downtime.</a:t>
            </a:r>
          </a:p>
        </p:txBody>
      </p:sp>
      <p:sp>
        <p:nvSpPr>
          <p:cNvPr id="22" name="Rectangle: Rounded Corners 21">
            <a:extLst>
              <a:ext uri="{FF2B5EF4-FFF2-40B4-BE49-F238E27FC236}">
                <a16:creationId xmlns:a16="http://schemas.microsoft.com/office/drawing/2014/main" id="{CB2DD7BD-2C94-F9AD-199E-E48EB7713F52}"/>
              </a:ext>
            </a:extLst>
          </p:cNvPr>
          <p:cNvSpPr/>
          <p:nvPr/>
        </p:nvSpPr>
        <p:spPr>
          <a:xfrm>
            <a:off x="9144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F40D2CF-2ECA-E704-041E-90FD71AB52C7}"/>
              </a:ext>
            </a:extLst>
          </p:cNvPr>
          <p:cNvSpPr/>
          <p:nvPr/>
        </p:nvSpPr>
        <p:spPr>
          <a:xfrm>
            <a:off x="9144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9AA9DAC-EE5B-008C-B940-85AA7225F169}"/>
              </a:ext>
            </a:extLst>
          </p:cNvPr>
          <p:cNvSpPr/>
          <p:nvPr/>
        </p:nvSpPr>
        <p:spPr>
          <a:xfrm>
            <a:off x="9448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12544E-D7D7-01CC-C513-58AE4AC87046}"/>
              </a:ext>
            </a:extLst>
          </p:cNvPr>
          <p:cNvSpPr txBox="1"/>
          <p:nvPr/>
        </p:nvSpPr>
        <p:spPr>
          <a:xfrm>
            <a:off x="9550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17F63C83-060B-9EE8-5CE7-3DD37FC9AE30}"/>
              </a:ext>
            </a:extLst>
          </p:cNvPr>
          <p:cNvSpPr txBox="1"/>
          <p:nvPr/>
        </p:nvSpPr>
        <p:spPr>
          <a:xfrm>
            <a:off x="9448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Reduce Manual Work</a:t>
            </a:r>
          </a:p>
        </p:txBody>
      </p:sp>
      <p:sp>
        <p:nvSpPr>
          <p:cNvPr id="27" name="TextBox 26">
            <a:extLst>
              <a:ext uri="{FF2B5EF4-FFF2-40B4-BE49-F238E27FC236}">
                <a16:creationId xmlns:a16="http://schemas.microsoft.com/office/drawing/2014/main" id="{EBE01961-3D9F-3473-3DE7-7ABC83195F37}"/>
              </a:ext>
            </a:extLst>
          </p:cNvPr>
          <p:cNvSpPr txBox="1"/>
          <p:nvPr/>
        </p:nvSpPr>
        <p:spPr>
          <a:xfrm>
            <a:off x="9448800" y="4432300"/>
            <a:ext cx="7137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Eliminate multiple consolidation and file-reconciliation steps.</a:t>
            </a:r>
            <a:endParaRPr lang="en-US" sz="1600">
              <a:solidFill>
                <a:srgbClr val="E6F0FA"/>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CBBB96C3-C8E5-CEC7-315E-9AD8DB383111}"/>
              </a:ext>
            </a:extLst>
          </p:cNvPr>
          <p:cNvSpPr/>
          <p:nvPr/>
        </p:nvSpPr>
        <p:spPr>
          <a:xfrm>
            <a:off x="889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81889F2-4E75-1F5F-5946-8FACDAA38988}"/>
              </a:ext>
            </a:extLst>
          </p:cNvPr>
          <p:cNvSpPr/>
          <p:nvPr/>
        </p:nvSpPr>
        <p:spPr>
          <a:xfrm>
            <a:off x="889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FC689DE5-892B-6AC6-4C17-5DCB9A9EFF37}"/>
              </a:ext>
            </a:extLst>
          </p:cNvPr>
          <p:cNvSpPr/>
          <p:nvPr/>
        </p:nvSpPr>
        <p:spPr>
          <a:xfrm>
            <a:off x="1193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36D3068-2BBD-32D9-B7A9-69681D08DACE}"/>
              </a:ext>
            </a:extLst>
          </p:cNvPr>
          <p:cNvSpPr txBox="1"/>
          <p:nvPr/>
        </p:nvSpPr>
        <p:spPr>
          <a:xfrm>
            <a:off x="1295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5C299CE6-D6A4-1124-FBA4-E4E3E1FDE666}"/>
              </a:ext>
            </a:extLst>
          </p:cNvPr>
          <p:cNvSpPr txBox="1"/>
          <p:nvPr/>
        </p:nvSpPr>
        <p:spPr>
          <a:xfrm>
            <a:off x="1193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Faster Root-Cause Analysis</a:t>
            </a:r>
          </a:p>
        </p:txBody>
      </p:sp>
      <p:sp>
        <p:nvSpPr>
          <p:cNvPr id="33" name="TextBox 32">
            <a:extLst>
              <a:ext uri="{FF2B5EF4-FFF2-40B4-BE49-F238E27FC236}">
                <a16:creationId xmlns:a16="http://schemas.microsoft.com/office/drawing/2014/main" id="{5313A6C6-0195-0907-D22B-DD03245C7533}"/>
              </a:ext>
            </a:extLst>
          </p:cNvPr>
          <p:cNvSpPr txBox="1"/>
          <p:nvPr/>
        </p:nvSpPr>
        <p:spPr>
          <a:xfrm>
            <a:off x="1193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Trace issues from line to feeder, nozzle, or part.</a:t>
            </a:r>
          </a:p>
        </p:txBody>
      </p:sp>
      <p:sp>
        <p:nvSpPr>
          <p:cNvPr id="34" name="Rectangle: Rounded Corners 33">
            <a:extLst>
              <a:ext uri="{FF2B5EF4-FFF2-40B4-BE49-F238E27FC236}">
                <a16:creationId xmlns:a16="http://schemas.microsoft.com/office/drawing/2014/main" id="{8801E848-B2C7-95A3-7434-20BF4EE4DBAD}"/>
              </a:ext>
            </a:extLst>
          </p:cNvPr>
          <p:cNvSpPr/>
          <p:nvPr/>
        </p:nvSpPr>
        <p:spPr>
          <a:xfrm>
            <a:off x="9144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57D452-D35C-48DD-0B3F-30C0A7174A1D}"/>
              </a:ext>
            </a:extLst>
          </p:cNvPr>
          <p:cNvSpPr/>
          <p:nvPr/>
        </p:nvSpPr>
        <p:spPr>
          <a:xfrm>
            <a:off x="9144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6581C80F-10FB-E4F5-FF96-D7C8BE85AAB7}"/>
              </a:ext>
            </a:extLst>
          </p:cNvPr>
          <p:cNvSpPr/>
          <p:nvPr/>
        </p:nvSpPr>
        <p:spPr>
          <a:xfrm>
            <a:off x="9448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FBCE671-9B57-B70D-FA6B-F3653AB287EC}"/>
              </a:ext>
            </a:extLst>
          </p:cNvPr>
          <p:cNvSpPr txBox="1"/>
          <p:nvPr/>
        </p:nvSpPr>
        <p:spPr>
          <a:xfrm>
            <a:off x="9550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8" name="TextBox 37">
            <a:extLst>
              <a:ext uri="{FF2B5EF4-FFF2-40B4-BE49-F238E27FC236}">
                <a16:creationId xmlns:a16="http://schemas.microsoft.com/office/drawing/2014/main" id="{1AD68464-A597-4DB2-70D9-2F7E54C7F281}"/>
              </a:ext>
            </a:extLst>
          </p:cNvPr>
          <p:cNvSpPr txBox="1"/>
          <p:nvPr/>
        </p:nvSpPr>
        <p:spPr>
          <a:xfrm>
            <a:off x="9448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Flexible Sharing</a:t>
            </a:r>
          </a:p>
        </p:txBody>
      </p:sp>
      <p:sp>
        <p:nvSpPr>
          <p:cNvPr id="39" name="TextBox 38">
            <a:extLst>
              <a:ext uri="{FF2B5EF4-FFF2-40B4-BE49-F238E27FC236}">
                <a16:creationId xmlns:a16="http://schemas.microsoft.com/office/drawing/2014/main" id="{0F6F1752-D405-AA97-B43A-E01C73BEE080}"/>
              </a:ext>
            </a:extLst>
          </p:cNvPr>
          <p:cNvSpPr txBox="1"/>
          <p:nvPr/>
        </p:nvSpPr>
        <p:spPr>
          <a:xfrm>
            <a:off x="9448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Export filtered results in an Excel-compatible format.</a:t>
            </a:r>
          </a:p>
        </p:txBody>
      </p:sp>
      <p:sp>
        <p:nvSpPr>
          <p:cNvPr id="3" name="TextBox 2">
            <a:extLst>
              <a:ext uri="{FF2B5EF4-FFF2-40B4-BE49-F238E27FC236}">
                <a16:creationId xmlns:a16="http://schemas.microsoft.com/office/drawing/2014/main" id="{340B5E39-BC83-6223-E37E-CDD37170AC4D}"/>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MPO</a:t>
            </a:r>
          </a:p>
        </p:txBody>
      </p:sp>
      <p:cxnSp>
        <p:nvCxnSpPr>
          <p:cNvPr id="40" name="Straight Connector 39">
            <a:extLst>
              <a:ext uri="{FF2B5EF4-FFF2-40B4-BE49-F238E27FC236}">
                <a16:creationId xmlns:a16="http://schemas.microsoft.com/office/drawing/2014/main" id="{A3987649-A7E1-A85B-ADCF-4869C7F6183E}"/>
              </a:ext>
            </a:extLst>
          </p:cNvPr>
          <p:cNvCxnSpPr/>
          <p:nvPr/>
        </p:nvCxnSpPr>
        <p:spPr>
          <a:xfrm>
            <a:off x="55349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43144A39-FC13-60BA-B7B6-F4407497390D}"/>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42" name="TextBox 41">
            <a:extLst>
              <a:ext uri="{FF2B5EF4-FFF2-40B4-BE49-F238E27FC236}">
                <a16:creationId xmlns:a16="http://schemas.microsoft.com/office/drawing/2014/main" id="{384416EE-0E9C-1F32-9B45-0E39E42C1546}"/>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43" name="TextBox 42">
            <a:extLst>
              <a:ext uri="{FF2B5EF4-FFF2-40B4-BE49-F238E27FC236}">
                <a16:creationId xmlns:a16="http://schemas.microsoft.com/office/drawing/2014/main" id="{31521B3B-456D-E460-560B-0004D055AC4F}"/>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Tree>
    <p:extLst>
      <p:ext uri="{BB962C8B-B14F-4D97-AF65-F5344CB8AC3E}">
        <p14:creationId xmlns:p14="http://schemas.microsoft.com/office/powerpoint/2010/main" val="94302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B03D263E-EFFA-2511-C4D2-127335981398}"/>
              </a:ext>
            </a:extLst>
          </p:cNvPr>
          <p:cNvSpPr/>
          <p:nvPr/>
        </p:nvSpPr>
        <p:spPr>
          <a:xfrm>
            <a:off x="647700" y="301254"/>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102C5F7F-3654-A247-8CA1-79EC88558F82}"/>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04</a:t>
            </a:r>
          </a:p>
        </p:txBody>
      </p:sp>
      <p:sp>
        <p:nvSpPr>
          <p:cNvPr id="11" name="TextBox 10">
            <a:extLst>
              <a:ext uri="{FF2B5EF4-FFF2-40B4-BE49-F238E27FC236}">
                <a16:creationId xmlns:a16="http://schemas.microsoft.com/office/drawing/2014/main" id="{3BB686C7-04F6-4507-8A4E-3BBD1992658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SYSTEM AT A GLANCE</a:t>
            </a:r>
          </a:p>
        </p:txBody>
      </p:sp>
      <p:sp>
        <p:nvSpPr>
          <p:cNvPr id="12" name="TextBox 11">
            <a:extLst>
              <a:ext uri="{FF2B5EF4-FFF2-40B4-BE49-F238E27FC236}">
                <a16:creationId xmlns:a16="http://schemas.microsoft.com/office/drawing/2014/main" id="{E2F0607C-09EE-DF8E-BB62-8C60F1C8E32A}"/>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One Architecture, One Data Flow</a:t>
            </a:r>
            <a:endParaRPr lang="en-US" sz="3400" b="1" dirty="0">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C61BB732-FE3D-F293-9775-77BEB96538E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3354F43-9385-C230-DB92-E3ADF70F7BA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D2FD1CE-9CFD-3EA2-0E7B-F42B2DE73E1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04</a:t>
            </a:r>
          </a:p>
        </p:txBody>
      </p:sp>
      <p:sp>
        <p:nvSpPr>
          <p:cNvPr id="16" name="Rectangle: Rounded Corners 15">
            <a:extLst>
              <a:ext uri="{FF2B5EF4-FFF2-40B4-BE49-F238E27FC236}">
                <a16:creationId xmlns:a16="http://schemas.microsoft.com/office/drawing/2014/main" id="{6BC277E7-9B7E-65DE-8BE8-CFEEBBF1E79E}"/>
              </a:ext>
            </a:extLst>
          </p:cNvPr>
          <p:cNvSpPr/>
          <p:nvPr/>
        </p:nvSpPr>
        <p:spPr>
          <a:xfrm>
            <a:off x="6985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2ECD2B-FE2B-1EBA-563E-28957C1DF217}"/>
              </a:ext>
            </a:extLst>
          </p:cNvPr>
          <p:cNvSpPr/>
          <p:nvPr/>
        </p:nvSpPr>
        <p:spPr>
          <a:xfrm>
            <a:off x="17018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F451115-ED2A-78A9-085A-038E2624C6FE}"/>
              </a:ext>
            </a:extLst>
          </p:cNvPr>
          <p:cNvSpPr txBox="1"/>
          <p:nvPr/>
        </p:nvSpPr>
        <p:spPr>
          <a:xfrm>
            <a:off x="18415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3E5C9E36-E478-9DF9-33C3-2C8ACC84B951}"/>
              </a:ext>
            </a:extLst>
          </p:cNvPr>
          <p:cNvSpPr txBox="1"/>
          <p:nvPr/>
        </p:nvSpPr>
        <p:spPr>
          <a:xfrm>
            <a:off x="9271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LNB</a:t>
            </a:r>
          </a:p>
        </p:txBody>
      </p:sp>
      <p:sp>
        <p:nvSpPr>
          <p:cNvPr id="20" name="TextBox 19">
            <a:extLst>
              <a:ext uri="{FF2B5EF4-FFF2-40B4-BE49-F238E27FC236}">
                <a16:creationId xmlns:a16="http://schemas.microsoft.com/office/drawing/2014/main" id="{1849379B-68BB-78E8-7B26-FEF36A3A0958}"/>
              </a:ext>
            </a:extLst>
          </p:cNvPr>
          <p:cNvSpPr txBox="1"/>
          <p:nvPr/>
        </p:nvSpPr>
        <p:spPr>
          <a:xfrm>
            <a:off x="9271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.u01 raw data</a:t>
            </a:r>
          </a:p>
        </p:txBody>
      </p:sp>
      <p:cxnSp>
        <p:nvCxnSpPr>
          <p:cNvPr id="21" name="Straight Connector 20">
            <a:extLst>
              <a:ext uri="{FF2B5EF4-FFF2-40B4-BE49-F238E27FC236}">
                <a16:creationId xmlns:a16="http://schemas.microsoft.com/office/drawing/2014/main" id="{F170928B-6C93-6082-BB07-7FCA6C891713}"/>
              </a:ext>
            </a:extLst>
          </p:cNvPr>
          <p:cNvCxnSpPr/>
          <p:nvPr/>
        </p:nvCxnSpPr>
        <p:spPr>
          <a:xfrm>
            <a:off x="34925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C4E5170-8A96-86C3-1178-00855E352A41}"/>
              </a:ext>
            </a:extLst>
          </p:cNvPr>
          <p:cNvSpPr/>
          <p:nvPr/>
        </p:nvSpPr>
        <p:spPr>
          <a:xfrm>
            <a:off x="41529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B080CAB-1FE0-78D0-E16E-0F7952269C88}"/>
              </a:ext>
            </a:extLst>
          </p:cNvPr>
          <p:cNvSpPr/>
          <p:nvPr/>
        </p:nvSpPr>
        <p:spPr>
          <a:xfrm>
            <a:off x="51562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F31BC67-9D13-6997-B340-4DCB208753C3}"/>
              </a:ext>
            </a:extLst>
          </p:cNvPr>
          <p:cNvSpPr txBox="1"/>
          <p:nvPr/>
        </p:nvSpPr>
        <p:spPr>
          <a:xfrm>
            <a:off x="52959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D3041744-6078-F1F2-4AA7-ECF3FC90BAE9}"/>
              </a:ext>
            </a:extLst>
          </p:cNvPr>
          <p:cNvSpPr txBox="1"/>
          <p:nvPr/>
        </p:nvSpPr>
        <p:spPr>
          <a:xfrm>
            <a:off x="43815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SFTP</a:t>
            </a:r>
          </a:p>
        </p:txBody>
      </p:sp>
      <p:sp>
        <p:nvSpPr>
          <p:cNvPr id="26" name="TextBox 25">
            <a:extLst>
              <a:ext uri="{FF2B5EF4-FFF2-40B4-BE49-F238E27FC236}">
                <a16:creationId xmlns:a16="http://schemas.microsoft.com/office/drawing/2014/main" id="{D51C4DD3-ED79-8CC6-B3CC-C7AACB617C8B}"/>
              </a:ext>
            </a:extLst>
          </p:cNvPr>
          <p:cNvSpPr txBox="1"/>
          <p:nvPr/>
        </p:nvSpPr>
        <p:spPr>
          <a:xfrm>
            <a:off x="43815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Secure transfer</a:t>
            </a:r>
          </a:p>
        </p:txBody>
      </p:sp>
      <p:cxnSp>
        <p:nvCxnSpPr>
          <p:cNvPr id="27" name="Straight Connector 26">
            <a:extLst>
              <a:ext uri="{FF2B5EF4-FFF2-40B4-BE49-F238E27FC236}">
                <a16:creationId xmlns:a16="http://schemas.microsoft.com/office/drawing/2014/main" id="{2CC4DD4E-4FED-D1AD-C930-7145F155D6C0}"/>
              </a:ext>
            </a:extLst>
          </p:cNvPr>
          <p:cNvCxnSpPr/>
          <p:nvPr/>
        </p:nvCxnSpPr>
        <p:spPr>
          <a:xfrm>
            <a:off x="69469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09663B93-4823-C645-3788-D7A7E108DE91}"/>
              </a:ext>
            </a:extLst>
          </p:cNvPr>
          <p:cNvSpPr/>
          <p:nvPr/>
        </p:nvSpPr>
        <p:spPr>
          <a:xfrm>
            <a:off x="76073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B4A51C6-7890-32B5-F928-5191E769C9A4}"/>
              </a:ext>
            </a:extLst>
          </p:cNvPr>
          <p:cNvSpPr/>
          <p:nvPr/>
        </p:nvSpPr>
        <p:spPr>
          <a:xfrm>
            <a:off x="86106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38B5DC7-E57E-203E-6A3F-43A26D5A2079}"/>
              </a:ext>
            </a:extLst>
          </p:cNvPr>
          <p:cNvSpPr txBox="1"/>
          <p:nvPr/>
        </p:nvSpPr>
        <p:spPr>
          <a:xfrm>
            <a:off x="87503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63580953-F0DE-474F-02F8-0809789873CE}"/>
              </a:ext>
            </a:extLst>
          </p:cNvPr>
          <p:cNvSpPr txBox="1"/>
          <p:nvPr/>
        </p:nvSpPr>
        <p:spPr>
          <a:xfrm>
            <a:off x="78359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Node-RED</a:t>
            </a:r>
          </a:p>
        </p:txBody>
      </p:sp>
      <p:sp>
        <p:nvSpPr>
          <p:cNvPr id="32" name="TextBox 31">
            <a:extLst>
              <a:ext uri="{FF2B5EF4-FFF2-40B4-BE49-F238E27FC236}">
                <a16:creationId xmlns:a16="http://schemas.microsoft.com/office/drawing/2014/main" id="{FD487103-7F86-91DB-6E4B-A37AF0B24350}"/>
              </a:ext>
            </a:extLst>
          </p:cNvPr>
          <p:cNvSpPr txBox="1"/>
          <p:nvPr/>
        </p:nvSpPr>
        <p:spPr>
          <a:xfrm>
            <a:off x="78359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Parse + delta</a:t>
            </a:r>
          </a:p>
        </p:txBody>
      </p:sp>
      <p:cxnSp>
        <p:nvCxnSpPr>
          <p:cNvPr id="33" name="Straight Connector 32">
            <a:extLst>
              <a:ext uri="{FF2B5EF4-FFF2-40B4-BE49-F238E27FC236}">
                <a16:creationId xmlns:a16="http://schemas.microsoft.com/office/drawing/2014/main" id="{41864491-24D8-0A30-883D-86CC2702BC41}"/>
              </a:ext>
            </a:extLst>
          </p:cNvPr>
          <p:cNvCxnSpPr/>
          <p:nvPr/>
        </p:nvCxnSpPr>
        <p:spPr>
          <a:xfrm>
            <a:off x="104013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2370E711-AAFB-13EE-D09B-5EE4B9374401}"/>
              </a:ext>
            </a:extLst>
          </p:cNvPr>
          <p:cNvSpPr/>
          <p:nvPr/>
        </p:nvSpPr>
        <p:spPr>
          <a:xfrm>
            <a:off x="110617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231798D-E736-D9F1-F0A7-3F6E16A59F09}"/>
              </a:ext>
            </a:extLst>
          </p:cNvPr>
          <p:cNvSpPr/>
          <p:nvPr/>
        </p:nvSpPr>
        <p:spPr>
          <a:xfrm>
            <a:off x="120650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91D44BA-B74B-F67F-D027-C2179C6A3AA1}"/>
              </a:ext>
            </a:extLst>
          </p:cNvPr>
          <p:cNvSpPr txBox="1"/>
          <p:nvPr/>
        </p:nvSpPr>
        <p:spPr>
          <a:xfrm>
            <a:off x="122047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74D480B9-4C3C-AC21-784F-55DC3D40FFE0}"/>
              </a:ext>
            </a:extLst>
          </p:cNvPr>
          <p:cNvSpPr txBox="1"/>
          <p:nvPr/>
        </p:nvSpPr>
        <p:spPr>
          <a:xfrm>
            <a:off x="112903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PostgreSQL</a:t>
            </a:r>
          </a:p>
        </p:txBody>
      </p:sp>
      <p:sp>
        <p:nvSpPr>
          <p:cNvPr id="38" name="TextBox 37">
            <a:extLst>
              <a:ext uri="{FF2B5EF4-FFF2-40B4-BE49-F238E27FC236}">
                <a16:creationId xmlns:a16="http://schemas.microsoft.com/office/drawing/2014/main" id="{097907A9-27CD-2B47-C4C0-EA68B74ED31D}"/>
              </a:ext>
            </a:extLst>
          </p:cNvPr>
          <p:cNvSpPr txBox="1"/>
          <p:nvPr/>
        </p:nvSpPr>
        <p:spPr>
          <a:xfrm>
            <a:off x="112903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Store + state</a:t>
            </a:r>
          </a:p>
        </p:txBody>
      </p:sp>
      <p:cxnSp>
        <p:nvCxnSpPr>
          <p:cNvPr id="39" name="Straight Connector 38">
            <a:extLst>
              <a:ext uri="{FF2B5EF4-FFF2-40B4-BE49-F238E27FC236}">
                <a16:creationId xmlns:a16="http://schemas.microsoft.com/office/drawing/2014/main" id="{AB89B26A-26C6-61DE-E47C-D375DA0E4419}"/>
              </a:ext>
            </a:extLst>
          </p:cNvPr>
          <p:cNvCxnSpPr/>
          <p:nvPr/>
        </p:nvCxnSpPr>
        <p:spPr>
          <a:xfrm>
            <a:off x="138557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1AE01C2A-20A4-C469-BFD7-FCFF5353CB3A}"/>
              </a:ext>
            </a:extLst>
          </p:cNvPr>
          <p:cNvSpPr/>
          <p:nvPr/>
        </p:nvSpPr>
        <p:spPr>
          <a:xfrm>
            <a:off x="145161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EA5C6BF-F4B3-6BBA-8976-9F983DFA5846}"/>
              </a:ext>
            </a:extLst>
          </p:cNvPr>
          <p:cNvSpPr/>
          <p:nvPr/>
        </p:nvSpPr>
        <p:spPr>
          <a:xfrm>
            <a:off x="155194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2ED5B433-3A63-DCEC-C95F-F1D2B13FD87D}"/>
              </a:ext>
            </a:extLst>
          </p:cNvPr>
          <p:cNvSpPr txBox="1"/>
          <p:nvPr/>
        </p:nvSpPr>
        <p:spPr>
          <a:xfrm>
            <a:off x="156591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05</a:t>
            </a:r>
          </a:p>
        </p:txBody>
      </p:sp>
      <p:sp>
        <p:nvSpPr>
          <p:cNvPr id="43" name="TextBox 42">
            <a:extLst>
              <a:ext uri="{FF2B5EF4-FFF2-40B4-BE49-F238E27FC236}">
                <a16:creationId xmlns:a16="http://schemas.microsoft.com/office/drawing/2014/main" id="{E83F70ED-F796-A89A-05FE-54BF78E54B01}"/>
              </a:ext>
            </a:extLst>
          </p:cNvPr>
          <p:cNvSpPr txBox="1"/>
          <p:nvPr/>
        </p:nvSpPr>
        <p:spPr>
          <a:xfrm>
            <a:off x="147447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Web MPO</a:t>
            </a:r>
          </a:p>
        </p:txBody>
      </p:sp>
      <p:sp>
        <p:nvSpPr>
          <p:cNvPr id="44" name="TextBox 43">
            <a:extLst>
              <a:ext uri="{FF2B5EF4-FFF2-40B4-BE49-F238E27FC236}">
                <a16:creationId xmlns:a16="http://schemas.microsoft.com/office/drawing/2014/main" id="{6130396F-10CE-8682-89EC-DD2BFFD42299}"/>
              </a:ext>
            </a:extLst>
          </p:cNvPr>
          <p:cNvSpPr txBox="1"/>
          <p:nvPr/>
        </p:nvSpPr>
        <p:spPr>
          <a:xfrm>
            <a:off x="147447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Dashboard + export</a:t>
            </a:r>
          </a:p>
        </p:txBody>
      </p:sp>
      <p:sp>
        <p:nvSpPr>
          <p:cNvPr id="45" name="Rectangle: Rounded Corners 44">
            <a:extLst>
              <a:ext uri="{FF2B5EF4-FFF2-40B4-BE49-F238E27FC236}">
                <a16:creationId xmlns:a16="http://schemas.microsoft.com/office/drawing/2014/main" id="{39E4AB2C-CBFD-4469-4897-08E18C19D956}"/>
              </a:ext>
            </a:extLst>
          </p:cNvPr>
          <p:cNvSpPr/>
          <p:nvPr/>
        </p:nvSpPr>
        <p:spPr>
          <a:xfrm>
            <a:off x="8124210" y="6283354"/>
            <a:ext cx="1905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49AB1D2-EFB3-CAEC-DD3B-F973A826D75F}"/>
              </a:ext>
            </a:extLst>
          </p:cNvPr>
          <p:cNvSpPr txBox="1"/>
          <p:nvPr/>
        </p:nvSpPr>
        <p:spPr>
          <a:xfrm>
            <a:off x="8225810" y="6359554"/>
            <a:ext cx="1701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AUTOMATED</a:t>
            </a:r>
          </a:p>
        </p:txBody>
      </p:sp>
      <p:sp>
        <p:nvSpPr>
          <p:cNvPr id="47" name="TextBox 46">
            <a:extLst>
              <a:ext uri="{FF2B5EF4-FFF2-40B4-BE49-F238E27FC236}">
                <a16:creationId xmlns:a16="http://schemas.microsoft.com/office/drawing/2014/main" id="{4CCB24AA-1143-CE18-C718-13E6BFE5CB4D}"/>
              </a:ext>
            </a:extLst>
          </p:cNvPr>
          <p:cNvSpPr txBox="1"/>
          <p:nvPr/>
        </p:nvSpPr>
        <p:spPr>
          <a:xfrm>
            <a:off x="3873500" y="7366000"/>
            <a:ext cx="10541000" cy="307777"/>
          </a:xfrm>
          <a:prstGeom prst="rect">
            <a:avLst/>
          </a:prstGeom>
          <a:noFill/>
        </p:spPr>
        <p:txBody>
          <a:bodyPr vert="horz" wrap="square" lIns="0" tIns="0" rIns="0" bIns="0" rtlCol="0">
            <a:spAutoFit/>
          </a:bodyPr>
          <a:lstStyle/>
          <a:p>
            <a:pPr algn="ctr"/>
            <a:r>
              <a:rPr lang="en-US" sz="2000">
                <a:solidFill>
                  <a:srgbClr val="E6F0FA"/>
                </a:solidFill>
                <a:latin typeface="Arial" panose="020B0604020202020204" pitchFamily="34" charset="0"/>
              </a:rPr>
              <a:t>No manual file handling is needed after data enters PostgreSQL.</a:t>
            </a:r>
          </a:p>
        </p:txBody>
      </p:sp>
      <p:sp>
        <p:nvSpPr>
          <p:cNvPr id="52" name="TextBox 51">
            <a:extLst>
              <a:ext uri="{FF2B5EF4-FFF2-40B4-BE49-F238E27FC236}">
                <a16:creationId xmlns:a16="http://schemas.microsoft.com/office/drawing/2014/main" id="{A1933D0A-4B16-8937-FFDE-AA4BE0B8A55D}"/>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MPO</a:t>
            </a:r>
          </a:p>
        </p:txBody>
      </p:sp>
      <p:cxnSp>
        <p:nvCxnSpPr>
          <p:cNvPr id="53" name="Straight Connector 52">
            <a:extLst>
              <a:ext uri="{FF2B5EF4-FFF2-40B4-BE49-F238E27FC236}">
                <a16:creationId xmlns:a16="http://schemas.microsoft.com/office/drawing/2014/main" id="{9B34E447-D337-B235-A578-F3F842DF06D1}"/>
              </a:ext>
            </a:extLst>
          </p:cNvPr>
          <p:cNvCxnSpPr/>
          <p:nvPr/>
        </p:nvCxnSpPr>
        <p:spPr>
          <a:xfrm>
            <a:off x="55349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B80AA3B1-E376-6D42-52DB-457F83C0589A}"/>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55" name="TextBox 54">
            <a:extLst>
              <a:ext uri="{FF2B5EF4-FFF2-40B4-BE49-F238E27FC236}">
                <a16:creationId xmlns:a16="http://schemas.microsoft.com/office/drawing/2014/main" id="{24F7D7B6-D30F-96D0-C5D3-078BA550C305}"/>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56" name="TextBox 55">
            <a:extLst>
              <a:ext uri="{FF2B5EF4-FFF2-40B4-BE49-F238E27FC236}">
                <a16:creationId xmlns:a16="http://schemas.microsoft.com/office/drawing/2014/main" id="{282D4EFC-D36C-7E06-A833-8CA9D9C30B7D}"/>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Tree>
    <p:extLst>
      <p:ext uri="{BB962C8B-B14F-4D97-AF65-F5344CB8AC3E}">
        <p14:creationId xmlns:p14="http://schemas.microsoft.com/office/powerpoint/2010/main" val="79380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55A00280-16FD-0984-8D8D-C99CB4D12C09}"/>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57510546-6F51-C25E-7D6F-40E60F5B003E}"/>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05</a:t>
            </a:r>
          </a:p>
        </p:txBody>
      </p:sp>
      <p:sp>
        <p:nvSpPr>
          <p:cNvPr id="11" name="TextBox 10">
            <a:extLst>
              <a:ext uri="{FF2B5EF4-FFF2-40B4-BE49-F238E27FC236}">
                <a16:creationId xmlns:a16="http://schemas.microsoft.com/office/drawing/2014/main" id="{70740AAC-67AB-52DA-29B6-5F3C059D48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CORE PROCESSING LOGIC</a:t>
            </a:r>
          </a:p>
        </p:txBody>
      </p:sp>
      <p:sp>
        <p:nvSpPr>
          <p:cNvPr id="12" name="TextBox 11">
            <a:extLst>
              <a:ext uri="{FF2B5EF4-FFF2-40B4-BE49-F238E27FC236}">
                <a16:creationId xmlns:a16="http://schemas.microsoft.com/office/drawing/2014/main" id="{88DEA38F-5477-E1C1-0418-E8620F27B42F}"/>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Delta Counters Preserve Actual Output</a:t>
            </a:r>
          </a:p>
        </p:txBody>
      </p:sp>
      <p:cxnSp>
        <p:nvCxnSpPr>
          <p:cNvPr id="13" name="Straight Connector 12">
            <a:extLst>
              <a:ext uri="{FF2B5EF4-FFF2-40B4-BE49-F238E27FC236}">
                <a16:creationId xmlns:a16="http://schemas.microsoft.com/office/drawing/2014/main" id="{6C74D776-644F-8B13-4B79-BF0358175AC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D6FC44A-26F1-242D-869B-969366616FE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1290084-4E5C-687E-8C69-65224501A43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05</a:t>
            </a:r>
          </a:p>
        </p:txBody>
      </p:sp>
      <p:sp>
        <p:nvSpPr>
          <p:cNvPr id="16" name="Rectangle: Rounded Corners 15">
            <a:extLst>
              <a:ext uri="{FF2B5EF4-FFF2-40B4-BE49-F238E27FC236}">
                <a16:creationId xmlns:a16="http://schemas.microsoft.com/office/drawing/2014/main" id="{983166A6-3005-5EF3-FE14-7E71C8AB5B69}"/>
              </a:ext>
            </a:extLst>
          </p:cNvPr>
          <p:cNvSpPr/>
          <p:nvPr/>
        </p:nvSpPr>
        <p:spPr>
          <a:xfrm>
            <a:off x="889000" y="2984500"/>
            <a:ext cx="6858000" cy="39370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CD71FCA-D609-586A-3325-609297A2A1E9}"/>
              </a:ext>
            </a:extLst>
          </p:cNvPr>
          <p:cNvSpPr txBox="1"/>
          <p:nvPr/>
        </p:nvSpPr>
        <p:spPr>
          <a:xfrm>
            <a:off x="1333500" y="3492500"/>
            <a:ext cx="2159000" cy="523220"/>
          </a:xfrm>
          <a:prstGeom prst="rect">
            <a:avLst/>
          </a:prstGeom>
          <a:noFill/>
        </p:spPr>
        <p:txBody>
          <a:bodyPr vert="horz" wrap="square" lIns="0" tIns="0" rIns="0" bIns="0" rtlCol="0">
            <a:spAutoFit/>
          </a:bodyPr>
          <a:lstStyle/>
          <a:p>
            <a:r>
              <a:rPr lang="en-US" sz="3400" b="1">
                <a:solidFill>
                  <a:srgbClr val="00E6F0"/>
                </a:solidFill>
                <a:latin typeface="Arial" panose="020B0604020202020204" pitchFamily="34" charset="0"/>
              </a:rPr>
              <a:t>DELTA</a:t>
            </a:r>
          </a:p>
        </p:txBody>
      </p:sp>
      <p:sp>
        <p:nvSpPr>
          <p:cNvPr id="18" name="TextBox 17">
            <a:extLst>
              <a:ext uri="{FF2B5EF4-FFF2-40B4-BE49-F238E27FC236}">
                <a16:creationId xmlns:a16="http://schemas.microsoft.com/office/drawing/2014/main" id="{B829402A-1C78-A6E5-068A-C92B793F9D1C}"/>
              </a:ext>
            </a:extLst>
          </p:cNvPr>
          <p:cNvSpPr txBox="1"/>
          <p:nvPr/>
        </p:nvSpPr>
        <p:spPr>
          <a:xfrm>
            <a:off x="1333500" y="4254500"/>
            <a:ext cx="5588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 Current counter − Previous counter</a:t>
            </a:r>
          </a:p>
        </p:txBody>
      </p:sp>
      <p:cxnSp>
        <p:nvCxnSpPr>
          <p:cNvPr id="19" name="Straight Connector 18">
            <a:extLst>
              <a:ext uri="{FF2B5EF4-FFF2-40B4-BE49-F238E27FC236}">
                <a16:creationId xmlns:a16="http://schemas.microsoft.com/office/drawing/2014/main" id="{0073C76C-1448-64A9-025F-60A91878CCAF}"/>
              </a:ext>
            </a:extLst>
          </p:cNvPr>
          <p:cNvCxnSpPr/>
          <p:nvPr/>
        </p:nvCxnSpPr>
        <p:spPr>
          <a:xfrm>
            <a:off x="1333500" y="4978400"/>
            <a:ext cx="54610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D97D34C-D537-9AEE-D112-EDF74C333725}"/>
              </a:ext>
            </a:extLst>
          </p:cNvPr>
          <p:cNvSpPr txBox="1"/>
          <p:nvPr/>
        </p:nvSpPr>
        <p:spPr>
          <a:xfrm>
            <a:off x="1333500" y="5334000"/>
            <a:ext cx="1905000" cy="230832"/>
          </a:xfrm>
          <a:prstGeom prst="rect">
            <a:avLst/>
          </a:prstGeom>
          <a:noFill/>
        </p:spPr>
        <p:txBody>
          <a:bodyPr vert="horz" wrap="square" lIns="0" tIns="0" rIns="0" bIns="0" rtlCol="0">
            <a:spAutoFit/>
          </a:bodyPr>
          <a:lstStyle/>
          <a:p>
            <a:r>
              <a:rPr lang="en-US" sz="1500" b="1">
                <a:solidFill>
                  <a:srgbClr val="94A3B8"/>
                </a:solidFill>
                <a:latin typeface="Arial" panose="020B0604020202020204" pitchFamily="34" charset="0"/>
              </a:rPr>
              <a:t>Applied to</a:t>
            </a:r>
          </a:p>
        </p:txBody>
      </p:sp>
      <p:sp>
        <p:nvSpPr>
          <p:cNvPr id="21" name="TextBox 20">
            <a:extLst>
              <a:ext uri="{FF2B5EF4-FFF2-40B4-BE49-F238E27FC236}">
                <a16:creationId xmlns:a16="http://schemas.microsoft.com/office/drawing/2014/main" id="{A52489C2-56C1-8062-3A46-6A41D56801F7}"/>
              </a:ext>
            </a:extLst>
          </p:cNvPr>
          <p:cNvSpPr txBox="1"/>
          <p:nvPr/>
        </p:nvSpPr>
        <p:spPr>
          <a:xfrm>
            <a:off x="1333500" y="5778500"/>
            <a:ext cx="5461000" cy="307777"/>
          </a:xfrm>
          <a:prstGeom prst="rect">
            <a:avLst/>
          </a:prstGeom>
          <a:noFill/>
        </p:spPr>
        <p:txBody>
          <a:bodyPr vert="horz" wrap="square" lIns="0" tIns="0" rIns="0" bIns="0" rtlCol="0">
            <a:spAutoFit/>
          </a:bodyPr>
          <a:lstStyle/>
          <a:p>
            <a:r>
              <a:rPr lang="en-US" sz="2000">
                <a:solidFill>
                  <a:srgbClr val="E6F0FA"/>
                </a:solidFill>
                <a:latin typeface="Arial" panose="020B0604020202020204" pitchFamily="34" charset="0"/>
              </a:rPr>
              <a:t>Production • Time • Feeder • Nozzle</a:t>
            </a:r>
          </a:p>
        </p:txBody>
      </p:sp>
      <p:sp>
        <p:nvSpPr>
          <p:cNvPr id="22" name="Rectangle: Rounded Corners 21">
            <a:extLst>
              <a:ext uri="{FF2B5EF4-FFF2-40B4-BE49-F238E27FC236}">
                <a16:creationId xmlns:a16="http://schemas.microsoft.com/office/drawing/2014/main" id="{49320CAB-AC10-032E-1FEF-2A3BBBFE246B}"/>
              </a:ext>
            </a:extLst>
          </p:cNvPr>
          <p:cNvSpPr/>
          <p:nvPr/>
        </p:nvSpPr>
        <p:spPr>
          <a:xfrm>
            <a:off x="8636000" y="2984500"/>
            <a:ext cx="8763000" cy="1397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CC87957-6B98-4ACF-5FC7-F6BAAE640488}"/>
              </a:ext>
            </a:extLst>
          </p:cNvPr>
          <p:cNvSpPr txBox="1"/>
          <p:nvPr/>
        </p:nvSpPr>
        <p:spPr>
          <a:xfrm>
            <a:off x="9017000" y="3213100"/>
            <a:ext cx="2286000" cy="276999"/>
          </a:xfrm>
          <a:prstGeom prst="rect">
            <a:avLst/>
          </a:prstGeom>
          <a:noFill/>
        </p:spPr>
        <p:txBody>
          <a:bodyPr vert="horz" wrap="square" lIns="0" tIns="0" rIns="0" bIns="0" rtlCol="0">
            <a:spAutoFit/>
          </a:bodyPr>
          <a:lstStyle/>
          <a:p>
            <a:r>
              <a:rPr lang="en-US" b="1">
                <a:solidFill>
                  <a:srgbClr val="22C55E"/>
                </a:solidFill>
                <a:latin typeface="Arial" panose="020B0604020202020204" pitchFamily="34" charset="0"/>
              </a:rPr>
              <a:t>First Reading</a:t>
            </a:r>
          </a:p>
        </p:txBody>
      </p:sp>
      <p:sp>
        <p:nvSpPr>
          <p:cNvPr id="24" name="TextBox 23">
            <a:extLst>
              <a:ext uri="{FF2B5EF4-FFF2-40B4-BE49-F238E27FC236}">
                <a16:creationId xmlns:a16="http://schemas.microsoft.com/office/drawing/2014/main" id="{515B6B16-EA59-0BE7-2B55-035EC55C929F}"/>
              </a:ext>
            </a:extLst>
          </p:cNvPr>
          <p:cNvSpPr txBox="1"/>
          <p:nvPr/>
        </p:nvSpPr>
        <p:spPr>
          <a:xfrm>
            <a:off x="11620500" y="3213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25" name="TextBox 24">
            <a:extLst>
              <a:ext uri="{FF2B5EF4-FFF2-40B4-BE49-F238E27FC236}">
                <a16:creationId xmlns:a16="http://schemas.microsoft.com/office/drawing/2014/main" id="{57D2AA10-46C8-EC33-2935-CA7D8BBC0825}"/>
              </a:ext>
            </a:extLst>
          </p:cNvPr>
          <p:cNvSpPr txBox="1"/>
          <p:nvPr/>
        </p:nvSpPr>
        <p:spPr>
          <a:xfrm>
            <a:off x="9017000" y="3721100"/>
            <a:ext cx="7810500" cy="230832"/>
          </a:xfrm>
          <a:prstGeom prst="rect">
            <a:avLst/>
          </a:prstGeom>
          <a:noFill/>
        </p:spPr>
        <p:txBody>
          <a:bodyPr vert="horz" wrap="square" lIns="0" tIns="0" rIns="0" bIns="0" rtlCol="0">
            <a:spAutoFit/>
          </a:bodyPr>
          <a:lstStyle/>
          <a:p>
            <a:r>
              <a:rPr lang="vi-VN" sz="1500">
                <a:solidFill>
                  <a:srgbClr val="E6F0FA"/>
                </a:solidFill>
                <a:latin typeface="Arial" panose="020B0604020202020204" pitchFamily="34" charset="0"/>
              </a:rPr>
              <a:t>No previous state</a:t>
            </a:r>
            <a:endParaRPr lang="en-US" sz="1500">
              <a:solidFill>
                <a:srgbClr val="E6F0FA"/>
              </a:solidFill>
              <a:latin typeface="Arial" panose="020B0604020202020204" pitchFamily="34" charset="0"/>
            </a:endParaRPr>
          </a:p>
        </p:txBody>
      </p:sp>
      <p:sp>
        <p:nvSpPr>
          <p:cNvPr id="26" name="Rectangle: Rounded Corners 25">
            <a:extLst>
              <a:ext uri="{FF2B5EF4-FFF2-40B4-BE49-F238E27FC236}">
                <a16:creationId xmlns:a16="http://schemas.microsoft.com/office/drawing/2014/main" id="{74852AE7-1891-A037-62DF-5FCD9F21508E}"/>
              </a:ext>
            </a:extLst>
          </p:cNvPr>
          <p:cNvSpPr/>
          <p:nvPr/>
        </p:nvSpPr>
        <p:spPr>
          <a:xfrm>
            <a:off x="8636000" y="4699000"/>
            <a:ext cx="8763000" cy="1397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CFD4A37-9FFE-C435-38CE-9FDCF4407393}"/>
              </a:ext>
            </a:extLst>
          </p:cNvPr>
          <p:cNvSpPr txBox="1"/>
          <p:nvPr/>
        </p:nvSpPr>
        <p:spPr>
          <a:xfrm>
            <a:off x="9017000" y="4927600"/>
            <a:ext cx="2286000" cy="276999"/>
          </a:xfrm>
          <a:prstGeom prst="rect">
            <a:avLst/>
          </a:prstGeom>
          <a:noFill/>
        </p:spPr>
        <p:txBody>
          <a:bodyPr vert="horz" wrap="square" lIns="0" tIns="0" rIns="0" bIns="0" rtlCol="0">
            <a:spAutoFit/>
          </a:bodyPr>
          <a:lstStyle/>
          <a:p>
            <a:r>
              <a:rPr lang="vi-VN" b="1">
                <a:solidFill>
                  <a:srgbClr val="00E6F0"/>
                </a:solidFill>
                <a:latin typeface="Arial" panose="020B0604020202020204" pitchFamily="34" charset="0"/>
              </a:rPr>
              <a:t>Normal</a:t>
            </a:r>
            <a:endParaRPr lang="en-US" b="1">
              <a:solidFill>
                <a:srgbClr val="00E6F0"/>
              </a:solidFill>
              <a:latin typeface="Arial" panose="020B0604020202020204" pitchFamily="34" charset="0"/>
            </a:endParaRPr>
          </a:p>
        </p:txBody>
      </p:sp>
      <p:sp>
        <p:nvSpPr>
          <p:cNvPr id="28" name="TextBox 27">
            <a:extLst>
              <a:ext uri="{FF2B5EF4-FFF2-40B4-BE49-F238E27FC236}">
                <a16:creationId xmlns:a16="http://schemas.microsoft.com/office/drawing/2014/main" id="{C352A76C-A196-CA71-43BA-4EC896559D7F}"/>
              </a:ext>
            </a:extLst>
          </p:cNvPr>
          <p:cNvSpPr txBox="1"/>
          <p:nvPr/>
        </p:nvSpPr>
        <p:spPr>
          <a:xfrm>
            <a:off x="11620500" y="49276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 − Previous</a:t>
            </a:r>
          </a:p>
        </p:txBody>
      </p:sp>
      <p:sp>
        <p:nvSpPr>
          <p:cNvPr id="29" name="TextBox 28">
            <a:extLst>
              <a:ext uri="{FF2B5EF4-FFF2-40B4-BE49-F238E27FC236}">
                <a16:creationId xmlns:a16="http://schemas.microsoft.com/office/drawing/2014/main" id="{6F335947-B81B-5752-CD18-6759C9CB9A95}"/>
              </a:ext>
            </a:extLst>
          </p:cNvPr>
          <p:cNvSpPr txBox="1"/>
          <p:nvPr/>
        </p:nvSpPr>
        <p:spPr>
          <a:xfrm>
            <a:off x="9017000" y="54356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Record only the increment</a:t>
            </a:r>
          </a:p>
        </p:txBody>
      </p:sp>
      <p:sp>
        <p:nvSpPr>
          <p:cNvPr id="30" name="Rectangle: Rounded Corners 29">
            <a:extLst>
              <a:ext uri="{FF2B5EF4-FFF2-40B4-BE49-F238E27FC236}">
                <a16:creationId xmlns:a16="http://schemas.microsoft.com/office/drawing/2014/main" id="{09D7C0DB-CE11-8AF5-1784-33886310C8AA}"/>
              </a:ext>
            </a:extLst>
          </p:cNvPr>
          <p:cNvSpPr/>
          <p:nvPr/>
        </p:nvSpPr>
        <p:spPr>
          <a:xfrm>
            <a:off x="8636000" y="6413500"/>
            <a:ext cx="8763000" cy="1397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3230DB1-C79B-CFE3-A8DD-A3F47E22EBE1}"/>
              </a:ext>
            </a:extLst>
          </p:cNvPr>
          <p:cNvSpPr txBox="1"/>
          <p:nvPr/>
        </p:nvSpPr>
        <p:spPr>
          <a:xfrm>
            <a:off x="9017000" y="6642100"/>
            <a:ext cx="2286000" cy="276999"/>
          </a:xfrm>
          <a:prstGeom prst="rect">
            <a:avLst/>
          </a:prstGeom>
          <a:noFill/>
        </p:spPr>
        <p:txBody>
          <a:bodyPr vert="horz" wrap="square" lIns="0" tIns="0" rIns="0" bIns="0" rtlCol="0">
            <a:spAutoFit/>
          </a:bodyPr>
          <a:lstStyle/>
          <a:p>
            <a:r>
              <a:rPr lang="en-US" b="1">
                <a:solidFill>
                  <a:srgbClr val="F59E0B"/>
                </a:solidFill>
                <a:latin typeface="Arial" panose="020B0604020202020204" pitchFamily="34" charset="0"/>
              </a:rPr>
              <a:t>Counter reset</a:t>
            </a:r>
          </a:p>
        </p:txBody>
      </p:sp>
      <p:sp>
        <p:nvSpPr>
          <p:cNvPr id="32" name="TextBox 31">
            <a:extLst>
              <a:ext uri="{FF2B5EF4-FFF2-40B4-BE49-F238E27FC236}">
                <a16:creationId xmlns:a16="http://schemas.microsoft.com/office/drawing/2014/main" id="{A0F07EB5-E7B6-3500-16CB-8772A139E5FF}"/>
              </a:ext>
            </a:extLst>
          </p:cNvPr>
          <p:cNvSpPr txBox="1"/>
          <p:nvPr/>
        </p:nvSpPr>
        <p:spPr>
          <a:xfrm>
            <a:off x="11620500" y="6642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33" name="TextBox 32">
            <a:extLst>
              <a:ext uri="{FF2B5EF4-FFF2-40B4-BE49-F238E27FC236}">
                <a16:creationId xmlns:a16="http://schemas.microsoft.com/office/drawing/2014/main" id="{3788BC96-AA9E-0C8F-995F-E84CD6D00B8A}"/>
              </a:ext>
            </a:extLst>
          </p:cNvPr>
          <p:cNvSpPr txBox="1"/>
          <p:nvPr/>
        </p:nvSpPr>
        <p:spPr>
          <a:xfrm>
            <a:off x="9017000" y="71501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Current &lt; Previous</a:t>
            </a:r>
          </a:p>
        </p:txBody>
      </p:sp>
      <p:sp>
        <p:nvSpPr>
          <p:cNvPr id="34" name="TextBox 33">
            <a:extLst>
              <a:ext uri="{FF2B5EF4-FFF2-40B4-BE49-F238E27FC236}">
                <a16:creationId xmlns:a16="http://schemas.microsoft.com/office/drawing/2014/main" id="{86A03FE7-C225-8482-D04A-69D2CA24159F}"/>
              </a:ext>
            </a:extLst>
          </p:cNvPr>
          <p:cNvSpPr txBox="1"/>
          <p:nvPr/>
        </p:nvSpPr>
        <p:spPr>
          <a:xfrm>
            <a:off x="889000" y="8255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Prevent double counting • Handle machine resets • Maintain cycle accuracy</a:t>
            </a:r>
            <a:endParaRPr lang="en-US" b="1" dirty="0">
              <a:solidFill>
                <a:srgbClr val="00E6F0"/>
              </a:solidFill>
              <a:latin typeface="Arial" panose="020B0604020202020204" pitchFamily="34" charset="0"/>
            </a:endParaRPr>
          </a:p>
        </p:txBody>
      </p:sp>
      <p:sp>
        <p:nvSpPr>
          <p:cNvPr id="54" name="TextBox 53">
            <a:extLst>
              <a:ext uri="{FF2B5EF4-FFF2-40B4-BE49-F238E27FC236}">
                <a16:creationId xmlns:a16="http://schemas.microsoft.com/office/drawing/2014/main" id="{9FB95E3D-6A2F-30C7-6294-B4119A9632E6}"/>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5" name="TextBox 54">
            <a:extLst>
              <a:ext uri="{FF2B5EF4-FFF2-40B4-BE49-F238E27FC236}">
                <a16:creationId xmlns:a16="http://schemas.microsoft.com/office/drawing/2014/main" id="{510FB448-7082-511E-33E7-7A33FE4F57B6}"/>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PIPELINE</a:t>
            </a:r>
          </a:p>
        </p:txBody>
      </p:sp>
      <p:cxnSp>
        <p:nvCxnSpPr>
          <p:cNvPr id="56" name="Straight Connector 55">
            <a:extLst>
              <a:ext uri="{FF2B5EF4-FFF2-40B4-BE49-F238E27FC236}">
                <a16:creationId xmlns:a16="http://schemas.microsoft.com/office/drawing/2014/main" id="{4DFC8DD1-0B7B-4C28-264F-8FCCB6BBEE93}"/>
              </a:ext>
            </a:extLst>
          </p:cNvPr>
          <p:cNvCxnSpPr/>
          <p:nvPr/>
        </p:nvCxnSpPr>
        <p:spPr>
          <a:xfrm>
            <a:off x="71224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5BB6C8A4-A65C-88C3-A426-ACDA12A19BB1}"/>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58" name="TextBox 57">
            <a:extLst>
              <a:ext uri="{FF2B5EF4-FFF2-40B4-BE49-F238E27FC236}">
                <a16:creationId xmlns:a16="http://schemas.microsoft.com/office/drawing/2014/main" id="{A0331B45-AD2F-17E7-BFA8-0E500D26A667}"/>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Tree>
    <p:extLst>
      <p:ext uri="{BB962C8B-B14F-4D97-AF65-F5344CB8AC3E}">
        <p14:creationId xmlns:p14="http://schemas.microsoft.com/office/powerpoint/2010/main" val="1831266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1FC43651-BD83-2921-DF14-5539FFFB7F4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4" name="TextBox 3">
            <a:extLst>
              <a:ext uri="{FF2B5EF4-FFF2-40B4-BE49-F238E27FC236}">
                <a16:creationId xmlns:a16="http://schemas.microsoft.com/office/drawing/2014/main" id="{4C653529-C30B-5466-580A-34C713709C36}"/>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4EC71BD2-CD52-6E76-DE5E-13EC1E2D3DE9}"/>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3C282D3C-88EC-DB69-FDDB-A3849D411C34}"/>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DATABASE</a:t>
            </a:r>
          </a:p>
        </p:txBody>
      </p:sp>
      <p:cxnSp>
        <p:nvCxnSpPr>
          <p:cNvPr id="7" name="Straight Connector 6">
            <a:extLst>
              <a:ext uri="{FF2B5EF4-FFF2-40B4-BE49-F238E27FC236}">
                <a16:creationId xmlns:a16="http://schemas.microsoft.com/office/drawing/2014/main" id="{A432989E-2450-F6B3-321E-BF233C237BC7}"/>
              </a:ext>
            </a:extLst>
          </p:cNvPr>
          <p:cNvCxnSpPr/>
          <p:nvPr/>
        </p:nvCxnSpPr>
        <p:spPr>
          <a:xfrm>
            <a:off x="90909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42EBEBF-967C-4FD8-3F3A-9833BC0C9D46}"/>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10" name="TextBox 9">
            <a:extLst>
              <a:ext uri="{FF2B5EF4-FFF2-40B4-BE49-F238E27FC236}">
                <a16:creationId xmlns:a16="http://schemas.microsoft.com/office/drawing/2014/main" id="{7FB7F7CE-8034-6667-AAEE-1FF5A86F2050}"/>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06</a:t>
            </a:r>
          </a:p>
        </p:txBody>
      </p:sp>
      <p:sp>
        <p:nvSpPr>
          <p:cNvPr id="11" name="TextBox 10">
            <a:extLst>
              <a:ext uri="{FF2B5EF4-FFF2-40B4-BE49-F238E27FC236}">
                <a16:creationId xmlns:a16="http://schemas.microsoft.com/office/drawing/2014/main" id="{0042A110-6FC3-CFD2-2EFF-0AB9AB133C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POSTGRESQL DATA MODEL</a:t>
            </a:r>
          </a:p>
        </p:txBody>
      </p:sp>
      <p:sp>
        <p:nvSpPr>
          <p:cNvPr id="12" name="TextBox 11">
            <a:extLst>
              <a:ext uri="{FF2B5EF4-FFF2-40B4-BE49-F238E27FC236}">
                <a16:creationId xmlns:a16="http://schemas.microsoft.com/office/drawing/2014/main" id="{C84C8274-C9FD-2E7B-2CA3-057ADA83C856}"/>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Database Structure</a:t>
            </a:r>
            <a:endParaRPr lang="en-US" sz="3400" b="1" dirty="0">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FF859A35-D7BB-584D-08FD-B805FDDDFBF1}"/>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00862C3-214D-6963-E86C-32101533CD2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BCFF275-F396-F471-DF93-EF9B444CDCA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06</a:t>
            </a:r>
          </a:p>
        </p:txBody>
      </p:sp>
      <p:sp>
        <p:nvSpPr>
          <p:cNvPr id="16" name="Rectangle: Rounded Corners 15">
            <a:extLst>
              <a:ext uri="{FF2B5EF4-FFF2-40B4-BE49-F238E27FC236}">
                <a16:creationId xmlns:a16="http://schemas.microsoft.com/office/drawing/2014/main" id="{15BB5176-1D84-0741-00C8-0B85E2A055CF}"/>
              </a:ext>
            </a:extLst>
          </p:cNvPr>
          <p:cNvSpPr/>
          <p:nvPr/>
        </p:nvSpPr>
        <p:spPr>
          <a:xfrm>
            <a:off x="889000" y="3937000"/>
            <a:ext cx="3810000" cy="1968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C9265F-5A3E-0BCF-984E-8BE308F2BB5D}"/>
              </a:ext>
            </a:extLst>
          </p:cNvPr>
          <p:cNvSpPr/>
          <p:nvPr/>
        </p:nvSpPr>
        <p:spPr>
          <a:xfrm>
            <a:off x="889000" y="3937000"/>
            <a:ext cx="101600" cy="1968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D87CADF-474A-BD7E-6B14-416DC084D025}"/>
              </a:ext>
            </a:extLst>
          </p:cNvPr>
          <p:cNvSpPr/>
          <p:nvPr/>
        </p:nvSpPr>
        <p:spPr>
          <a:xfrm>
            <a:off x="1193800" y="416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FF50203-5305-8639-0767-BBF907A50113}"/>
              </a:ext>
            </a:extLst>
          </p:cNvPr>
          <p:cNvSpPr txBox="1"/>
          <p:nvPr/>
        </p:nvSpPr>
        <p:spPr>
          <a:xfrm>
            <a:off x="1295400" y="424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MASTER</a:t>
            </a:r>
          </a:p>
        </p:txBody>
      </p:sp>
      <p:sp>
        <p:nvSpPr>
          <p:cNvPr id="20" name="TextBox 19">
            <a:extLst>
              <a:ext uri="{FF2B5EF4-FFF2-40B4-BE49-F238E27FC236}">
                <a16:creationId xmlns:a16="http://schemas.microsoft.com/office/drawing/2014/main" id="{3B48AD29-A241-A81F-F314-12E9D8181EC0}"/>
              </a:ext>
            </a:extLst>
          </p:cNvPr>
          <p:cNvSpPr txBox="1"/>
          <p:nvPr/>
        </p:nvSpPr>
        <p:spPr>
          <a:xfrm>
            <a:off x="1193800" y="477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master_machines</a:t>
            </a:r>
          </a:p>
        </p:txBody>
      </p:sp>
      <p:sp>
        <p:nvSpPr>
          <p:cNvPr id="21" name="TextBox 20">
            <a:extLst>
              <a:ext uri="{FF2B5EF4-FFF2-40B4-BE49-F238E27FC236}">
                <a16:creationId xmlns:a16="http://schemas.microsoft.com/office/drawing/2014/main" id="{8EA050EF-BED2-A5AF-D6A4-A13ED8138314}"/>
              </a:ext>
            </a:extLst>
          </p:cNvPr>
          <p:cNvSpPr txBox="1"/>
          <p:nvPr/>
        </p:nvSpPr>
        <p:spPr>
          <a:xfrm>
            <a:off x="1193800" y="538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Standardized machine catalog</a:t>
            </a:r>
          </a:p>
        </p:txBody>
      </p:sp>
      <p:sp>
        <p:nvSpPr>
          <p:cNvPr id="22" name="Rectangle: Rounded Corners 21">
            <a:extLst>
              <a:ext uri="{FF2B5EF4-FFF2-40B4-BE49-F238E27FC236}">
                <a16:creationId xmlns:a16="http://schemas.microsoft.com/office/drawing/2014/main" id="{92D605A8-FE99-42B4-B006-AFBAD4BDCA23}"/>
              </a:ext>
            </a:extLst>
          </p:cNvPr>
          <p:cNvSpPr/>
          <p:nvPr/>
        </p:nvSpPr>
        <p:spPr>
          <a:xfrm>
            <a:off x="6921500" y="3175000"/>
            <a:ext cx="4445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09FB976-5DB4-75E2-51CF-EF42B68A59E6}"/>
              </a:ext>
            </a:extLst>
          </p:cNvPr>
          <p:cNvSpPr/>
          <p:nvPr/>
        </p:nvSpPr>
        <p:spPr>
          <a:xfrm>
            <a:off x="6921500" y="31750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CED61FC-D597-47D6-5B9D-214503542BDE}"/>
              </a:ext>
            </a:extLst>
          </p:cNvPr>
          <p:cNvSpPr/>
          <p:nvPr/>
        </p:nvSpPr>
        <p:spPr>
          <a:xfrm>
            <a:off x="72263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F83A2DC-30AE-D3CB-9DED-7A3EE106D792}"/>
              </a:ext>
            </a:extLst>
          </p:cNvPr>
          <p:cNvSpPr txBox="1"/>
          <p:nvPr/>
        </p:nvSpPr>
        <p:spPr>
          <a:xfrm>
            <a:off x="73279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FACT</a:t>
            </a:r>
          </a:p>
        </p:txBody>
      </p:sp>
      <p:sp>
        <p:nvSpPr>
          <p:cNvPr id="26" name="TextBox 25">
            <a:extLst>
              <a:ext uri="{FF2B5EF4-FFF2-40B4-BE49-F238E27FC236}">
                <a16:creationId xmlns:a16="http://schemas.microsoft.com/office/drawing/2014/main" id="{2CD112A2-5786-FB2B-D256-2C2D1FD7D43E}"/>
              </a:ext>
            </a:extLst>
          </p:cNvPr>
          <p:cNvSpPr txBox="1"/>
          <p:nvPr/>
        </p:nvSpPr>
        <p:spPr>
          <a:xfrm>
            <a:off x="7226300" y="4013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production_reports</a:t>
            </a:r>
          </a:p>
        </p:txBody>
      </p:sp>
      <p:sp>
        <p:nvSpPr>
          <p:cNvPr id="27" name="TextBox 26">
            <a:extLst>
              <a:ext uri="{FF2B5EF4-FFF2-40B4-BE49-F238E27FC236}">
                <a16:creationId xmlns:a16="http://schemas.microsoft.com/office/drawing/2014/main" id="{F6C01B76-3386-D1D1-0C72-5BEBFD45E73D}"/>
              </a:ext>
            </a:extLst>
          </p:cNvPr>
          <p:cNvSpPr txBox="1"/>
          <p:nvPr/>
        </p:nvSpPr>
        <p:spPr>
          <a:xfrm>
            <a:off x="7226300" y="4622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Central report history</a:t>
            </a:r>
          </a:p>
        </p:txBody>
      </p:sp>
      <p:sp>
        <p:nvSpPr>
          <p:cNvPr id="28" name="Rectangle: Rounded Corners 27">
            <a:extLst>
              <a:ext uri="{FF2B5EF4-FFF2-40B4-BE49-F238E27FC236}">
                <a16:creationId xmlns:a16="http://schemas.microsoft.com/office/drawing/2014/main" id="{93650E36-9478-5597-D6DD-DA1FACE6052E}"/>
              </a:ext>
            </a:extLst>
          </p:cNvPr>
          <p:cNvSpPr/>
          <p:nvPr/>
        </p:nvSpPr>
        <p:spPr>
          <a:xfrm>
            <a:off x="13589000" y="26670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E1A3AF8-F8C7-D9AA-2D2B-E0445569595F}"/>
              </a:ext>
            </a:extLst>
          </p:cNvPr>
          <p:cNvSpPr/>
          <p:nvPr/>
        </p:nvSpPr>
        <p:spPr>
          <a:xfrm>
            <a:off x="13589000" y="26670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D95B4DEF-1481-AD00-DDB5-B629787DB806}"/>
              </a:ext>
            </a:extLst>
          </p:cNvPr>
          <p:cNvSpPr/>
          <p:nvPr/>
        </p:nvSpPr>
        <p:spPr>
          <a:xfrm>
            <a:off x="13893800" y="289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7A19D31-B75D-D933-B776-76F123D9E1FA}"/>
              </a:ext>
            </a:extLst>
          </p:cNvPr>
          <p:cNvSpPr txBox="1"/>
          <p:nvPr/>
        </p:nvSpPr>
        <p:spPr>
          <a:xfrm>
            <a:off x="13995400" y="297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2" name="TextBox 31">
            <a:extLst>
              <a:ext uri="{FF2B5EF4-FFF2-40B4-BE49-F238E27FC236}">
                <a16:creationId xmlns:a16="http://schemas.microsoft.com/office/drawing/2014/main" id="{09C65F83-AAD5-38D1-E3B8-2E23E7ED1270}"/>
              </a:ext>
            </a:extLst>
          </p:cNvPr>
          <p:cNvSpPr txBox="1"/>
          <p:nvPr/>
        </p:nvSpPr>
        <p:spPr>
          <a:xfrm>
            <a:off x="13893800" y="350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feeder_logs</a:t>
            </a:r>
          </a:p>
        </p:txBody>
      </p:sp>
      <p:sp>
        <p:nvSpPr>
          <p:cNvPr id="33" name="TextBox 32">
            <a:extLst>
              <a:ext uri="{FF2B5EF4-FFF2-40B4-BE49-F238E27FC236}">
                <a16:creationId xmlns:a16="http://schemas.microsoft.com/office/drawing/2014/main" id="{AD7553FD-FBFE-1522-199B-79A50841C91A}"/>
              </a:ext>
            </a:extLst>
          </p:cNvPr>
          <p:cNvSpPr txBox="1"/>
          <p:nvPr/>
        </p:nvSpPr>
        <p:spPr>
          <a:xfrm>
            <a:off x="13893800" y="411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Feeder details by report</a:t>
            </a:r>
          </a:p>
        </p:txBody>
      </p:sp>
      <p:sp>
        <p:nvSpPr>
          <p:cNvPr id="34" name="Rectangle: Rounded Corners 33">
            <a:extLst>
              <a:ext uri="{FF2B5EF4-FFF2-40B4-BE49-F238E27FC236}">
                <a16:creationId xmlns:a16="http://schemas.microsoft.com/office/drawing/2014/main" id="{4C004D22-E1AA-2C9C-8856-8D4C0BF96467}"/>
              </a:ext>
            </a:extLst>
          </p:cNvPr>
          <p:cNvSpPr/>
          <p:nvPr/>
        </p:nvSpPr>
        <p:spPr>
          <a:xfrm>
            <a:off x="13589000" y="51435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31E285-1D6E-D2C9-2886-DF066A468F27}"/>
              </a:ext>
            </a:extLst>
          </p:cNvPr>
          <p:cNvSpPr/>
          <p:nvPr/>
        </p:nvSpPr>
        <p:spPr>
          <a:xfrm>
            <a:off x="13589000" y="51435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64B5598-D2B9-5A05-915A-00F4250BC594}"/>
              </a:ext>
            </a:extLst>
          </p:cNvPr>
          <p:cNvSpPr/>
          <p:nvPr/>
        </p:nvSpPr>
        <p:spPr>
          <a:xfrm>
            <a:off x="13893800" y="53721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69142E9-71A4-79F2-BCA9-4D01480A8DCC}"/>
              </a:ext>
            </a:extLst>
          </p:cNvPr>
          <p:cNvSpPr txBox="1"/>
          <p:nvPr/>
        </p:nvSpPr>
        <p:spPr>
          <a:xfrm>
            <a:off x="13995400" y="54483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8" name="TextBox 37">
            <a:extLst>
              <a:ext uri="{FF2B5EF4-FFF2-40B4-BE49-F238E27FC236}">
                <a16:creationId xmlns:a16="http://schemas.microsoft.com/office/drawing/2014/main" id="{5FE4FC4A-E961-CC82-B405-1893E017DFAF}"/>
              </a:ext>
            </a:extLst>
          </p:cNvPr>
          <p:cNvSpPr txBox="1"/>
          <p:nvPr/>
        </p:nvSpPr>
        <p:spPr>
          <a:xfrm>
            <a:off x="13893800" y="59817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nozzle_logs</a:t>
            </a:r>
          </a:p>
        </p:txBody>
      </p:sp>
      <p:sp>
        <p:nvSpPr>
          <p:cNvPr id="39" name="TextBox 38">
            <a:extLst>
              <a:ext uri="{FF2B5EF4-FFF2-40B4-BE49-F238E27FC236}">
                <a16:creationId xmlns:a16="http://schemas.microsoft.com/office/drawing/2014/main" id="{AC1E7591-E1AC-1AFF-7E5C-95FADFD8501D}"/>
              </a:ext>
            </a:extLst>
          </p:cNvPr>
          <p:cNvSpPr txBox="1"/>
          <p:nvPr/>
        </p:nvSpPr>
        <p:spPr>
          <a:xfrm>
            <a:off x="13893800" y="6591300"/>
            <a:ext cx="3200400" cy="246221"/>
          </a:xfrm>
          <a:prstGeom prst="rect">
            <a:avLst/>
          </a:prstGeom>
          <a:noFill/>
        </p:spPr>
        <p:txBody>
          <a:bodyPr vert="horz" wrap="square" lIns="0" tIns="0" rIns="0" bIns="0" rtlCol="0">
            <a:spAutoFit/>
          </a:bodyPr>
          <a:lstStyle/>
          <a:p>
            <a:r>
              <a:rPr lang="it-IT" sz="1600">
                <a:solidFill>
                  <a:srgbClr val="E6F0FA"/>
                </a:solidFill>
                <a:latin typeface="Arial" panose="020B0604020202020204" pitchFamily="34" charset="0"/>
              </a:rPr>
              <a:t>Nozzle details by report</a:t>
            </a:r>
            <a:endParaRPr lang="en-US" sz="1600">
              <a:solidFill>
                <a:srgbClr val="E6F0FA"/>
              </a:solidFill>
              <a:latin typeface="Arial" panose="020B0604020202020204" pitchFamily="34" charset="0"/>
            </a:endParaRPr>
          </a:p>
        </p:txBody>
      </p:sp>
      <p:sp>
        <p:nvSpPr>
          <p:cNvPr id="40" name="Rectangle: Rounded Corners 39">
            <a:extLst>
              <a:ext uri="{FF2B5EF4-FFF2-40B4-BE49-F238E27FC236}">
                <a16:creationId xmlns:a16="http://schemas.microsoft.com/office/drawing/2014/main" id="{9BADDFF2-0932-FBD1-FC86-C39FB2562223}"/>
              </a:ext>
            </a:extLst>
          </p:cNvPr>
          <p:cNvSpPr/>
          <p:nvPr/>
        </p:nvSpPr>
        <p:spPr>
          <a:xfrm>
            <a:off x="6921500" y="6604000"/>
            <a:ext cx="4445000" cy="1841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6F981-6328-3FC4-63CC-F378C0F6CF4B}"/>
              </a:ext>
            </a:extLst>
          </p:cNvPr>
          <p:cNvSpPr/>
          <p:nvPr/>
        </p:nvSpPr>
        <p:spPr>
          <a:xfrm>
            <a:off x="6921500" y="6604000"/>
            <a:ext cx="101600" cy="1841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C25A59C5-F6ED-DFEA-7E18-24BBCFD1132C}"/>
              </a:ext>
            </a:extLst>
          </p:cNvPr>
          <p:cNvSpPr/>
          <p:nvPr/>
        </p:nvSpPr>
        <p:spPr>
          <a:xfrm>
            <a:off x="7226300" y="6832600"/>
            <a:ext cx="8763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1F9ED1A6-4979-20BD-01EB-3007D87E24A1}"/>
              </a:ext>
            </a:extLst>
          </p:cNvPr>
          <p:cNvSpPr txBox="1"/>
          <p:nvPr/>
        </p:nvSpPr>
        <p:spPr>
          <a:xfrm>
            <a:off x="7327900" y="6908800"/>
            <a:ext cx="6731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STATE</a:t>
            </a:r>
          </a:p>
        </p:txBody>
      </p:sp>
      <p:sp>
        <p:nvSpPr>
          <p:cNvPr id="44" name="TextBox 43">
            <a:extLst>
              <a:ext uri="{FF2B5EF4-FFF2-40B4-BE49-F238E27FC236}">
                <a16:creationId xmlns:a16="http://schemas.microsoft.com/office/drawing/2014/main" id="{9B4F0494-11E5-369A-4B9B-1A69691C40ED}"/>
              </a:ext>
            </a:extLst>
          </p:cNvPr>
          <p:cNvSpPr txBox="1"/>
          <p:nvPr/>
        </p:nvSpPr>
        <p:spPr>
          <a:xfrm>
            <a:off x="7226300" y="7442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machine_counter_state</a:t>
            </a:r>
          </a:p>
        </p:txBody>
      </p:sp>
      <p:sp>
        <p:nvSpPr>
          <p:cNvPr id="45" name="TextBox 44">
            <a:extLst>
              <a:ext uri="{FF2B5EF4-FFF2-40B4-BE49-F238E27FC236}">
                <a16:creationId xmlns:a16="http://schemas.microsoft.com/office/drawing/2014/main" id="{1246C225-DEC6-5726-7557-268C2234C42A}"/>
              </a:ext>
            </a:extLst>
          </p:cNvPr>
          <p:cNvSpPr txBox="1"/>
          <p:nvPr/>
        </p:nvSpPr>
        <p:spPr>
          <a:xfrm>
            <a:off x="7226300" y="8051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Latest raw state</a:t>
            </a:r>
          </a:p>
        </p:txBody>
      </p:sp>
      <p:cxnSp>
        <p:nvCxnSpPr>
          <p:cNvPr id="46" name="Straight Connector 45">
            <a:extLst>
              <a:ext uri="{FF2B5EF4-FFF2-40B4-BE49-F238E27FC236}">
                <a16:creationId xmlns:a16="http://schemas.microsoft.com/office/drawing/2014/main" id="{E385BF51-1A04-6094-C195-EE485308A6C1}"/>
              </a:ext>
            </a:extLst>
          </p:cNvPr>
          <p:cNvCxnSpPr/>
          <p:nvPr/>
        </p:nvCxnSpPr>
        <p:spPr>
          <a:xfrm flipV="1">
            <a:off x="4699000" y="4254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1F7D54D-8202-C138-615B-A94335C47B9F}"/>
              </a:ext>
            </a:extLst>
          </p:cNvPr>
          <p:cNvSpPr txBox="1"/>
          <p:nvPr/>
        </p:nvSpPr>
        <p:spPr>
          <a:xfrm>
            <a:off x="5278271" y="4237910"/>
            <a:ext cx="889000" cy="215444"/>
          </a:xfrm>
          <a:prstGeom prst="rect">
            <a:avLst/>
          </a:prstGeom>
          <a:noFill/>
        </p:spPr>
        <p:txBody>
          <a:bodyPr vert="horz" wrap="square" lIns="0" tIns="0" rIns="0" bIns="0" rtlCol="0">
            <a:spAutoFit/>
          </a:bodyPr>
          <a:lstStyle/>
          <a:p>
            <a:pPr algn="ctr"/>
            <a:r>
              <a:rPr lang="en-US" sz="1400" b="1" dirty="0">
                <a:solidFill>
                  <a:srgbClr val="00E6F0"/>
                </a:solidFill>
                <a:latin typeface="Arial" panose="020B0604020202020204" pitchFamily="34" charset="0"/>
              </a:rPr>
              <a:t>1 : N</a:t>
            </a:r>
          </a:p>
        </p:txBody>
      </p:sp>
      <p:cxnSp>
        <p:nvCxnSpPr>
          <p:cNvPr id="48" name="Straight Connector 47">
            <a:extLst>
              <a:ext uri="{FF2B5EF4-FFF2-40B4-BE49-F238E27FC236}">
                <a16:creationId xmlns:a16="http://schemas.microsoft.com/office/drawing/2014/main" id="{D0631FF9-CB12-36FB-5F30-63A117F0DFB4}"/>
              </a:ext>
            </a:extLst>
          </p:cNvPr>
          <p:cNvCxnSpPr/>
          <p:nvPr/>
        </p:nvCxnSpPr>
        <p:spPr>
          <a:xfrm flipV="1">
            <a:off x="11366500" y="3492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9B166A2-98DB-0E6F-7A81-F7DB6262007C}"/>
              </a:ext>
            </a:extLst>
          </p:cNvPr>
          <p:cNvCxnSpPr/>
          <p:nvPr/>
        </p:nvCxnSpPr>
        <p:spPr>
          <a:xfrm>
            <a:off x="11366500" y="4381500"/>
            <a:ext cx="2095500" cy="1651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FBB1529-7028-3046-5CA1-1CB9CC093891}"/>
              </a:ext>
            </a:extLst>
          </p:cNvPr>
          <p:cNvSpPr txBox="1"/>
          <p:nvPr/>
        </p:nvSpPr>
        <p:spPr>
          <a:xfrm>
            <a:off x="12065000" y="3384778"/>
            <a:ext cx="889000" cy="215444"/>
          </a:xfrm>
          <a:prstGeom prst="rect">
            <a:avLst/>
          </a:prstGeom>
          <a:noFill/>
        </p:spPr>
        <p:txBody>
          <a:bodyPr vert="horz" wrap="square" lIns="0" tIns="0" rIns="0" bIns="0" rtlCol="0">
            <a:spAutoFit/>
          </a:bodyPr>
          <a:lstStyle/>
          <a:p>
            <a:pPr algn="ctr"/>
            <a:r>
              <a:rPr lang="en-US" sz="1400" b="1" dirty="0">
                <a:solidFill>
                  <a:srgbClr val="00E6F0"/>
                </a:solidFill>
                <a:latin typeface="Arial" panose="020B0604020202020204" pitchFamily="34" charset="0"/>
              </a:rPr>
              <a:t>1 : N</a:t>
            </a:r>
          </a:p>
        </p:txBody>
      </p:sp>
      <p:sp>
        <p:nvSpPr>
          <p:cNvPr id="51" name="TextBox 50">
            <a:extLst>
              <a:ext uri="{FF2B5EF4-FFF2-40B4-BE49-F238E27FC236}">
                <a16:creationId xmlns:a16="http://schemas.microsoft.com/office/drawing/2014/main" id="{02D476FD-F804-A236-DB06-8819E4490553}"/>
              </a:ext>
            </a:extLst>
          </p:cNvPr>
          <p:cNvSpPr txBox="1"/>
          <p:nvPr/>
        </p:nvSpPr>
        <p:spPr>
          <a:xfrm>
            <a:off x="12033250" y="5563284"/>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52" name="Straight Connector 51">
            <a:extLst>
              <a:ext uri="{FF2B5EF4-FFF2-40B4-BE49-F238E27FC236}">
                <a16:creationId xmlns:a16="http://schemas.microsoft.com/office/drawing/2014/main" id="{F9DC4CF1-0C09-DFB3-C3AA-C934D4391285}"/>
              </a:ext>
            </a:extLst>
          </p:cNvPr>
          <p:cNvCxnSpPr/>
          <p:nvPr/>
        </p:nvCxnSpPr>
        <p:spPr>
          <a:xfrm>
            <a:off x="4699000" y="5207000"/>
            <a:ext cx="2095500" cy="228600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5A3029F-912A-C1A7-79E0-BE90AF11C1C2}"/>
              </a:ext>
            </a:extLst>
          </p:cNvPr>
          <p:cNvSpPr txBox="1"/>
          <p:nvPr/>
        </p:nvSpPr>
        <p:spPr>
          <a:xfrm>
            <a:off x="5160275" y="6549598"/>
            <a:ext cx="889000" cy="215444"/>
          </a:xfrm>
          <a:prstGeom prst="rect">
            <a:avLst/>
          </a:prstGeom>
          <a:noFill/>
        </p:spPr>
        <p:txBody>
          <a:bodyPr vert="horz" wrap="square" lIns="0" tIns="0" rIns="0" bIns="0" rtlCol="0">
            <a:spAutoFit/>
          </a:bodyPr>
          <a:lstStyle/>
          <a:p>
            <a:pPr algn="ctr"/>
            <a:r>
              <a:rPr lang="en-US" sz="1400" b="1" dirty="0">
                <a:solidFill>
                  <a:srgbClr val="94A3B8"/>
                </a:solidFill>
                <a:latin typeface="Arial" panose="020B0604020202020204" pitchFamily="34" charset="0"/>
              </a:rPr>
              <a:t>1 : 1</a:t>
            </a:r>
          </a:p>
        </p:txBody>
      </p:sp>
    </p:spTree>
    <p:extLst>
      <p:ext uri="{BB962C8B-B14F-4D97-AF65-F5344CB8AC3E}">
        <p14:creationId xmlns:p14="http://schemas.microsoft.com/office/powerpoint/2010/main" val="4260564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86F8D57B-2123-EE43-D5AC-9908C54A342D}"/>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4" name="TextBox 3">
            <a:extLst>
              <a:ext uri="{FF2B5EF4-FFF2-40B4-BE49-F238E27FC236}">
                <a16:creationId xmlns:a16="http://schemas.microsoft.com/office/drawing/2014/main" id="{9A7DDDAC-976D-B917-55A4-1EF6CC15984A}"/>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FACCD15D-9F11-03C5-3809-C4724321EF4C}"/>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46E32E3F-8775-C7FA-E6B2-42D376FF403D}"/>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D06DCAF9-FEFE-7916-C4EC-EB2C091F4113}"/>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CDD2D312-F9B0-FC7D-3F78-AF96EDA1A9EF}"/>
              </a:ext>
            </a:extLst>
          </p:cNvPr>
          <p:cNvCxnSpPr/>
          <p:nvPr/>
        </p:nvCxnSpPr>
        <p:spPr>
          <a:xfrm>
            <a:off x="111864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5719040-5D43-8876-7816-035EF3115243}"/>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07</a:t>
            </a:r>
          </a:p>
        </p:txBody>
      </p:sp>
      <p:sp>
        <p:nvSpPr>
          <p:cNvPr id="11" name="TextBox 10">
            <a:extLst>
              <a:ext uri="{FF2B5EF4-FFF2-40B4-BE49-F238E27FC236}">
                <a16:creationId xmlns:a16="http://schemas.microsoft.com/office/drawing/2014/main" id="{818C983B-06F7-4BAA-8384-3590CA4FB3A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APPLICATION ARCHITECTURE</a:t>
            </a:r>
          </a:p>
        </p:txBody>
      </p:sp>
      <p:sp>
        <p:nvSpPr>
          <p:cNvPr id="12" name="TextBox 11">
            <a:extLst>
              <a:ext uri="{FF2B5EF4-FFF2-40B4-BE49-F238E27FC236}">
                <a16:creationId xmlns:a16="http://schemas.microsoft.com/office/drawing/2014/main" id="{0662E4DD-9C6E-32F3-D56D-E631F53A3DCE}"/>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Tech Stack Optimized for Web Reporting</a:t>
            </a:r>
          </a:p>
        </p:txBody>
      </p:sp>
      <p:cxnSp>
        <p:nvCxnSpPr>
          <p:cNvPr id="13" name="Straight Connector 12">
            <a:extLst>
              <a:ext uri="{FF2B5EF4-FFF2-40B4-BE49-F238E27FC236}">
                <a16:creationId xmlns:a16="http://schemas.microsoft.com/office/drawing/2014/main" id="{FB62BA2B-880D-A2D3-5A80-EE0CB0FC080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201E390-58D5-0275-72C2-79C326B971F2}"/>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BF34E32-191A-3425-2820-E05BE0431C9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07</a:t>
            </a:r>
          </a:p>
        </p:txBody>
      </p:sp>
      <p:sp>
        <p:nvSpPr>
          <p:cNvPr id="16" name="Rectangle: Rounded Corners 15">
            <a:extLst>
              <a:ext uri="{FF2B5EF4-FFF2-40B4-BE49-F238E27FC236}">
                <a16:creationId xmlns:a16="http://schemas.microsoft.com/office/drawing/2014/main" id="{0196AB7A-B88D-B5BE-12F0-774006CF81A7}"/>
              </a:ext>
            </a:extLst>
          </p:cNvPr>
          <p:cNvSpPr/>
          <p:nvPr/>
        </p:nvSpPr>
        <p:spPr>
          <a:xfrm>
            <a:off x="889000" y="3048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63C5822-AAB5-3A07-7455-1ED280D3E663}"/>
              </a:ext>
            </a:extLst>
          </p:cNvPr>
          <p:cNvSpPr/>
          <p:nvPr/>
        </p:nvSpPr>
        <p:spPr>
          <a:xfrm>
            <a:off x="1168400" y="3302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2FFA8A2-4D94-0812-20DF-26190F51F705}"/>
              </a:ext>
            </a:extLst>
          </p:cNvPr>
          <p:cNvSpPr txBox="1"/>
          <p:nvPr/>
        </p:nvSpPr>
        <p:spPr>
          <a:xfrm>
            <a:off x="1270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COLLECT</a:t>
            </a:r>
          </a:p>
        </p:txBody>
      </p:sp>
      <p:sp>
        <p:nvSpPr>
          <p:cNvPr id="19" name="TextBox 18">
            <a:extLst>
              <a:ext uri="{FF2B5EF4-FFF2-40B4-BE49-F238E27FC236}">
                <a16:creationId xmlns:a16="http://schemas.microsoft.com/office/drawing/2014/main" id="{5AED7486-32C8-F78E-B002-1A1F1856F2F0}"/>
              </a:ext>
            </a:extLst>
          </p:cNvPr>
          <p:cNvSpPr txBox="1"/>
          <p:nvPr/>
        </p:nvSpPr>
        <p:spPr>
          <a:xfrm>
            <a:off x="11684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SFTP + Node-RED</a:t>
            </a:r>
          </a:p>
        </p:txBody>
      </p:sp>
      <p:sp>
        <p:nvSpPr>
          <p:cNvPr id="20" name="Rectangle: Rounded Corners 19">
            <a:extLst>
              <a:ext uri="{FF2B5EF4-FFF2-40B4-BE49-F238E27FC236}">
                <a16:creationId xmlns:a16="http://schemas.microsoft.com/office/drawing/2014/main" id="{48B44B56-206D-F320-1510-0CCF772029AE}"/>
              </a:ext>
            </a:extLst>
          </p:cNvPr>
          <p:cNvSpPr/>
          <p:nvPr/>
        </p:nvSpPr>
        <p:spPr>
          <a:xfrm>
            <a:off x="6413500" y="3048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17C8AFC-208E-6A85-3A70-E7F5216DDB08}"/>
              </a:ext>
            </a:extLst>
          </p:cNvPr>
          <p:cNvSpPr/>
          <p:nvPr/>
        </p:nvSpPr>
        <p:spPr>
          <a:xfrm>
            <a:off x="6692900" y="3302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CB64BE7-FD74-8FC1-BF61-AD89BCEE7981}"/>
              </a:ext>
            </a:extLst>
          </p:cNvPr>
          <p:cNvSpPr txBox="1"/>
          <p:nvPr/>
        </p:nvSpPr>
        <p:spPr>
          <a:xfrm>
            <a:off x="67945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STORE</a:t>
            </a:r>
          </a:p>
        </p:txBody>
      </p:sp>
      <p:sp>
        <p:nvSpPr>
          <p:cNvPr id="23" name="TextBox 22">
            <a:extLst>
              <a:ext uri="{FF2B5EF4-FFF2-40B4-BE49-F238E27FC236}">
                <a16:creationId xmlns:a16="http://schemas.microsoft.com/office/drawing/2014/main" id="{D3FBB836-907A-F0D8-561A-BFABE8A6A765}"/>
              </a:ext>
            </a:extLst>
          </p:cNvPr>
          <p:cNvSpPr txBox="1"/>
          <p:nvPr/>
        </p:nvSpPr>
        <p:spPr>
          <a:xfrm>
            <a:off x="66929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PostgreSQL</a:t>
            </a:r>
          </a:p>
        </p:txBody>
      </p:sp>
      <p:sp>
        <p:nvSpPr>
          <p:cNvPr id="24" name="Rectangle: Rounded Corners 23">
            <a:extLst>
              <a:ext uri="{FF2B5EF4-FFF2-40B4-BE49-F238E27FC236}">
                <a16:creationId xmlns:a16="http://schemas.microsoft.com/office/drawing/2014/main" id="{AD09895B-3830-09C0-E3C2-8B6A3B3D430F}"/>
              </a:ext>
            </a:extLst>
          </p:cNvPr>
          <p:cNvSpPr/>
          <p:nvPr/>
        </p:nvSpPr>
        <p:spPr>
          <a:xfrm>
            <a:off x="11938000" y="3048000"/>
            <a:ext cx="4953000" cy="19050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37205A2-1E7E-2A2F-D9D6-C3F9FCF393F3}"/>
              </a:ext>
            </a:extLst>
          </p:cNvPr>
          <p:cNvSpPr/>
          <p:nvPr/>
        </p:nvSpPr>
        <p:spPr>
          <a:xfrm>
            <a:off x="12217400" y="3302000"/>
            <a:ext cx="13335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15575BD-EC1A-3EC6-DBC7-A8CE704F3313}"/>
              </a:ext>
            </a:extLst>
          </p:cNvPr>
          <p:cNvSpPr txBox="1"/>
          <p:nvPr/>
        </p:nvSpPr>
        <p:spPr>
          <a:xfrm>
            <a:off x="12319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BACKEND</a:t>
            </a:r>
          </a:p>
        </p:txBody>
      </p:sp>
      <p:sp>
        <p:nvSpPr>
          <p:cNvPr id="27" name="TextBox 26">
            <a:extLst>
              <a:ext uri="{FF2B5EF4-FFF2-40B4-BE49-F238E27FC236}">
                <a16:creationId xmlns:a16="http://schemas.microsoft.com/office/drawing/2014/main" id="{2F52A7E8-9C7C-5907-4F40-E4BD7828907E}"/>
              </a:ext>
            </a:extLst>
          </p:cNvPr>
          <p:cNvSpPr txBox="1"/>
          <p:nvPr/>
        </p:nvSpPr>
        <p:spPr>
          <a:xfrm>
            <a:off x="12217400" y="4038600"/>
            <a:ext cx="4381500" cy="292388"/>
          </a:xfrm>
          <a:prstGeom prst="rect">
            <a:avLst/>
          </a:prstGeom>
          <a:noFill/>
        </p:spPr>
        <p:txBody>
          <a:bodyPr vert="horz" wrap="square" lIns="0" tIns="0" rIns="0" bIns="0" rtlCol="0">
            <a:spAutoFit/>
          </a:bodyPr>
          <a:lstStyle/>
          <a:p>
            <a:r>
              <a:rPr lang="nl-NL" sz="1900" b="1">
                <a:solidFill>
                  <a:srgbClr val="FFFFFF"/>
                </a:solidFill>
                <a:latin typeface="Arial" panose="020B0604020202020204" pitchFamily="34" charset="0"/>
              </a:rPr>
              <a:t>.NET 9 + ASP.NET Core MVC</a:t>
            </a:r>
            <a:endParaRPr lang="en-US" sz="1900" b="1">
              <a:solidFill>
                <a:srgbClr val="FFFFFF"/>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5BB3A9DF-8FD4-5DE4-B858-93AE12F6DC6D}"/>
              </a:ext>
            </a:extLst>
          </p:cNvPr>
          <p:cNvSpPr/>
          <p:nvPr/>
        </p:nvSpPr>
        <p:spPr>
          <a:xfrm>
            <a:off x="889000" y="5461000"/>
            <a:ext cx="4953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7BC26C94-A5CE-FA20-EB0B-F590368330BC}"/>
              </a:ext>
            </a:extLst>
          </p:cNvPr>
          <p:cNvSpPr/>
          <p:nvPr/>
        </p:nvSpPr>
        <p:spPr>
          <a:xfrm>
            <a:off x="1168400" y="5715000"/>
            <a:ext cx="1333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496C477-177E-38FF-DA81-AB8EB17F17D4}"/>
              </a:ext>
            </a:extLst>
          </p:cNvPr>
          <p:cNvSpPr txBox="1"/>
          <p:nvPr/>
        </p:nvSpPr>
        <p:spPr>
          <a:xfrm>
            <a:off x="1270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DATA</a:t>
            </a:r>
          </a:p>
        </p:txBody>
      </p:sp>
      <p:sp>
        <p:nvSpPr>
          <p:cNvPr id="31" name="TextBox 30">
            <a:extLst>
              <a:ext uri="{FF2B5EF4-FFF2-40B4-BE49-F238E27FC236}">
                <a16:creationId xmlns:a16="http://schemas.microsoft.com/office/drawing/2014/main" id="{C27E2912-52EB-3912-EDF0-21E64B98EFA6}"/>
              </a:ext>
            </a:extLst>
          </p:cNvPr>
          <p:cNvSpPr txBox="1"/>
          <p:nvPr/>
        </p:nvSpPr>
        <p:spPr>
          <a:xfrm>
            <a:off x="1168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EF Core + Npgsql</a:t>
            </a:r>
          </a:p>
        </p:txBody>
      </p:sp>
      <p:sp>
        <p:nvSpPr>
          <p:cNvPr id="32" name="Rectangle: Rounded Corners 31">
            <a:extLst>
              <a:ext uri="{FF2B5EF4-FFF2-40B4-BE49-F238E27FC236}">
                <a16:creationId xmlns:a16="http://schemas.microsoft.com/office/drawing/2014/main" id="{6725B5F4-49E4-EE8A-68CF-39D53AFE23B7}"/>
              </a:ext>
            </a:extLst>
          </p:cNvPr>
          <p:cNvSpPr/>
          <p:nvPr/>
        </p:nvSpPr>
        <p:spPr>
          <a:xfrm>
            <a:off x="6413500" y="5461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C3584D3A-7C1C-9276-605C-8DCB21D7D8D2}"/>
              </a:ext>
            </a:extLst>
          </p:cNvPr>
          <p:cNvSpPr/>
          <p:nvPr/>
        </p:nvSpPr>
        <p:spPr>
          <a:xfrm>
            <a:off x="6692900" y="5715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99B8797-C8CE-36B1-CA1C-B9EB8B0D1BEB}"/>
              </a:ext>
            </a:extLst>
          </p:cNvPr>
          <p:cNvSpPr txBox="1"/>
          <p:nvPr/>
        </p:nvSpPr>
        <p:spPr>
          <a:xfrm>
            <a:off x="67945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FRONTEND</a:t>
            </a:r>
          </a:p>
        </p:txBody>
      </p:sp>
      <p:sp>
        <p:nvSpPr>
          <p:cNvPr id="35" name="TextBox 34">
            <a:extLst>
              <a:ext uri="{FF2B5EF4-FFF2-40B4-BE49-F238E27FC236}">
                <a16:creationId xmlns:a16="http://schemas.microsoft.com/office/drawing/2014/main" id="{2455E852-18D4-E3F8-B510-7F11F114C3AC}"/>
              </a:ext>
            </a:extLst>
          </p:cNvPr>
          <p:cNvSpPr txBox="1"/>
          <p:nvPr/>
        </p:nvSpPr>
        <p:spPr>
          <a:xfrm>
            <a:off x="66929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Razor + Bootstrap + Chart.js</a:t>
            </a:r>
          </a:p>
        </p:txBody>
      </p:sp>
      <p:sp>
        <p:nvSpPr>
          <p:cNvPr id="36" name="Rectangle: Rounded Corners 35">
            <a:extLst>
              <a:ext uri="{FF2B5EF4-FFF2-40B4-BE49-F238E27FC236}">
                <a16:creationId xmlns:a16="http://schemas.microsoft.com/office/drawing/2014/main" id="{71C827FF-45FB-51CF-3E81-20FF2911AE91}"/>
              </a:ext>
            </a:extLst>
          </p:cNvPr>
          <p:cNvSpPr/>
          <p:nvPr/>
        </p:nvSpPr>
        <p:spPr>
          <a:xfrm>
            <a:off x="11938000" y="5461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C331D6B5-A69C-7657-67D5-E613C093772C}"/>
              </a:ext>
            </a:extLst>
          </p:cNvPr>
          <p:cNvSpPr/>
          <p:nvPr/>
        </p:nvSpPr>
        <p:spPr>
          <a:xfrm>
            <a:off x="12217400" y="5715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CBD06FA-0D5F-C5DC-DA90-619A22893246}"/>
              </a:ext>
            </a:extLst>
          </p:cNvPr>
          <p:cNvSpPr txBox="1"/>
          <p:nvPr/>
        </p:nvSpPr>
        <p:spPr>
          <a:xfrm>
            <a:off x="12319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DEPLOY</a:t>
            </a:r>
          </a:p>
        </p:txBody>
      </p:sp>
      <p:sp>
        <p:nvSpPr>
          <p:cNvPr id="39" name="TextBox 38">
            <a:extLst>
              <a:ext uri="{FF2B5EF4-FFF2-40B4-BE49-F238E27FC236}">
                <a16:creationId xmlns:a16="http://schemas.microsoft.com/office/drawing/2014/main" id="{8B9511FF-8835-3972-3DE4-11130AECCECE}"/>
              </a:ext>
            </a:extLst>
          </p:cNvPr>
          <p:cNvSpPr txBox="1"/>
          <p:nvPr/>
        </p:nvSpPr>
        <p:spPr>
          <a:xfrm>
            <a:off x="12217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Docker containers</a:t>
            </a:r>
          </a:p>
        </p:txBody>
      </p:sp>
      <p:sp>
        <p:nvSpPr>
          <p:cNvPr id="40" name="TextBox 39">
            <a:extLst>
              <a:ext uri="{FF2B5EF4-FFF2-40B4-BE49-F238E27FC236}">
                <a16:creationId xmlns:a16="http://schemas.microsoft.com/office/drawing/2014/main" id="{5596C8E1-DB67-36FD-27B4-3E40D75F0149}"/>
              </a:ext>
            </a:extLst>
          </p:cNvPr>
          <p:cNvSpPr txBox="1"/>
          <p:nvPr/>
        </p:nvSpPr>
        <p:spPr>
          <a:xfrm>
            <a:off x="889000" y="8382000"/>
            <a:ext cx="16510000" cy="261610"/>
          </a:xfrm>
          <a:prstGeom prst="rect">
            <a:avLst/>
          </a:prstGeom>
          <a:noFill/>
        </p:spPr>
        <p:txBody>
          <a:bodyPr vert="horz" wrap="square" lIns="0" tIns="0" rIns="0" bIns="0" rtlCol="0">
            <a:spAutoFit/>
          </a:bodyPr>
          <a:lstStyle/>
          <a:p>
            <a:pPr algn="ctr"/>
            <a:r>
              <a:rPr lang="en-US" sz="1700" dirty="0">
                <a:solidFill>
                  <a:srgbClr val="E6F0FA"/>
                </a:solidFill>
                <a:latin typeface="Arial" panose="020B0604020202020204" pitchFamily="34" charset="0"/>
              </a:rPr>
              <a:t>PostgreSQL → Report services → MVC controllers → Razor pages → Dashboard / Table / Export</a:t>
            </a:r>
          </a:p>
        </p:txBody>
      </p:sp>
    </p:spTree>
    <p:extLst>
      <p:ext uri="{BB962C8B-B14F-4D97-AF65-F5344CB8AC3E}">
        <p14:creationId xmlns:p14="http://schemas.microsoft.com/office/powerpoint/2010/main" val="237993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FAA983F8-0F9F-DDB3-654D-3D41178F53C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E07E4309-179E-FFD9-A803-A0AE7281D75A}"/>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08</a:t>
            </a:r>
          </a:p>
        </p:txBody>
      </p:sp>
      <p:sp>
        <p:nvSpPr>
          <p:cNvPr id="11" name="TextBox 10">
            <a:extLst>
              <a:ext uri="{FF2B5EF4-FFF2-40B4-BE49-F238E27FC236}">
                <a16:creationId xmlns:a16="http://schemas.microsoft.com/office/drawing/2014/main" id="{8B477522-4E4F-3A1A-80EC-CD35621607AD}"/>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REPORT PORTFOLIO</a:t>
            </a:r>
          </a:p>
        </p:txBody>
      </p:sp>
      <p:sp>
        <p:nvSpPr>
          <p:cNvPr id="12" name="TextBox 11">
            <a:extLst>
              <a:ext uri="{FF2B5EF4-FFF2-40B4-BE49-F238E27FC236}">
                <a16:creationId xmlns:a16="http://schemas.microsoft.com/office/drawing/2014/main" id="{4BB8FE09-B6A6-C824-E2DC-8FCB3540073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dirty="0">
                <a:solidFill>
                  <a:srgbClr val="FFFFFF"/>
                </a:solidFill>
                <a:latin typeface="Arial" panose="020B0604020202020204" pitchFamily="34" charset="0"/>
              </a:rPr>
              <a:t>Dashboard</a:t>
            </a:r>
          </a:p>
        </p:txBody>
      </p:sp>
      <p:cxnSp>
        <p:nvCxnSpPr>
          <p:cNvPr id="13" name="Straight Connector 12">
            <a:extLst>
              <a:ext uri="{FF2B5EF4-FFF2-40B4-BE49-F238E27FC236}">
                <a16:creationId xmlns:a16="http://schemas.microsoft.com/office/drawing/2014/main" id="{A31D5D39-C750-311A-E191-333ADB3824B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789EE05-A47D-91CC-8B53-E99D0A9A614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7273B31-C42F-E68E-7215-916BCC322F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08</a:t>
            </a:r>
          </a:p>
        </p:txBody>
      </p:sp>
      <p:sp>
        <p:nvSpPr>
          <p:cNvPr id="16" name="Rectangle: Rounded Corners 15">
            <a:extLst>
              <a:ext uri="{FF2B5EF4-FFF2-40B4-BE49-F238E27FC236}">
                <a16:creationId xmlns:a16="http://schemas.microsoft.com/office/drawing/2014/main" id="{4DFD61E5-595D-5346-8FA5-ACD251D499BD}"/>
              </a:ext>
            </a:extLst>
          </p:cNvPr>
          <p:cNvSpPr/>
          <p:nvPr/>
        </p:nvSpPr>
        <p:spPr>
          <a:xfrm>
            <a:off x="889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0081178-EB9A-B35D-04ED-1CFB3B52524A}"/>
              </a:ext>
            </a:extLst>
          </p:cNvPr>
          <p:cNvSpPr/>
          <p:nvPr/>
        </p:nvSpPr>
        <p:spPr>
          <a:xfrm>
            <a:off x="1193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F236976-D852-49F9-EAD7-C7B7783C321F}"/>
              </a:ext>
            </a:extLst>
          </p:cNvPr>
          <p:cNvSpPr txBox="1"/>
          <p:nvPr/>
        </p:nvSpPr>
        <p:spPr>
          <a:xfrm>
            <a:off x="1282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01</a:t>
            </a:r>
          </a:p>
        </p:txBody>
      </p:sp>
      <p:sp>
        <p:nvSpPr>
          <p:cNvPr id="19" name="TextBox 18">
            <a:extLst>
              <a:ext uri="{FF2B5EF4-FFF2-40B4-BE49-F238E27FC236}">
                <a16:creationId xmlns:a16="http://schemas.microsoft.com/office/drawing/2014/main" id="{8C9C45B2-A5D2-8D7C-A92D-93134D0BF8B0}"/>
              </a:ext>
            </a:extLst>
          </p:cNvPr>
          <p:cNvSpPr txBox="1"/>
          <p:nvPr/>
        </p:nvSpPr>
        <p:spPr>
          <a:xfrm>
            <a:off x="2032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Overall Dashboard</a:t>
            </a:r>
          </a:p>
        </p:txBody>
      </p:sp>
      <p:sp>
        <p:nvSpPr>
          <p:cNvPr id="20" name="Rectangle: Rounded Corners 19">
            <a:extLst>
              <a:ext uri="{FF2B5EF4-FFF2-40B4-BE49-F238E27FC236}">
                <a16:creationId xmlns:a16="http://schemas.microsoft.com/office/drawing/2014/main" id="{73643BDE-FB33-BE82-1766-2D23E1D2880D}"/>
              </a:ext>
            </a:extLst>
          </p:cNvPr>
          <p:cNvSpPr/>
          <p:nvPr/>
        </p:nvSpPr>
        <p:spPr>
          <a:xfrm>
            <a:off x="64135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59A076B-B339-843A-C3D1-CB51E306CFF2}"/>
              </a:ext>
            </a:extLst>
          </p:cNvPr>
          <p:cNvSpPr/>
          <p:nvPr/>
        </p:nvSpPr>
        <p:spPr>
          <a:xfrm>
            <a:off x="67183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52BC5E9-80AB-0095-C7DE-1698CCD7631B}"/>
              </a:ext>
            </a:extLst>
          </p:cNvPr>
          <p:cNvSpPr txBox="1"/>
          <p:nvPr/>
        </p:nvSpPr>
        <p:spPr>
          <a:xfrm>
            <a:off x="68072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02</a:t>
            </a:r>
          </a:p>
        </p:txBody>
      </p:sp>
      <p:sp>
        <p:nvSpPr>
          <p:cNvPr id="23" name="TextBox 22">
            <a:extLst>
              <a:ext uri="{FF2B5EF4-FFF2-40B4-BE49-F238E27FC236}">
                <a16:creationId xmlns:a16="http://schemas.microsoft.com/office/drawing/2014/main" id="{2A152EE5-34AF-B050-8FDD-537D72001893}"/>
              </a:ext>
            </a:extLst>
          </p:cNvPr>
          <p:cNvSpPr txBox="1"/>
          <p:nvPr/>
        </p:nvSpPr>
        <p:spPr>
          <a:xfrm>
            <a:off x="75565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Count</a:t>
            </a:r>
          </a:p>
        </p:txBody>
      </p:sp>
      <p:sp>
        <p:nvSpPr>
          <p:cNvPr id="24" name="Rectangle: Rounded Corners 23">
            <a:extLst>
              <a:ext uri="{FF2B5EF4-FFF2-40B4-BE49-F238E27FC236}">
                <a16:creationId xmlns:a16="http://schemas.microsoft.com/office/drawing/2014/main" id="{00C837D7-B989-FA09-7FA4-A3CC69F43663}"/>
              </a:ext>
            </a:extLst>
          </p:cNvPr>
          <p:cNvSpPr/>
          <p:nvPr/>
        </p:nvSpPr>
        <p:spPr>
          <a:xfrm>
            <a:off x="11938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C9AF1B-DD75-5EFD-BDA4-82F29BA4A448}"/>
              </a:ext>
            </a:extLst>
          </p:cNvPr>
          <p:cNvSpPr/>
          <p:nvPr/>
        </p:nvSpPr>
        <p:spPr>
          <a:xfrm>
            <a:off x="12242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131E22-B868-992B-7D9B-74183B725D15}"/>
              </a:ext>
            </a:extLst>
          </p:cNvPr>
          <p:cNvSpPr txBox="1"/>
          <p:nvPr/>
        </p:nvSpPr>
        <p:spPr>
          <a:xfrm>
            <a:off x="12331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03</a:t>
            </a:r>
          </a:p>
        </p:txBody>
      </p:sp>
      <p:sp>
        <p:nvSpPr>
          <p:cNvPr id="27" name="TextBox 26">
            <a:extLst>
              <a:ext uri="{FF2B5EF4-FFF2-40B4-BE49-F238E27FC236}">
                <a16:creationId xmlns:a16="http://schemas.microsoft.com/office/drawing/2014/main" id="{B773DE7E-A1BE-3FCD-7629-C3D024D20131}"/>
              </a:ext>
            </a:extLst>
          </p:cNvPr>
          <p:cNvSpPr txBox="1"/>
          <p:nvPr/>
        </p:nvSpPr>
        <p:spPr>
          <a:xfrm>
            <a:off x="13081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Production Report</a:t>
            </a:r>
          </a:p>
        </p:txBody>
      </p:sp>
      <p:sp>
        <p:nvSpPr>
          <p:cNvPr id="28" name="Rectangle: Rounded Corners 27">
            <a:extLst>
              <a:ext uri="{FF2B5EF4-FFF2-40B4-BE49-F238E27FC236}">
                <a16:creationId xmlns:a16="http://schemas.microsoft.com/office/drawing/2014/main" id="{D153AF69-D411-933E-3A80-E5DE5A639D10}"/>
              </a:ext>
            </a:extLst>
          </p:cNvPr>
          <p:cNvSpPr/>
          <p:nvPr/>
        </p:nvSpPr>
        <p:spPr>
          <a:xfrm>
            <a:off x="889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1E508C-1B02-3863-3DB3-EDC729A83968}"/>
              </a:ext>
            </a:extLst>
          </p:cNvPr>
          <p:cNvSpPr/>
          <p:nvPr/>
        </p:nvSpPr>
        <p:spPr>
          <a:xfrm>
            <a:off x="1193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167F40F-D701-718B-CABA-ACE28B4D7BD4}"/>
              </a:ext>
            </a:extLst>
          </p:cNvPr>
          <p:cNvSpPr txBox="1"/>
          <p:nvPr/>
        </p:nvSpPr>
        <p:spPr>
          <a:xfrm>
            <a:off x="1282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04</a:t>
            </a:r>
          </a:p>
        </p:txBody>
      </p:sp>
      <p:sp>
        <p:nvSpPr>
          <p:cNvPr id="31" name="TextBox 30">
            <a:extLst>
              <a:ext uri="{FF2B5EF4-FFF2-40B4-BE49-F238E27FC236}">
                <a16:creationId xmlns:a16="http://schemas.microsoft.com/office/drawing/2014/main" id="{1FBC0BFD-0300-1AF0-0AD9-943D8694D925}"/>
              </a:ext>
            </a:extLst>
          </p:cNvPr>
          <p:cNvSpPr txBox="1"/>
          <p:nvPr/>
        </p:nvSpPr>
        <p:spPr>
          <a:xfrm>
            <a:off x="2032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Part</a:t>
            </a:r>
          </a:p>
        </p:txBody>
      </p:sp>
      <p:sp>
        <p:nvSpPr>
          <p:cNvPr id="32" name="Rectangle: Rounded Corners 31">
            <a:extLst>
              <a:ext uri="{FF2B5EF4-FFF2-40B4-BE49-F238E27FC236}">
                <a16:creationId xmlns:a16="http://schemas.microsoft.com/office/drawing/2014/main" id="{7478743C-95A0-28EA-5AAD-F3B6C8ACAD0B}"/>
              </a:ext>
            </a:extLst>
          </p:cNvPr>
          <p:cNvSpPr/>
          <p:nvPr/>
        </p:nvSpPr>
        <p:spPr>
          <a:xfrm>
            <a:off x="64135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2669E85-6275-E8D0-87B5-5000DDE2D604}"/>
              </a:ext>
            </a:extLst>
          </p:cNvPr>
          <p:cNvSpPr/>
          <p:nvPr/>
        </p:nvSpPr>
        <p:spPr>
          <a:xfrm>
            <a:off x="67183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E3B4759-13C4-2A75-743A-8532D9D611D3}"/>
              </a:ext>
            </a:extLst>
          </p:cNvPr>
          <p:cNvSpPr txBox="1"/>
          <p:nvPr/>
        </p:nvSpPr>
        <p:spPr>
          <a:xfrm>
            <a:off x="68072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05</a:t>
            </a:r>
          </a:p>
        </p:txBody>
      </p:sp>
      <p:sp>
        <p:nvSpPr>
          <p:cNvPr id="35" name="TextBox 34">
            <a:extLst>
              <a:ext uri="{FF2B5EF4-FFF2-40B4-BE49-F238E27FC236}">
                <a16:creationId xmlns:a16="http://schemas.microsoft.com/office/drawing/2014/main" id="{76C92C87-0727-1B9F-C2E3-BD045C63BCEC}"/>
              </a:ext>
            </a:extLst>
          </p:cNvPr>
          <p:cNvSpPr txBox="1"/>
          <p:nvPr/>
        </p:nvSpPr>
        <p:spPr>
          <a:xfrm>
            <a:off x="75565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Feeder</a:t>
            </a:r>
          </a:p>
        </p:txBody>
      </p:sp>
      <p:sp>
        <p:nvSpPr>
          <p:cNvPr id="36" name="Rectangle: Rounded Corners 35">
            <a:extLst>
              <a:ext uri="{FF2B5EF4-FFF2-40B4-BE49-F238E27FC236}">
                <a16:creationId xmlns:a16="http://schemas.microsoft.com/office/drawing/2014/main" id="{5A4249DC-EC20-4181-8ADE-652BE95002AB}"/>
              </a:ext>
            </a:extLst>
          </p:cNvPr>
          <p:cNvSpPr/>
          <p:nvPr/>
        </p:nvSpPr>
        <p:spPr>
          <a:xfrm>
            <a:off x="11938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C3B5F19-AB3C-16FC-2003-83B710CA3242}"/>
              </a:ext>
            </a:extLst>
          </p:cNvPr>
          <p:cNvSpPr/>
          <p:nvPr/>
        </p:nvSpPr>
        <p:spPr>
          <a:xfrm>
            <a:off x="12242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8391FACA-2CCD-E507-3787-6B97E90BE9F5}"/>
              </a:ext>
            </a:extLst>
          </p:cNvPr>
          <p:cNvSpPr txBox="1"/>
          <p:nvPr/>
        </p:nvSpPr>
        <p:spPr>
          <a:xfrm>
            <a:off x="12331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06</a:t>
            </a:r>
          </a:p>
        </p:txBody>
      </p:sp>
      <p:sp>
        <p:nvSpPr>
          <p:cNvPr id="39" name="TextBox 38">
            <a:extLst>
              <a:ext uri="{FF2B5EF4-FFF2-40B4-BE49-F238E27FC236}">
                <a16:creationId xmlns:a16="http://schemas.microsoft.com/office/drawing/2014/main" id="{F0232717-7D7E-287B-F56C-7BEC42C52B70}"/>
              </a:ext>
            </a:extLst>
          </p:cNvPr>
          <p:cNvSpPr txBox="1"/>
          <p:nvPr/>
        </p:nvSpPr>
        <p:spPr>
          <a:xfrm>
            <a:off x="13081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Nozzle</a:t>
            </a:r>
          </a:p>
        </p:txBody>
      </p:sp>
      <p:sp>
        <p:nvSpPr>
          <p:cNvPr id="40" name="Rectangle: Rounded Corners 39">
            <a:extLst>
              <a:ext uri="{FF2B5EF4-FFF2-40B4-BE49-F238E27FC236}">
                <a16:creationId xmlns:a16="http://schemas.microsoft.com/office/drawing/2014/main" id="{F563EB4B-3680-EA0E-23E0-EDC087DC71B2}"/>
              </a:ext>
            </a:extLst>
          </p:cNvPr>
          <p:cNvSpPr/>
          <p:nvPr/>
        </p:nvSpPr>
        <p:spPr>
          <a:xfrm>
            <a:off x="889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23FF3EE-CBFA-3E4C-210A-59E2ED36F907}"/>
              </a:ext>
            </a:extLst>
          </p:cNvPr>
          <p:cNvSpPr/>
          <p:nvPr/>
        </p:nvSpPr>
        <p:spPr>
          <a:xfrm>
            <a:off x="1193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7E446F4-97EF-5E13-4403-2EA091B1CCCE}"/>
              </a:ext>
            </a:extLst>
          </p:cNvPr>
          <p:cNvSpPr txBox="1"/>
          <p:nvPr/>
        </p:nvSpPr>
        <p:spPr>
          <a:xfrm>
            <a:off x="1282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07</a:t>
            </a:r>
          </a:p>
        </p:txBody>
      </p:sp>
      <p:sp>
        <p:nvSpPr>
          <p:cNvPr id="43" name="TextBox 42">
            <a:extLst>
              <a:ext uri="{FF2B5EF4-FFF2-40B4-BE49-F238E27FC236}">
                <a16:creationId xmlns:a16="http://schemas.microsoft.com/office/drawing/2014/main" id="{EA89E661-7068-5A1A-D4C6-B48971E06666}"/>
              </a:ext>
            </a:extLst>
          </p:cNvPr>
          <p:cNvSpPr txBox="1"/>
          <p:nvPr/>
        </p:nvSpPr>
        <p:spPr>
          <a:xfrm>
            <a:off x="2032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Cycle Time</a:t>
            </a:r>
          </a:p>
        </p:txBody>
      </p:sp>
      <p:sp>
        <p:nvSpPr>
          <p:cNvPr id="44" name="Rectangle: Rounded Corners 43">
            <a:extLst>
              <a:ext uri="{FF2B5EF4-FFF2-40B4-BE49-F238E27FC236}">
                <a16:creationId xmlns:a16="http://schemas.microsoft.com/office/drawing/2014/main" id="{8A79A74D-E36E-198D-47DD-60FB1765D6AA}"/>
              </a:ext>
            </a:extLst>
          </p:cNvPr>
          <p:cNvSpPr/>
          <p:nvPr/>
        </p:nvSpPr>
        <p:spPr>
          <a:xfrm>
            <a:off x="64135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7A55DDC-D50E-3A8F-4B93-A9EAFA449223}"/>
              </a:ext>
            </a:extLst>
          </p:cNvPr>
          <p:cNvSpPr/>
          <p:nvPr/>
        </p:nvSpPr>
        <p:spPr>
          <a:xfrm>
            <a:off x="67183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2783170-B21D-89B8-DD92-A52335733556}"/>
              </a:ext>
            </a:extLst>
          </p:cNvPr>
          <p:cNvSpPr txBox="1"/>
          <p:nvPr/>
        </p:nvSpPr>
        <p:spPr>
          <a:xfrm>
            <a:off x="68072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08</a:t>
            </a:r>
          </a:p>
        </p:txBody>
      </p:sp>
      <p:sp>
        <p:nvSpPr>
          <p:cNvPr id="47" name="TextBox 46">
            <a:extLst>
              <a:ext uri="{FF2B5EF4-FFF2-40B4-BE49-F238E27FC236}">
                <a16:creationId xmlns:a16="http://schemas.microsoft.com/office/drawing/2014/main" id="{B62489C6-E7E1-F648-A5FE-42A957610A73}"/>
              </a:ext>
            </a:extLst>
          </p:cNvPr>
          <p:cNvSpPr txBox="1"/>
          <p:nvPr/>
        </p:nvSpPr>
        <p:spPr>
          <a:xfrm>
            <a:off x="75565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a:t>
            </a:r>
          </a:p>
        </p:txBody>
      </p:sp>
      <p:sp>
        <p:nvSpPr>
          <p:cNvPr id="48" name="Rectangle: Rounded Corners 47">
            <a:extLst>
              <a:ext uri="{FF2B5EF4-FFF2-40B4-BE49-F238E27FC236}">
                <a16:creationId xmlns:a16="http://schemas.microsoft.com/office/drawing/2014/main" id="{042CE474-2C85-9C4B-822B-F6B6E07480D2}"/>
              </a:ext>
            </a:extLst>
          </p:cNvPr>
          <p:cNvSpPr/>
          <p:nvPr/>
        </p:nvSpPr>
        <p:spPr>
          <a:xfrm>
            <a:off x="11938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EC8A79F-F6C4-B1BA-679C-28E11F8F7531}"/>
              </a:ext>
            </a:extLst>
          </p:cNvPr>
          <p:cNvSpPr/>
          <p:nvPr/>
        </p:nvSpPr>
        <p:spPr>
          <a:xfrm>
            <a:off x="12242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E13337F-6CA5-EB3B-33A8-51AA896723BA}"/>
              </a:ext>
            </a:extLst>
          </p:cNvPr>
          <p:cNvSpPr txBox="1"/>
          <p:nvPr/>
        </p:nvSpPr>
        <p:spPr>
          <a:xfrm>
            <a:off x="12331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09</a:t>
            </a:r>
          </a:p>
        </p:txBody>
      </p:sp>
      <p:sp>
        <p:nvSpPr>
          <p:cNvPr id="51" name="TextBox 50">
            <a:extLst>
              <a:ext uri="{FF2B5EF4-FFF2-40B4-BE49-F238E27FC236}">
                <a16:creationId xmlns:a16="http://schemas.microsoft.com/office/drawing/2014/main" id="{10F2A95A-1701-91D1-1126-DAD33E0436EF}"/>
              </a:ext>
            </a:extLst>
          </p:cNvPr>
          <p:cNvSpPr txBox="1"/>
          <p:nvPr/>
        </p:nvSpPr>
        <p:spPr>
          <a:xfrm>
            <a:off x="13081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Total Pickup / Placement</a:t>
            </a:r>
          </a:p>
        </p:txBody>
      </p:sp>
      <p:sp>
        <p:nvSpPr>
          <p:cNvPr id="52" name="TextBox 51">
            <a:extLst>
              <a:ext uri="{FF2B5EF4-FFF2-40B4-BE49-F238E27FC236}">
                <a16:creationId xmlns:a16="http://schemas.microsoft.com/office/drawing/2014/main" id="{6C0D230C-1B19-E77D-77F5-1E12B4963C3A}"/>
              </a:ext>
            </a:extLst>
          </p:cNvPr>
          <p:cNvSpPr txBox="1"/>
          <p:nvPr/>
        </p:nvSpPr>
        <p:spPr>
          <a:xfrm>
            <a:off x="889000" y="85725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Dashboard for direction → detailed reports for evidence and action.</a:t>
            </a:r>
            <a:endParaRPr lang="en-US" b="1" dirty="0">
              <a:solidFill>
                <a:srgbClr val="00E6F0"/>
              </a:solidFill>
              <a:latin typeface="Arial" panose="020B0604020202020204" pitchFamily="34" charset="0"/>
            </a:endParaRPr>
          </a:p>
        </p:txBody>
      </p:sp>
      <p:sp>
        <p:nvSpPr>
          <p:cNvPr id="3" name="TextBox 2">
            <a:extLst>
              <a:ext uri="{FF2B5EF4-FFF2-40B4-BE49-F238E27FC236}">
                <a16:creationId xmlns:a16="http://schemas.microsoft.com/office/drawing/2014/main" id="{50F03917-79F5-7C02-DA0A-A9A920EAF556}"/>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3" name="TextBox 52">
            <a:extLst>
              <a:ext uri="{FF2B5EF4-FFF2-40B4-BE49-F238E27FC236}">
                <a16:creationId xmlns:a16="http://schemas.microsoft.com/office/drawing/2014/main" id="{C272D0A2-C1B7-E87A-70C6-09605A4CA934}"/>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54" name="TextBox 53">
            <a:extLst>
              <a:ext uri="{FF2B5EF4-FFF2-40B4-BE49-F238E27FC236}">
                <a16:creationId xmlns:a16="http://schemas.microsoft.com/office/drawing/2014/main" id="{6B50ECF6-B6C8-62B5-4F5A-A67780117CF9}"/>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55" name="TextBox 54">
            <a:extLst>
              <a:ext uri="{FF2B5EF4-FFF2-40B4-BE49-F238E27FC236}">
                <a16:creationId xmlns:a16="http://schemas.microsoft.com/office/drawing/2014/main" id="{FBC83922-DD5C-B8D5-3145-C4BBC341D297}"/>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56" name="Straight Connector 55">
            <a:extLst>
              <a:ext uri="{FF2B5EF4-FFF2-40B4-BE49-F238E27FC236}">
                <a16:creationId xmlns:a16="http://schemas.microsoft.com/office/drawing/2014/main" id="{68EF40F7-DA34-650E-C045-E5F161D8C43F}"/>
              </a:ext>
            </a:extLst>
          </p:cNvPr>
          <p:cNvCxnSpPr/>
          <p:nvPr/>
        </p:nvCxnSpPr>
        <p:spPr>
          <a:xfrm>
            <a:off x="111864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9544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BFAA696E-A00D-65DD-9508-730526C29947}"/>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B4E4F9AC-A0A4-338B-627C-B9777BF817A9}"/>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09</a:t>
            </a:r>
          </a:p>
        </p:txBody>
      </p:sp>
      <p:sp>
        <p:nvSpPr>
          <p:cNvPr id="11" name="TextBox 10">
            <a:extLst>
              <a:ext uri="{FF2B5EF4-FFF2-40B4-BE49-F238E27FC236}">
                <a16:creationId xmlns:a16="http://schemas.microsoft.com/office/drawing/2014/main" id="{3F6599FD-A272-D553-90E1-FCE2CB3A152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OVERALL DASHBOARD</a:t>
            </a:r>
          </a:p>
        </p:txBody>
      </p:sp>
      <p:sp>
        <p:nvSpPr>
          <p:cNvPr id="12" name="TextBox 11">
            <a:extLst>
              <a:ext uri="{FF2B5EF4-FFF2-40B4-BE49-F238E27FC236}">
                <a16:creationId xmlns:a16="http://schemas.microsoft.com/office/drawing/2014/main" id="{95739EDD-B9C3-4443-E4C7-C46973C1152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Dashboard Prioritizes What Matters</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BB25FFB-2703-6BBA-BDF9-43CCC87859E9}"/>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2224948-2A6D-8458-3608-37E8F3B2BB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2DE4EB8-4146-D04A-E117-0786EC6717AC}"/>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09</a:t>
            </a:r>
          </a:p>
        </p:txBody>
      </p:sp>
      <p:sp>
        <p:nvSpPr>
          <p:cNvPr id="16" name="Rectangle: Rounded Corners 15">
            <a:extLst>
              <a:ext uri="{FF2B5EF4-FFF2-40B4-BE49-F238E27FC236}">
                <a16:creationId xmlns:a16="http://schemas.microsoft.com/office/drawing/2014/main" id="{07197B67-1042-9016-1F95-B4CCB3E4DA9C}"/>
              </a:ext>
            </a:extLst>
          </p:cNvPr>
          <p:cNvSpPr/>
          <p:nvPr/>
        </p:nvSpPr>
        <p:spPr>
          <a:xfrm>
            <a:off x="889000" y="3048000"/>
            <a:ext cx="3175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65DA656-6088-D9B4-6B2E-4B5852904DC5}"/>
              </a:ext>
            </a:extLst>
          </p:cNvPr>
          <p:cNvSpPr txBox="1"/>
          <p:nvPr/>
        </p:nvSpPr>
        <p:spPr>
          <a:xfrm>
            <a:off x="1193800" y="3378200"/>
            <a:ext cx="2565400" cy="615553"/>
          </a:xfrm>
          <a:prstGeom prst="rect">
            <a:avLst/>
          </a:prstGeom>
          <a:noFill/>
        </p:spPr>
        <p:txBody>
          <a:bodyPr vert="horz" wrap="square" lIns="0" tIns="0" rIns="0" bIns="0" rtlCol="0">
            <a:spAutoFit/>
          </a:bodyPr>
          <a:lstStyle/>
          <a:p>
            <a:pPr algn="ctr"/>
            <a:r>
              <a:rPr lang="en-US" sz="4000" b="1">
                <a:solidFill>
                  <a:srgbClr val="22C55E"/>
                </a:solidFill>
                <a:latin typeface="Arial" panose="020B0604020202020204" pitchFamily="34" charset="0"/>
              </a:rPr>
              <a:t>—</a:t>
            </a:r>
          </a:p>
        </p:txBody>
      </p:sp>
      <p:sp>
        <p:nvSpPr>
          <p:cNvPr id="18" name="TextBox 17">
            <a:extLst>
              <a:ext uri="{FF2B5EF4-FFF2-40B4-BE49-F238E27FC236}">
                <a16:creationId xmlns:a16="http://schemas.microsoft.com/office/drawing/2014/main" id="{53F9AC46-56B9-683C-8BBD-080D78313879}"/>
              </a:ext>
            </a:extLst>
          </p:cNvPr>
          <p:cNvSpPr txBox="1"/>
          <p:nvPr/>
        </p:nvSpPr>
        <p:spPr>
          <a:xfrm>
            <a:off x="1193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BOARD PRODUCED</a:t>
            </a:r>
          </a:p>
        </p:txBody>
      </p:sp>
      <p:sp>
        <p:nvSpPr>
          <p:cNvPr id="19" name="TextBox 18">
            <a:extLst>
              <a:ext uri="{FF2B5EF4-FFF2-40B4-BE49-F238E27FC236}">
                <a16:creationId xmlns:a16="http://schemas.microsoft.com/office/drawing/2014/main" id="{6A2A7FF5-C781-CE9A-B0A5-A95B250E9254}"/>
              </a:ext>
            </a:extLst>
          </p:cNvPr>
          <p:cNvSpPr txBox="1"/>
          <p:nvPr/>
        </p:nvSpPr>
        <p:spPr>
          <a:xfrm>
            <a:off x="1193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Output by line</a:t>
            </a:r>
          </a:p>
        </p:txBody>
      </p:sp>
      <p:sp>
        <p:nvSpPr>
          <p:cNvPr id="20" name="Rectangle: Rounded Corners 19">
            <a:extLst>
              <a:ext uri="{FF2B5EF4-FFF2-40B4-BE49-F238E27FC236}">
                <a16:creationId xmlns:a16="http://schemas.microsoft.com/office/drawing/2014/main" id="{A22EBFA8-63B4-2B0E-D1BE-BD4B5C3047EF}"/>
              </a:ext>
            </a:extLst>
          </p:cNvPr>
          <p:cNvSpPr/>
          <p:nvPr/>
        </p:nvSpPr>
        <p:spPr>
          <a:xfrm>
            <a:off x="4572000" y="3048000"/>
            <a:ext cx="3175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48A693-BEFD-D3B1-6F6F-30C8289F16EE}"/>
              </a:ext>
            </a:extLst>
          </p:cNvPr>
          <p:cNvSpPr txBox="1"/>
          <p:nvPr/>
        </p:nvSpPr>
        <p:spPr>
          <a:xfrm>
            <a:off x="4876800" y="3378200"/>
            <a:ext cx="2565400" cy="615553"/>
          </a:xfrm>
          <a:prstGeom prst="rect">
            <a:avLst/>
          </a:prstGeom>
          <a:noFill/>
        </p:spPr>
        <p:txBody>
          <a:bodyPr vert="horz" wrap="square" lIns="0" tIns="0" rIns="0" bIns="0" rtlCol="0">
            <a:spAutoFit/>
          </a:bodyPr>
          <a:lstStyle/>
          <a:p>
            <a:pPr algn="ctr"/>
            <a:r>
              <a:rPr lang="en-US" sz="4000" b="1">
                <a:solidFill>
                  <a:srgbClr val="00E6F0"/>
                </a:solidFill>
                <a:latin typeface="Arial" panose="020B0604020202020204" pitchFamily="34" charset="0"/>
              </a:rPr>
              <a:t>—</a:t>
            </a:r>
          </a:p>
        </p:txBody>
      </p:sp>
      <p:sp>
        <p:nvSpPr>
          <p:cNvPr id="22" name="TextBox 21">
            <a:extLst>
              <a:ext uri="{FF2B5EF4-FFF2-40B4-BE49-F238E27FC236}">
                <a16:creationId xmlns:a16="http://schemas.microsoft.com/office/drawing/2014/main" id="{4ECEBF72-3946-1B99-B69F-24925B17C82C}"/>
              </a:ext>
            </a:extLst>
          </p:cNvPr>
          <p:cNvSpPr txBox="1"/>
          <p:nvPr/>
        </p:nvSpPr>
        <p:spPr>
          <a:xfrm>
            <a:off x="4876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PPM</a:t>
            </a:r>
          </a:p>
        </p:txBody>
      </p:sp>
      <p:sp>
        <p:nvSpPr>
          <p:cNvPr id="23" name="TextBox 22">
            <a:extLst>
              <a:ext uri="{FF2B5EF4-FFF2-40B4-BE49-F238E27FC236}">
                <a16:creationId xmlns:a16="http://schemas.microsoft.com/office/drawing/2014/main" id="{A76AF912-1DCF-9919-7A84-66E286A653C7}"/>
              </a:ext>
            </a:extLst>
          </p:cNvPr>
          <p:cNvSpPr txBox="1"/>
          <p:nvPr/>
        </p:nvSpPr>
        <p:spPr>
          <a:xfrm>
            <a:off x="4876800" y="4470400"/>
            <a:ext cx="25654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Relative quality</a:t>
            </a:r>
            <a:endParaRPr lang="en-US" sz="1300">
              <a:solidFill>
                <a:srgbClr val="94A3B8"/>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6825CD6E-5A26-945D-D0A1-B728E8287084}"/>
              </a:ext>
            </a:extLst>
          </p:cNvPr>
          <p:cNvSpPr/>
          <p:nvPr/>
        </p:nvSpPr>
        <p:spPr>
          <a:xfrm>
            <a:off x="8255000" y="3048000"/>
            <a:ext cx="3175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F7E002F-1A43-7879-0531-A3F410FEC137}"/>
              </a:ext>
            </a:extLst>
          </p:cNvPr>
          <p:cNvSpPr txBox="1"/>
          <p:nvPr/>
        </p:nvSpPr>
        <p:spPr>
          <a:xfrm>
            <a:off x="8559800" y="3378200"/>
            <a:ext cx="2565400" cy="615553"/>
          </a:xfrm>
          <a:prstGeom prst="rect">
            <a:avLst/>
          </a:prstGeom>
          <a:noFill/>
        </p:spPr>
        <p:txBody>
          <a:bodyPr vert="horz" wrap="square" lIns="0" tIns="0" rIns="0" bIns="0" rtlCol="0">
            <a:spAutoFit/>
          </a:bodyPr>
          <a:lstStyle/>
          <a:p>
            <a:pPr algn="ctr"/>
            <a:r>
              <a:rPr lang="en-US" sz="4000" b="1">
                <a:solidFill>
                  <a:srgbClr val="F59E0B"/>
                </a:solidFill>
                <a:latin typeface="Arial" panose="020B0604020202020204" pitchFamily="34" charset="0"/>
              </a:rPr>
              <a:t>—</a:t>
            </a:r>
          </a:p>
        </p:txBody>
      </p:sp>
      <p:sp>
        <p:nvSpPr>
          <p:cNvPr id="26" name="TextBox 25">
            <a:extLst>
              <a:ext uri="{FF2B5EF4-FFF2-40B4-BE49-F238E27FC236}">
                <a16:creationId xmlns:a16="http://schemas.microsoft.com/office/drawing/2014/main" id="{DD56331A-54B1-2FEA-349B-9BA9E6FC3B84}"/>
              </a:ext>
            </a:extLst>
          </p:cNvPr>
          <p:cNvSpPr txBox="1"/>
          <p:nvPr/>
        </p:nvSpPr>
        <p:spPr>
          <a:xfrm>
            <a:off x="8559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ERROR STOP</a:t>
            </a:r>
          </a:p>
        </p:txBody>
      </p:sp>
      <p:sp>
        <p:nvSpPr>
          <p:cNvPr id="27" name="TextBox 26">
            <a:extLst>
              <a:ext uri="{FF2B5EF4-FFF2-40B4-BE49-F238E27FC236}">
                <a16:creationId xmlns:a16="http://schemas.microsoft.com/office/drawing/2014/main" id="{A1B27D20-ECDB-602B-C60A-0517D19FFD21}"/>
              </a:ext>
            </a:extLst>
          </p:cNvPr>
          <p:cNvSpPr txBox="1"/>
          <p:nvPr/>
        </p:nvSpPr>
        <p:spPr>
          <a:xfrm>
            <a:off x="8559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Error-stop duration</a:t>
            </a:r>
          </a:p>
        </p:txBody>
      </p:sp>
      <p:sp>
        <p:nvSpPr>
          <p:cNvPr id="28" name="Rectangle: Rounded Corners 27">
            <a:extLst>
              <a:ext uri="{FF2B5EF4-FFF2-40B4-BE49-F238E27FC236}">
                <a16:creationId xmlns:a16="http://schemas.microsoft.com/office/drawing/2014/main" id="{083B9427-5A4D-6059-B2F5-533D8DEECB4A}"/>
              </a:ext>
            </a:extLst>
          </p:cNvPr>
          <p:cNvSpPr/>
          <p:nvPr/>
        </p:nvSpPr>
        <p:spPr>
          <a:xfrm>
            <a:off x="12192000" y="3048000"/>
            <a:ext cx="5207000" cy="419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3808C77-41DC-84DF-8AA6-17E10DEBE00F}"/>
              </a:ext>
            </a:extLst>
          </p:cNvPr>
          <p:cNvSpPr txBox="1"/>
          <p:nvPr/>
        </p:nvSpPr>
        <p:spPr>
          <a:xfrm>
            <a:off x="12636500" y="34290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ACTION LISTS</a:t>
            </a:r>
          </a:p>
        </p:txBody>
      </p:sp>
      <p:sp>
        <p:nvSpPr>
          <p:cNvPr id="30" name="TextBox 29">
            <a:extLst>
              <a:ext uri="{FF2B5EF4-FFF2-40B4-BE49-F238E27FC236}">
                <a16:creationId xmlns:a16="http://schemas.microsoft.com/office/drawing/2014/main" id="{4BEA78B3-4D02-F651-59DB-A372FC51997E}"/>
              </a:ext>
            </a:extLst>
          </p:cNvPr>
          <p:cNvSpPr txBox="1"/>
          <p:nvPr/>
        </p:nvSpPr>
        <p:spPr>
          <a:xfrm>
            <a:off x="12636500" y="4127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feeder</a:t>
            </a:r>
          </a:p>
        </p:txBody>
      </p:sp>
      <p:sp>
        <p:nvSpPr>
          <p:cNvPr id="31" name="Rectangle 30">
            <a:extLst>
              <a:ext uri="{FF2B5EF4-FFF2-40B4-BE49-F238E27FC236}">
                <a16:creationId xmlns:a16="http://schemas.microsoft.com/office/drawing/2014/main" id="{64FAD928-881D-C777-522C-D1E63307D78C}"/>
              </a:ext>
            </a:extLst>
          </p:cNvPr>
          <p:cNvSpPr/>
          <p:nvPr/>
        </p:nvSpPr>
        <p:spPr>
          <a:xfrm>
            <a:off x="14605000" y="4165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9DB6FD0-80B7-9F28-5262-B45F97B07199}"/>
              </a:ext>
            </a:extLst>
          </p:cNvPr>
          <p:cNvSpPr/>
          <p:nvPr/>
        </p:nvSpPr>
        <p:spPr>
          <a:xfrm>
            <a:off x="14605000" y="4165600"/>
            <a:ext cx="1770380" cy="1651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65BBA42-3C67-74D4-5F2A-2A447D66DB25}"/>
              </a:ext>
            </a:extLst>
          </p:cNvPr>
          <p:cNvSpPr txBox="1"/>
          <p:nvPr/>
        </p:nvSpPr>
        <p:spPr>
          <a:xfrm>
            <a:off x="12636500" y="4826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nozzle</a:t>
            </a:r>
          </a:p>
        </p:txBody>
      </p:sp>
      <p:sp>
        <p:nvSpPr>
          <p:cNvPr id="34" name="Rectangle 33">
            <a:extLst>
              <a:ext uri="{FF2B5EF4-FFF2-40B4-BE49-F238E27FC236}">
                <a16:creationId xmlns:a16="http://schemas.microsoft.com/office/drawing/2014/main" id="{5E8A7790-59A4-C64E-5ED6-852F11F0EB0A}"/>
              </a:ext>
            </a:extLst>
          </p:cNvPr>
          <p:cNvSpPr/>
          <p:nvPr/>
        </p:nvSpPr>
        <p:spPr>
          <a:xfrm>
            <a:off x="14605000" y="4864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7D37DBD-09E5-0571-DCD3-EADB613B7E01}"/>
              </a:ext>
            </a:extLst>
          </p:cNvPr>
          <p:cNvSpPr/>
          <p:nvPr/>
        </p:nvSpPr>
        <p:spPr>
          <a:xfrm>
            <a:off x="14605000" y="4864100"/>
            <a:ext cx="1424939" cy="1651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F4E90F5-E693-BD03-B089-5365E2972A2A}"/>
              </a:ext>
            </a:extLst>
          </p:cNvPr>
          <p:cNvSpPr txBox="1"/>
          <p:nvPr/>
        </p:nvSpPr>
        <p:spPr>
          <a:xfrm>
            <a:off x="12636500" y="5524500"/>
            <a:ext cx="1905000" cy="215444"/>
          </a:xfrm>
          <a:prstGeom prst="rect">
            <a:avLst/>
          </a:prstGeom>
          <a:noFill/>
        </p:spPr>
        <p:txBody>
          <a:bodyPr vert="horz" wrap="square" lIns="0" tIns="0" rIns="0" bIns="0" rtlCol="0">
            <a:spAutoFit/>
          </a:bodyPr>
          <a:lstStyle/>
          <a:p>
            <a:r>
              <a:rPr lang="en-US" sz="1400" dirty="0">
                <a:solidFill>
                  <a:srgbClr val="E6F0FA"/>
                </a:solidFill>
                <a:latin typeface="Arial" panose="020B0604020202020204" pitchFamily="34" charset="0"/>
              </a:rPr>
              <a:t>Board count</a:t>
            </a:r>
          </a:p>
        </p:txBody>
      </p:sp>
      <p:sp>
        <p:nvSpPr>
          <p:cNvPr id="37" name="Rectangle 36">
            <a:extLst>
              <a:ext uri="{FF2B5EF4-FFF2-40B4-BE49-F238E27FC236}">
                <a16:creationId xmlns:a16="http://schemas.microsoft.com/office/drawing/2014/main" id="{1640817E-06DB-D5C8-FDFA-9D0644AD1B48}"/>
              </a:ext>
            </a:extLst>
          </p:cNvPr>
          <p:cNvSpPr/>
          <p:nvPr/>
        </p:nvSpPr>
        <p:spPr>
          <a:xfrm>
            <a:off x="14605000" y="5562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76A43F3-96EA-0CE9-AFD5-881D17C7F2BB}"/>
              </a:ext>
            </a:extLst>
          </p:cNvPr>
          <p:cNvSpPr/>
          <p:nvPr/>
        </p:nvSpPr>
        <p:spPr>
          <a:xfrm>
            <a:off x="14605000" y="5562600"/>
            <a:ext cx="1964689" cy="1651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31CC2B0-21FE-6CE1-B44D-D73D35708388}"/>
              </a:ext>
            </a:extLst>
          </p:cNvPr>
          <p:cNvSpPr txBox="1"/>
          <p:nvPr/>
        </p:nvSpPr>
        <p:spPr>
          <a:xfrm>
            <a:off x="12636500" y="6223000"/>
            <a:ext cx="1905000" cy="215444"/>
          </a:xfrm>
          <a:prstGeom prst="rect">
            <a:avLst/>
          </a:prstGeom>
          <a:noFill/>
        </p:spPr>
        <p:txBody>
          <a:bodyPr vert="horz" wrap="square" lIns="0" tIns="0" rIns="0" bIns="0" rtlCol="0">
            <a:spAutoFit/>
          </a:bodyPr>
          <a:lstStyle/>
          <a:p>
            <a:r>
              <a:rPr lang="en-US" sz="1400" dirty="0">
                <a:solidFill>
                  <a:srgbClr val="E6F0FA"/>
                </a:solidFill>
                <a:latin typeface="Arial" panose="020B0604020202020204" pitchFamily="34" charset="0"/>
              </a:rPr>
              <a:t>Stop time</a:t>
            </a:r>
          </a:p>
        </p:txBody>
      </p:sp>
      <p:sp>
        <p:nvSpPr>
          <p:cNvPr id="40" name="Rectangle 39">
            <a:extLst>
              <a:ext uri="{FF2B5EF4-FFF2-40B4-BE49-F238E27FC236}">
                <a16:creationId xmlns:a16="http://schemas.microsoft.com/office/drawing/2014/main" id="{E7ED7CBB-7615-DCF0-4BB9-2682737C3602}"/>
              </a:ext>
            </a:extLst>
          </p:cNvPr>
          <p:cNvSpPr/>
          <p:nvPr/>
        </p:nvSpPr>
        <p:spPr>
          <a:xfrm>
            <a:off x="14605000" y="6261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3457356-E99A-FE28-62E1-2AB18428904E}"/>
              </a:ext>
            </a:extLst>
          </p:cNvPr>
          <p:cNvSpPr/>
          <p:nvPr/>
        </p:nvSpPr>
        <p:spPr>
          <a:xfrm>
            <a:off x="14605000" y="6261100"/>
            <a:ext cx="1187450" cy="1651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F2F6087-D65B-8F00-418F-9F7182512268}"/>
              </a:ext>
            </a:extLst>
          </p:cNvPr>
          <p:cNvSpPr/>
          <p:nvPr/>
        </p:nvSpPr>
        <p:spPr>
          <a:xfrm>
            <a:off x="889000" y="5880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EB443C0-9FD9-EB5C-D037-3E8CE7307362}"/>
              </a:ext>
            </a:extLst>
          </p:cNvPr>
          <p:cNvSpPr txBox="1"/>
          <p:nvPr/>
        </p:nvSpPr>
        <p:spPr>
          <a:xfrm>
            <a:off x="1193800" y="57785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Compare by line and time range</a:t>
            </a:r>
          </a:p>
        </p:txBody>
      </p:sp>
      <p:sp>
        <p:nvSpPr>
          <p:cNvPr id="44" name="Oval 43">
            <a:extLst>
              <a:ext uri="{FF2B5EF4-FFF2-40B4-BE49-F238E27FC236}">
                <a16:creationId xmlns:a16="http://schemas.microsoft.com/office/drawing/2014/main" id="{1D60767F-5FB6-9CC3-6624-695C5F5259C7}"/>
              </a:ext>
            </a:extLst>
          </p:cNvPr>
          <p:cNvSpPr/>
          <p:nvPr/>
        </p:nvSpPr>
        <p:spPr>
          <a:xfrm>
            <a:off x="889000" y="66167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BD0E057-2621-928E-129E-A1FD843999B1}"/>
              </a:ext>
            </a:extLst>
          </p:cNvPr>
          <p:cNvSpPr txBox="1"/>
          <p:nvPr/>
        </p:nvSpPr>
        <p:spPr>
          <a:xfrm>
            <a:off x="1193800" y="65151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Focus on top worst feeder / nozzle</a:t>
            </a:r>
          </a:p>
        </p:txBody>
      </p:sp>
      <p:sp>
        <p:nvSpPr>
          <p:cNvPr id="46" name="Oval 45">
            <a:extLst>
              <a:ext uri="{FF2B5EF4-FFF2-40B4-BE49-F238E27FC236}">
                <a16:creationId xmlns:a16="http://schemas.microsoft.com/office/drawing/2014/main" id="{78194E77-0CF8-5359-C295-5986E46C7663}"/>
              </a:ext>
            </a:extLst>
          </p:cNvPr>
          <p:cNvSpPr/>
          <p:nvPr/>
        </p:nvSpPr>
        <p:spPr>
          <a:xfrm>
            <a:off x="889000" y="73533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CAAF62B-33D2-B288-05A4-46BECABD59A6}"/>
              </a:ext>
            </a:extLst>
          </p:cNvPr>
          <p:cNvSpPr txBox="1"/>
          <p:nvPr/>
        </p:nvSpPr>
        <p:spPr>
          <a:xfrm>
            <a:off x="1193800" y="72517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Track pickup, placement, PPM, and stop time</a:t>
            </a:r>
          </a:p>
        </p:txBody>
      </p:sp>
      <p:sp>
        <p:nvSpPr>
          <p:cNvPr id="48" name="TextBox 47">
            <a:extLst>
              <a:ext uri="{FF2B5EF4-FFF2-40B4-BE49-F238E27FC236}">
                <a16:creationId xmlns:a16="http://schemas.microsoft.com/office/drawing/2014/main" id="{0C715AB1-59EF-BCAD-BA59-5F9530858D2F}"/>
              </a:ext>
            </a:extLst>
          </p:cNvPr>
          <p:cNvSpPr txBox="1"/>
          <p:nvPr/>
        </p:nvSpPr>
        <p:spPr>
          <a:xfrm>
            <a:off x="12192000" y="7556500"/>
            <a:ext cx="5207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KPI placeholder — actual values depend on filters.</a:t>
            </a:r>
          </a:p>
        </p:txBody>
      </p:sp>
      <p:sp>
        <p:nvSpPr>
          <p:cNvPr id="3" name="TextBox 2">
            <a:extLst>
              <a:ext uri="{FF2B5EF4-FFF2-40B4-BE49-F238E27FC236}">
                <a16:creationId xmlns:a16="http://schemas.microsoft.com/office/drawing/2014/main" id="{6F9F360F-D5B1-6A4D-3BF8-5F56E5FC8D4A}"/>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49" name="TextBox 48">
            <a:extLst>
              <a:ext uri="{FF2B5EF4-FFF2-40B4-BE49-F238E27FC236}">
                <a16:creationId xmlns:a16="http://schemas.microsoft.com/office/drawing/2014/main" id="{D65F43E1-FD5D-6D0B-407B-5AB3AADB0CFE}"/>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50" name="TextBox 49">
            <a:extLst>
              <a:ext uri="{FF2B5EF4-FFF2-40B4-BE49-F238E27FC236}">
                <a16:creationId xmlns:a16="http://schemas.microsoft.com/office/drawing/2014/main" id="{ECEB7663-331E-E14F-EDDA-6BFD65E1DDEC}"/>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51" name="TextBox 50">
            <a:extLst>
              <a:ext uri="{FF2B5EF4-FFF2-40B4-BE49-F238E27FC236}">
                <a16:creationId xmlns:a16="http://schemas.microsoft.com/office/drawing/2014/main" id="{57DAFB7B-457D-D9AD-EA0F-7B5461430742}"/>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52" name="Straight Connector 51">
            <a:extLst>
              <a:ext uri="{FF2B5EF4-FFF2-40B4-BE49-F238E27FC236}">
                <a16:creationId xmlns:a16="http://schemas.microsoft.com/office/drawing/2014/main" id="{E00C0E42-2DF9-15D9-E720-36E0245D067B}"/>
              </a:ext>
            </a:extLst>
          </p:cNvPr>
          <p:cNvCxnSpPr/>
          <p:nvPr/>
        </p:nvCxnSpPr>
        <p:spPr>
          <a:xfrm>
            <a:off x="111864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9727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50985694-57C9-F840-F9AF-F39FBCB702E2}"/>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CECA9E02-5243-6236-AC2E-5FF9F9CF336F}"/>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10</a:t>
            </a:r>
          </a:p>
        </p:txBody>
      </p:sp>
      <p:sp>
        <p:nvSpPr>
          <p:cNvPr id="11" name="TextBox 10">
            <a:extLst>
              <a:ext uri="{FF2B5EF4-FFF2-40B4-BE49-F238E27FC236}">
                <a16:creationId xmlns:a16="http://schemas.microsoft.com/office/drawing/2014/main" id="{BABD8F67-DA9A-C9B3-782B-656FB67AA532}"/>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PRODUCTION ANALYTICS</a:t>
            </a:r>
          </a:p>
        </p:txBody>
      </p:sp>
      <p:sp>
        <p:nvSpPr>
          <p:cNvPr id="12" name="TextBox 11">
            <a:extLst>
              <a:ext uri="{FF2B5EF4-FFF2-40B4-BE49-F238E27FC236}">
                <a16:creationId xmlns:a16="http://schemas.microsoft.com/office/drawing/2014/main" id="{0658A6F9-A4AE-E33A-8A64-BE0DA7C0E68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Three Reports Track Productivity</a:t>
            </a:r>
            <a:endParaRPr lang="en-US" sz="3400" b="1" dirty="0">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6C23BC95-2FBC-A72D-7B90-3921BFBE5B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ED7813E-C4F8-91D8-4853-03A079E5D9B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5C3597-7EF1-5F99-0E17-03C6D54E33B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10</a:t>
            </a:r>
          </a:p>
        </p:txBody>
      </p:sp>
      <p:sp>
        <p:nvSpPr>
          <p:cNvPr id="16" name="Rectangle: Rounded Corners 15">
            <a:extLst>
              <a:ext uri="{FF2B5EF4-FFF2-40B4-BE49-F238E27FC236}">
                <a16:creationId xmlns:a16="http://schemas.microsoft.com/office/drawing/2014/main" id="{A73E1431-FC13-E3A2-E9A9-F035A56F426C}"/>
              </a:ext>
            </a:extLst>
          </p:cNvPr>
          <p:cNvSpPr/>
          <p:nvPr/>
        </p:nvSpPr>
        <p:spPr>
          <a:xfrm>
            <a:off x="889000" y="2984500"/>
            <a:ext cx="4953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4BC11B-22C9-3BE7-A136-0B75F2B408A0}"/>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29811BBC-CC9F-2F98-5E18-3F22E93EF639}"/>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D8A6BE0-B1CE-41C2-D7EF-92522F4D9A3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C28D2A1B-7F27-CEB6-FC5E-03DD149DF544}"/>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Board Count</a:t>
            </a:r>
          </a:p>
        </p:txBody>
      </p:sp>
      <p:sp>
        <p:nvSpPr>
          <p:cNvPr id="21" name="TextBox 20">
            <a:extLst>
              <a:ext uri="{FF2B5EF4-FFF2-40B4-BE49-F238E27FC236}">
                <a16:creationId xmlns:a16="http://schemas.microsoft.com/office/drawing/2014/main" id="{49011DFE-EB06-C195-FAE0-05B587246393}"/>
              </a:ext>
            </a:extLst>
          </p:cNvPr>
          <p:cNvSpPr txBox="1"/>
          <p:nvPr/>
        </p:nvSpPr>
        <p:spPr>
          <a:xfrm>
            <a:off x="11938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Output trends by line, lane, time, and model.</a:t>
            </a:r>
          </a:p>
        </p:txBody>
      </p:sp>
      <p:sp>
        <p:nvSpPr>
          <p:cNvPr id="22" name="Rectangle: Rounded Corners 21">
            <a:extLst>
              <a:ext uri="{FF2B5EF4-FFF2-40B4-BE49-F238E27FC236}">
                <a16:creationId xmlns:a16="http://schemas.microsoft.com/office/drawing/2014/main" id="{8575EA69-8FC2-D22D-F999-EBBD80E069CB}"/>
              </a:ext>
            </a:extLst>
          </p:cNvPr>
          <p:cNvSpPr/>
          <p:nvPr/>
        </p:nvSpPr>
        <p:spPr>
          <a:xfrm>
            <a:off x="6667500" y="2984500"/>
            <a:ext cx="4953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C77284-AD5C-07AF-19F3-EBD88E358A7D}"/>
              </a:ext>
            </a:extLst>
          </p:cNvPr>
          <p:cNvSpPr/>
          <p:nvPr/>
        </p:nvSpPr>
        <p:spPr>
          <a:xfrm>
            <a:off x="6667500" y="2984500"/>
            <a:ext cx="101600" cy="20955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316A303-C0FD-6627-BAED-0952E0F815C4}"/>
              </a:ext>
            </a:extLst>
          </p:cNvPr>
          <p:cNvSpPr/>
          <p:nvPr/>
        </p:nvSpPr>
        <p:spPr>
          <a:xfrm>
            <a:off x="6972300" y="32131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BFC4287-D33B-8436-2999-16A93E6FA904}"/>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873F7EA7-7FE0-460E-74DC-0B51546A3BA8}"/>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Report</a:t>
            </a:r>
          </a:p>
        </p:txBody>
      </p:sp>
      <p:sp>
        <p:nvSpPr>
          <p:cNvPr id="27" name="TextBox 26">
            <a:extLst>
              <a:ext uri="{FF2B5EF4-FFF2-40B4-BE49-F238E27FC236}">
                <a16:creationId xmlns:a16="http://schemas.microsoft.com/office/drawing/2014/main" id="{5D3E26F9-63F3-7418-856D-657BD7B42A6F}"/>
              </a:ext>
            </a:extLst>
          </p:cNvPr>
          <p:cNvSpPr txBox="1"/>
          <p:nvPr/>
        </p:nvSpPr>
        <p:spPr>
          <a:xfrm>
            <a:off x="69723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Panel / pattern output by line, lane, model, and group.</a:t>
            </a:r>
          </a:p>
        </p:txBody>
      </p:sp>
      <p:sp>
        <p:nvSpPr>
          <p:cNvPr id="28" name="Rectangle: Rounded Corners 27">
            <a:extLst>
              <a:ext uri="{FF2B5EF4-FFF2-40B4-BE49-F238E27FC236}">
                <a16:creationId xmlns:a16="http://schemas.microsoft.com/office/drawing/2014/main" id="{FA4115EE-625C-F557-506F-01E735A6D20F}"/>
              </a:ext>
            </a:extLst>
          </p:cNvPr>
          <p:cNvSpPr/>
          <p:nvPr/>
        </p:nvSpPr>
        <p:spPr>
          <a:xfrm>
            <a:off x="12446000" y="2984500"/>
            <a:ext cx="4953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68F5372-FE04-1EF1-CCB8-6C74B948FD12}"/>
              </a:ext>
            </a:extLst>
          </p:cNvPr>
          <p:cNvSpPr/>
          <p:nvPr/>
        </p:nvSpPr>
        <p:spPr>
          <a:xfrm>
            <a:off x="12446000" y="2984500"/>
            <a:ext cx="101600" cy="20955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64C7C736-A1A2-DDC3-D0A6-D6F983E7665F}"/>
              </a:ext>
            </a:extLst>
          </p:cNvPr>
          <p:cNvSpPr/>
          <p:nvPr/>
        </p:nvSpPr>
        <p:spPr>
          <a:xfrm>
            <a:off x="12750800" y="3213100"/>
            <a:ext cx="7874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AF2B04E-2F5A-553E-C615-2E8BEE1307E4}"/>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A5BFFD92-29A1-5CED-375A-9C214C79CF22}"/>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Cycle Time</a:t>
            </a:r>
          </a:p>
        </p:txBody>
      </p:sp>
      <p:sp>
        <p:nvSpPr>
          <p:cNvPr id="33" name="TextBox 32">
            <a:extLst>
              <a:ext uri="{FF2B5EF4-FFF2-40B4-BE49-F238E27FC236}">
                <a16:creationId xmlns:a16="http://schemas.microsoft.com/office/drawing/2014/main" id="{BD3636B1-32F5-1332-1C82-B61DA98BEF98}"/>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Evaluate cycle performance by line, model, and group.</a:t>
            </a:r>
          </a:p>
        </p:txBody>
      </p:sp>
      <p:cxnSp>
        <p:nvCxnSpPr>
          <p:cNvPr id="34" name="Straight Connector 33">
            <a:extLst>
              <a:ext uri="{FF2B5EF4-FFF2-40B4-BE49-F238E27FC236}">
                <a16:creationId xmlns:a16="http://schemas.microsoft.com/office/drawing/2014/main" id="{FA14866A-8A0B-8D7F-B8B9-21301B3EADC3}"/>
              </a:ext>
            </a:extLst>
          </p:cNvPr>
          <p:cNvCxnSpPr/>
          <p:nvPr/>
        </p:nvCxnSpPr>
        <p:spPr>
          <a:xfrm>
            <a:off x="1270000" y="7493000"/>
            <a:ext cx="4000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E0EA0B9-E162-6749-DBBD-6E0EF504196C}"/>
              </a:ext>
            </a:extLst>
          </p:cNvPr>
          <p:cNvCxnSpPr/>
          <p:nvPr/>
        </p:nvCxnSpPr>
        <p:spPr>
          <a:xfrm flipV="1">
            <a:off x="1270000" y="5778500"/>
            <a:ext cx="0" cy="171450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7E914CB-9F8F-FE4B-8053-30A0ADE487AC}"/>
              </a:ext>
            </a:extLst>
          </p:cNvPr>
          <p:cNvCxnSpPr/>
          <p:nvPr/>
        </p:nvCxnSpPr>
        <p:spPr>
          <a:xfrm flipV="1">
            <a:off x="1333500" y="6921500"/>
            <a:ext cx="8255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44655F2-8F6F-CFC2-2560-F73B909A6FCB}"/>
              </a:ext>
            </a:extLst>
          </p:cNvPr>
          <p:cNvCxnSpPr/>
          <p:nvPr/>
        </p:nvCxnSpPr>
        <p:spPr>
          <a:xfrm>
            <a:off x="2159000" y="6921500"/>
            <a:ext cx="825500" cy="1270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8E25AAE-B3F7-0BEA-D162-1E010FBE098E}"/>
              </a:ext>
            </a:extLst>
          </p:cNvPr>
          <p:cNvCxnSpPr/>
          <p:nvPr/>
        </p:nvCxnSpPr>
        <p:spPr>
          <a:xfrm flipV="1">
            <a:off x="2984500" y="6350000"/>
            <a:ext cx="825500" cy="698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B1325C5-84D6-D45A-B848-AD3F00EB5F8E}"/>
              </a:ext>
            </a:extLst>
          </p:cNvPr>
          <p:cNvCxnSpPr/>
          <p:nvPr/>
        </p:nvCxnSpPr>
        <p:spPr>
          <a:xfrm flipV="1">
            <a:off x="3810000" y="6032500"/>
            <a:ext cx="8890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21E32C69-55CA-1455-0AB6-16C270BB2A96}"/>
              </a:ext>
            </a:extLst>
          </p:cNvPr>
          <p:cNvSpPr/>
          <p:nvPr/>
        </p:nvSpPr>
        <p:spPr>
          <a:xfrm>
            <a:off x="7175500" y="6985000"/>
            <a:ext cx="533400" cy="508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CB063B6-6E2B-4FF8-BB19-FE0D93F9FF25}"/>
              </a:ext>
            </a:extLst>
          </p:cNvPr>
          <p:cNvSpPr/>
          <p:nvPr/>
        </p:nvSpPr>
        <p:spPr>
          <a:xfrm>
            <a:off x="8128000" y="6705600"/>
            <a:ext cx="533400" cy="7874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E8598AA-04AF-1134-8D1A-92586FC99FA4}"/>
              </a:ext>
            </a:extLst>
          </p:cNvPr>
          <p:cNvSpPr/>
          <p:nvPr/>
        </p:nvSpPr>
        <p:spPr>
          <a:xfrm>
            <a:off x="9080500" y="6426200"/>
            <a:ext cx="533400" cy="10668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D2A7CBA-DC40-669F-1E36-A106B9527871}"/>
              </a:ext>
            </a:extLst>
          </p:cNvPr>
          <p:cNvSpPr/>
          <p:nvPr/>
        </p:nvSpPr>
        <p:spPr>
          <a:xfrm>
            <a:off x="10033000" y="6146800"/>
            <a:ext cx="533400" cy="13462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538A708-40D0-53D0-5673-6585785FE7EA}"/>
              </a:ext>
            </a:extLst>
          </p:cNvPr>
          <p:cNvSpPr/>
          <p:nvPr/>
        </p:nvSpPr>
        <p:spPr>
          <a:xfrm>
            <a:off x="13271500" y="6350000"/>
            <a:ext cx="939800" cy="939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EF4A0D4-16F8-E8AB-8AE6-48DFF6F7AF1D}"/>
              </a:ext>
            </a:extLst>
          </p:cNvPr>
          <p:cNvSpPr/>
          <p:nvPr/>
        </p:nvSpPr>
        <p:spPr>
          <a:xfrm>
            <a:off x="14439900" y="6032500"/>
            <a:ext cx="1066800" cy="1066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1C09136-2B8A-4584-CA33-62479FC8D33A}"/>
              </a:ext>
            </a:extLst>
          </p:cNvPr>
          <p:cNvSpPr/>
          <p:nvPr/>
        </p:nvSpPr>
        <p:spPr>
          <a:xfrm>
            <a:off x="15608300" y="5715000"/>
            <a:ext cx="1193800" cy="1193800"/>
          </a:xfrm>
          <a:prstGeom prst="ellipse">
            <a:avLst/>
          </a:prstGeom>
          <a:solidFill>
            <a:srgbClr val="F59E0B"/>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FB38518-90A1-F379-9AF9-66E0832811D6}"/>
              </a:ext>
            </a:extLst>
          </p:cNvPr>
          <p:cNvSpPr txBox="1"/>
          <p:nvPr/>
        </p:nvSpPr>
        <p:spPr>
          <a:xfrm>
            <a:off x="1270000" y="7810500"/>
            <a:ext cx="40005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Trend</a:t>
            </a:r>
            <a:endParaRPr lang="en-US" sz="1300">
              <a:solidFill>
                <a:srgbClr val="94A3B8"/>
              </a:solidFill>
              <a:latin typeface="Arial" panose="020B0604020202020204" pitchFamily="34" charset="0"/>
            </a:endParaRPr>
          </a:p>
        </p:txBody>
      </p:sp>
      <p:sp>
        <p:nvSpPr>
          <p:cNvPr id="48" name="TextBox 47">
            <a:extLst>
              <a:ext uri="{FF2B5EF4-FFF2-40B4-BE49-F238E27FC236}">
                <a16:creationId xmlns:a16="http://schemas.microsoft.com/office/drawing/2014/main" id="{B76D1B8A-4C93-4F39-438D-E88715303BA5}"/>
              </a:ext>
            </a:extLst>
          </p:cNvPr>
          <p:cNvSpPr txBox="1"/>
          <p:nvPr/>
        </p:nvSpPr>
        <p:spPr>
          <a:xfrm>
            <a:off x="6985000" y="7810500"/>
            <a:ext cx="4318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Output comparison</a:t>
            </a:r>
          </a:p>
        </p:txBody>
      </p:sp>
      <p:sp>
        <p:nvSpPr>
          <p:cNvPr id="49" name="TextBox 48">
            <a:extLst>
              <a:ext uri="{FF2B5EF4-FFF2-40B4-BE49-F238E27FC236}">
                <a16:creationId xmlns:a16="http://schemas.microsoft.com/office/drawing/2014/main" id="{CA3A0E0B-4812-D2EA-E0A9-095240C2AEBF}"/>
              </a:ext>
            </a:extLst>
          </p:cNvPr>
          <p:cNvSpPr txBox="1"/>
          <p:nvPr/>
        </p:nvSpPr>
        <p:spPr>
          <a:xfrm>
            <a:off x="12827000" y="7810500"/>
            <a:ext cx="4064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Cycle distribution</a:t>
            </a:r>
          </a:p>
        </p:txBody>
      </p:sp>
      <p:sp>
        <p:nvSpPr>
          <p:cNvPr id="3" name="TextBox 2">
            <a:extLst>
              <a:ext uri="{FF2B5EF4-FFF2-40B4-BE49-F238E27FC236}">
                <a16:creationId xmlns:a16="http://schemas.microsoft.com/office/drawing/2014/main" id="{5EEADD0E-A152-46A6-3D30-24540CA9CCA9}"/>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0" name="TextBox 49">
            <a:extLst>
              <a:ext uri="{FF2B5EF4-FFF2-40B4-BE49-F238E27FC236}">
                <a16:creationId xmlns:a16="http://schemas.microsoft.com/office/drawing/2014/main" id="{7174ED5E-A091-A6A6-6406-4141AA5BE93B}"/>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51" name="TextBox 50">
            <a:extLst>
              <a:ext uri="{FF2B5EF4-FFF2-40B4-BE49-F238E27FC236}">
                <a16:creationId xmlns:a16="http://schemas.microsoft.com/office/drawing/2014/main" id="{6B8B8984-525D-89E4-25BE-544927873BBE}"/>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52" name="TextBox 51">
            <a:extLst>
              <a:ext uri="{FF2B5EF4-FFF2-40B4-BE49-F238E27FC236}">
                <a16:creationId xmlns:a16="http://schemas.microsoft.com/office/drawing/2014/main" id="{8F5DB566-691F-3C27-F2EB-08F9FB3D6E66}"/>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53" name="Straight Connector 52">
            <a:extLst>
              <a:ext uri="{FF2B5EF4-FFF2-40B4-BE49-F238E27FC236}">
                <a16:creationId xmlns:a16="http://schemas.microsoft.com/office/drawing/2014/main" id="{4F9F2432-2EFC-7A73-A331-EFCD08979DE4}"/>
              </a:ext>
            </a:extLst>
          </p:cNvPr>
          <p:cNvCxnSpPr/>
          <p:nvPr/>
        </p:nvCxnSpPr>
        <p:spPr>
          <a:xfrm>
            <a:off x="111864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288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35D1E682-C6E8-82D3-2359-F2F9ED38DD9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F38C2627-71D9-C79D-DF0C-B91EABB688A4}"/>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11</a:t>
            </a:r>
          </a:p>
        </p:txBody>
      </p:sp>
      <p:sp>
        <p:nvSpPr>
          <p:cNvPr id="11" name="TextBox 10">
            <a:extLst>
              <a:ext uri="{FF2B5EF4-FFF2-40B4-BE49-F238E27FC236}">
                <a16:creationId xmlns:a16="http://schemas.microsoft.com/office/drawing/2014/main" id="{816E105C-7261-697B-DD65-775E48A94F6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QUALITY ROOT-CAUSE</a:t>
            </a:r>
          </a:p>
        </p:txBody>
      </p:sp>
      <p:sp>
        <p:nvSpPr>
          <p:cNvPr id="12" name="TextBox 11">
            <a:extLst>
              <a:ext uri="{FF2B5EF4-FFF2-40B4-BE49-F238E27FC236}">
                <a16:creationId xmlns:a16="http://schemas.microsoft.com/office/drawing/2014/main" id="{4BBD382C-F147-54F6-3E80-CB01CD02191C}"/>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From Symptoms to the Source</a:t>
            </a:r>
          </a:p>
        </p:txBody>
      </p:sp>
      <p:cxnSp>
        <p:nvCxnSpPr>
          <p:cNvPr id="13" name="Straight Connector 12">
            <a:extLst>
              <a:ext uri="{FF2B5EF4-FFF2-40B4-BE49-F238E27FC236}">
                <a16:creationId xmlns:a16="http://schemas.microsoft.com/office/drawing/2014/main" id="{212D985C-59B7-F843-15E7-D4600A5F716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DC8C997-C97B-DD7B-15E7-0B11EAE842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85B3957-CD53-159E-D33A-013363DBD53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11</a:t>
            </a:r>
          </a:p>
        </p:txBody>
      </p:sp>
      <p:sp>
        <p:nvSpPr>
          <p:cNvPr id="16" name="Oval 15">
            <a:extLst>
              <a:ext uri="{FF2B5EF4-FFF2-40B4-BE49-F238E27FC236}">
                <a16:creationId xmlns:a16="http://schemas.microsoft.com/office/drawing/2014/main" id="{EAEAAF95-0E6B-2C14-D6F3-748845B13B63}"/>
              </a:ext>
            </a:extLst>
          </p:cNvPr>
          <p:cNvSpPr/>
          <p:nvPr/>
        </p:nvSpPr>
        <p:spPr>
          <a:xfrm>
            <a:off x="2667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ED7F70-4279-672D-4FA1-006F42135161}"/>
              </a:ext>
            </a:extLst>
          </p:cNvPr>
          <p:cNvSpPr txBox="1"/>
          <p:nvPr/>
        </p:nvSpPr>
        <p:spPr>
          <a:xfrm>
            <a:off x="2794000" y="3861999"/>
            <a:ext cx="1270000" cy="276999"/>
          </a:xfrm>
          <a:prstGeom prst="rect">
            <a:avLst/>
          </a:prstGeom>
          <a:noFill/>
        </p:spPr>
        <p:txBody>
          <a:bodyPr vert="horz" wrap="square" lIns="0" tIns="0" rIns="0" bIns="0" rtlCol="0">
            <a:spAutoFit/>
          </a:bodyPr>
          <a:lstStyle/>
          <a:p>
            <a:pPr algn="ctr"/>
            <a:r>
              <a:rPr lang="en-US" b="1" dirty="0">
                <a:solidFill>
                  <a:srgbClr val="FFFFFF"/>
                </a:solidFill>
                <a:latin typeface="Arial" panose="020B0604020202020204" pitchFamily="34" charset="0"/>
              </a:rPr>
              <a:t>PART</a:t>
            </a:r>
          </a:p>
        </p:txBody>
      </p:sp>
      <p:sp>
        <p:nvSpPr>
          <p:cNvPr id="18" name="TextBox 17">
            <a:extLst>
              <a:ext uri="{FF2B5EF4-FFF2-40B4-BE49-F238E27FC236}">
                <a16:creationId xmlns:a16="http://schemas.microsoft.com/office/drawing/2014/main" id="{8F0A70A6-200B-0DD8-53FB-64BEFD155B3B}"/>
              </a:ext>
            </a:extLst>
          </p:cNvPr>
          <p:cNvSpPr txBox="1"/>
          <p:nvPr/>
        </p:nvSpPr>
        <p:spPr>
          <a:xfrm>
            <a:off x="1143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At-risk part / scrap ratio</a:t>
            </a:r>
          </a:p>
        </p:txBody>
      </p:sp>
      <p:cxnSp>
        <p:nvCxnSpPr>
          <p:cNvPr id="19" name="Straight Connector 18">
            <a:extLst>
              <a:ext uri="{FF2B5EF4-FFF2-40B4-BE49-F238E27FC236}">
                <a16:creationId xmlns:a16="http://schemas.microsoft.com/office/drawing/2014/main" id="{6BE3E89C-4123-40CF-408E-4687A1DA6215}"/>
              </a:ext>
            </a:extLst>
          </p:cNvPr>
          <p:cNvCxnSpPr/>
          <p:nvPr/>
        </p:nvCxnSpPr>
        <p:spPr>
          <a:xfrm>
            <a:off x="43180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8CD56CA-A357-0D98-4C94-2EAC1C93E16B}"/>
              </a:ext>
            </a:extLst>
          </p:cNvPr>
          <p:cNvSpPr/>
          <p:nvPr/>
        </p:nvSpPr>
        <p:spPr>
          <a:xfrm>
            <a:off x="8191500" y="3238500"/>
            <a:ext cx="1524000" cy="15240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4568DB8-FD80-72EA-0226-D665CFC26CFE}"/>
              </a:ext>
            </a:extLst>
          </p:cNvPr>
          <p:cNvSpPr txBox="1"/>
          <p:nvPr/>
        </p:nvSpPr>
        <p:spPr>
          <a:xfrm>
            <a:off x="8318500" y="3861999"/>
            <a:ext cx="1270000" cy="276999"/>
          </a:xfrm>
          <a:prstGeom prst="rect">
            <a:avLst/>
          </a:prstGeom>
          <a:noFill/>
        </p:spPr>
        <p:txBody>
          <a:bodyPr vert="horz" wrap="square" lIns="0" tIns="0" rIns="0" bIns="0" rtlCol="0">
            <a:spAutoFit/>
          </a:bodyPr>
          <a:lstStyle/>
          <a:p>
            <a:pPr algn="ctr"/>
            <a:r>
              <a:rPr lang="en-US" b="1" dirty="0">
                <a:solidFill>
                  <a:srgbClr val="FFFFFF"/>
                </a:solidFill>
                <a:latin typeface="Arial" panose="020B0604020202020204" pitchFamily="34" charset="0"/>
              </a:rPr>
              <a:t>FEEDER</a:t>
            </a:r>
          </a:p>
        </p:txBody>
      </p:sp>
      <p:sp>
        <p:nvSpPr>
          <p:cNvPr id="22" name="TextBox 21">
            <a:extLst>
              <a:ext uri="{FF2B5EF4-FFF2-40B4-BE49-F238E27FC236}">
                <a16:creationId xmlns:a16="http://schemas.microsoft.com/office/drawing/2014/main" id="{9C22938C-2564-0AFA-8467-C1DBDED76EC6}"/>
              </a:ext>
            </a:extLst>
          </p:cNvPr>
          <p:cNvSpPr txBox="1"/>
          <p:nvPr/>
        </p:nvSpPr>
        <p:spPr>
          <a:xfrm>
            <a:off x="66675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Table • slot • side • reel</a:t>
            </a:r>
          </a:p>
        </p:txBody>
      </p:sp>
      <p:cxnSp>
        <p:nvCxnSpPr>
          <p:cNvPr id="23" name="Straight Connector 22">
            <a:extLst>
              <a:ext uri="{FF2B5EF4-FFF2-40B4-BE49-F238E27FC236}">
                <a16:creationId xmlns:a16="http://schemas.microsoft.com/office/drawing/2014/main" id="{25F487D6-AAC8-6D6B-D5E5-D6B61E445E5F}"/>
              </a:ext>
            </a:extLst>
          </p:cNvPr>
          <p:cNvCxnSpPr/>
          <p:nvPr/>
        </p:nvCxnSpPr>
        <p:spPr>
          <a:xfrm>
            <a:off x="98425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DAD62614-605C-4411-8D1A-C074505BEB8D}"/>
              </a:ext>
            </a:extLst>
          </p:cNvPr>
          <p:cNvSpPr/>
          <p:nvPr/>
        </p:nvSpPr>
        <p:spPr>
          <a:xfrm>
            <a:off x="13716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188DDDD-2042-7C48-9BC4-C6293DDB8FDE}"/>
              </a:ext>
            </a:extLst>
          </p:cNvPr>
          <p:cNvSpPr txBox="1"/>
          <p:nvPr/>
        </p:nvSpPr>
        <p:spPr>
          <a:xfrm>
            <a:off x="13843000" y="3861999"/>
            <a:ext cx="1270000" cy="276999"/>
          </a:xfrm>
          <a:prstGeom prst="rect">
            <a:avLst/>
          </a:prstGeom>
          <a:noFill/>
        </p:spPr>
        <p:txBody>
          <a:bodyPr vert="horz" wrap="square" lIns="0" tIns="0" rIns="0" bIns="0" rtlCol="0">
            <a:spAutoFit/>
          </a:bodyPr>
          <a:lstStyle/>
          <a:p>
            <a:pPr algn="ctr"/>
            <a:r>
              <a:rPr lang="en-US" b="1" dirty="0">
                <a:solidFill>
                  <a:srgbClr val="FFFFFF"/>
                </a:solidFill>
                <a:latin typeface="Arial" panose="020B0604020202020204" pitchFamily="34" charset="0"/>
              </a:rPr>
              <a:t>NOZZLE</a:t>
            </a:r>
          </a:p>
        </p:txBody>
      </p:sp>
      <p:sp>
        <p:nvSpPr>
          <p:cNvPr id="26" name="TextBox 25">
            <a:extLst>
              <a:ext uri="{FF2B5EF4-FFF2-40B4-BE49-F238E27FC236}">
                <a16:creationId xmlns:a16="http://schemas.microsoft.com/office/drawing/2014/main" id="{7DA9B502-1E4C-FA9E-D627-807585A32404}"/>
              </a:ext>
            </a:extLst>
          </p:cNvPr>
          <p:cNvSpPr txBox="1"/>
          <p:nvPr/>
        </p:nvSpPr>
        <p:spPr>
          <a:xfrm>
            <a:off x="12192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Head • nozzle • miss</a:t>
            </a:r>
          </a:p>
        </p:txBody>
      </p:sp>
      <p:sp>
        <p:nvSpPr>
          <p:cNvPr id="27" name="Rectangle: Rounded Corners 26">
            <a:extLst>
              <a:ext uri="{FF2B5EF4-FFF2-40B4-BE49-F238E27FC236}">
                <a16:creationId xmlns:a16="http://schemas.microsoft.com/office/drawing/2014/main" id="{78C6BFAB-7466-9029-C37B-0CFEB3ECC73F}"/>
              </a:ext>
            </a:extLst>
          </p:cNvPr>
          <p:cNvSpPr/>
          <p:nvPr/>
        </p:nvSpPr>
        <p:spPr>
          <a:xfrm>
            <a:off x="2413000" y="6731000"/>
            <a:ext cx="13462000" cy="1143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A8CC20B-AD08-561B-0FD7-EED4E5DA86AE}"/>
              </a:ext>
            </a:extLst>
          </p:cNvPr>
          <p:cNvSpPr txBox="1"/>
          <p:nvPr/>
        </p:nvSpPr>
        <p:spPr>
          <a:xfrm>
            <a:off x="2857500" y="7010400"/>
            <a:ext cx="12573000" cy="338554"/>
          </a:xfrm>
          <a:prstGeom prst="rect">
            <a:avLst/>
          </a:prstGeom>
          <a:noFill/>
        </p:spPr>
        <p:txBody>
          <a:bodyPr vert="horz" wrap="square" lIns="0" tIns="0" rIns="0" bIns="0" rtlCol="0">
            <a:spAutoFit/>
          </a:bodyPr>
          <a:lstStyle/>
          <a:p>
            <a:pPr algn="ctr"/>
            <a:r>
              <a:rPr lang="en-US" sz="2200" b="1">
                <a:solidFill>
                  <a:srgbClr val="FFFFFF"/>
                </a:solidFill>
                <a:latin typeface="Arial" panose="020B0604020202020204" pitchFamily="34" charset="0"/>
              </a:rPr>
              <a:t>Pickup + Placement + Miss groups + Scrap ratio</a:t>
            </a:r>
          </a:p>
        </p:txBody>
      </p:sp>
      <p:sp>
        <p:nvSpPr>
          <p:cNvPr id="29" name="TextBox 28">
            <a:extLst>
              <a:ext uri="{FF2B5EF4-FFF2-40B4-BE49-F238E27FC236}">
                <a16:creationId xmlns:a16="http://schemas.microsoft.com/office/drawing/2014/main" id="{3F819237-5034-A460-9E50-3662F236142A}"/>
              </a:ext>
            </a:extLst>
          </p:cNvPr>
          <p:cNvSpPr txBox="1"/>
          <p:nvPr/>
        </p:nvSpPr>
        <p:spPr>
          <a:xfrm>
            <a:off x="2857500" y="7442200"/>
            <a:ext cx="125730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Same KPI logic, different analysis level.</a:t>
            </a:r>
          </a:p>
        </p:txBody>
      </p:sp>
      <p:sp>
        <p:nvSpPr>
          <p:cNvPr id="3" name="TextBox 2">
            <a:extLst>
              <a:ext uri="{FF2B5EF4-FFF2-40B4-BE49-F238E27FC236}">
                <a16:creationId xmlns:a16="http://schemas.microsoft.com/office/drawing/2014/main" id="{9687822B-76E5-E066-745F-67085E1435E3}"/>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30" name="TextBox 29">
            <a:extLst>
              <a:ext uri="{FF2B5EF4-FFF2-40B4-BE49-F238E27FC236}">
                <a16:creationId xmlns:a16="http://schemas.microsoft.com/office/drawing/2014/main" id="{56152C3D-2EE3-43C6-7FE7-6E805890BDC4}"/>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31" name="TextBox 30">
            <a:extLst>
              <a:ext uri="{FF2B5EF4-FFF2-40B4-BE49-F238E27FC236}">
                <a16:creationId xmlns:a16="http://schemas.microsoft.com/office/drawing/2014/main" id="{615D423C-CF82-EF8F-8945-3F991D340BE2}"/>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32" name="TextBox 31">
            <a:extLst>
              <a:ext uri="{FF2B5EF4-FFF2-40B4-BE49-F238E27FC236}">
                <a16:creationId xmlns:a16="http://schemas.microsoft.com/office/drawing/2014/main" id="{14096393-3766-4A1F-8A92-AD9D374D1E60}"/>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33" name="Straight Connector 32">
            <a:extLst>
              <a:ext uri="{FF2B5EF4-FFF2-40B4-BE49-F238E27FC236}">
                <a16:creationId xmlns:a16="http://schemas.microsoft.com/office/drawing/2014/main" id="{DC7E03FD-9A25-9983-1893-6542D765FD3D}"/>
              </a:ext>
            </a:extLst>
          </p:cNvPr>
          <p:cNvCxnSpPr/>
          <p:nvPr/>
        </p:nvCxnSpPr>
        <p:spPr>
          <a:xfrm>
            <a:off x="111864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1895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F8A10E99-BC50-DF1E-D601-B6E32147CC6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F02AE252-D903-4A72-B516-F9CC72377AA1}"/>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12</a:t>
            </a:r>
          </a:p>
        </p:txBody>
      </p:sp>
      <p:sp>
        <p:nvSpPr>
          <p:cNvPr id="11" name="TextBox 10">
            <a:extLst>
              <a:ext uri="{FF2B5EF4-FFF2-40B4-BE49-F238E27FC236}">
                <a16:creationId xmlns:a16="http://schemas.microsoft.com/office/drawing/2014/main" id="{9B05405D-0062-6FE5-A3D9-FED70807CCB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LOSS ANALYSIS</a:t>
            </a:r>
          </a:p>
        </p:txBody>
      </p:sp>
      <p:sp>
        <p:nvSpPr>
          <p:cNvPr id="12" name="TextBox 11">
            <a:extLst>
              <a:ext uri="{FF2B5EF4-FFF2-40B4-BE49-F238E27FC236}">
                <a16:creationId xmlns:a16="http://schemas.microsoft.com/office/drawing/2014/main" id="{1D8FB54A-5180-2DA5-11D3-5241A97954D1}"/>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Downtime and PPM Guide Improvement</a:t>
            </a:r>
          </a:p>
        </p:txBody>
      </p:sp>
      <p:cxnSp>
        <p:nvCxnSpPr>
          <p:cNvPr id="13" name="Straight Connector 12">
            <a:extLst>
              <a:ext uri="{FF2B5EF4-FFF2-40B4-BE49-F238E27FC236}">
                <a16:creationId xmlns:a16="http://schemas.microsoft.com/office/drawing/2014/main" id="{3F342C59-1DC6-8E69-C8CF-939A74DBCEB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EDED894-02BB-960A-9880-D3E7C6FE25C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3FFC1A4-5A08-7048-4369-B694C43E308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12</a:t>
            </a:r>
          </a:p>
        </p:txBody>
      </p:sp>
      <p:sp>
        <p:nvSpPr>
          <p:cNvPr id="16" name="Rectangle: Rounded Corners 15">
            <a:extLst>
              <a:ext uri="{FF2B5EF4-FFF2-40B4-BE49-F238E27FC236}">
                <a16:creationId xmlns:a16="http://schemas.microsoft.com/office/drawing/2014/main" id="{86E9209A-DF83-BF08-B310-1EF7A22F4EA4}"/>
              </a:ext>
            </a:extLst>
          </p:cNvPr>
          <p:cNvSpPr/>
          <p:nvPr/>
        </p:nvSpPr>
        <p:spPr>
          <a:xfrm>
            <a:off x="889000" y="2984500"/>
            <a:ext cx="9969500" cy="4953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8866FA-E91C-193E-4CDD-0F658B9F813B}"/>
              </a:ext>
            </a:extLst>
          </p:cNvPr>
          <p:cNvSpPr txBox="1"/>
          <p:nvPr/>
        </p:nvSpPr>
        <p:spPr>
          <a:xfrm>
            <a:off x="1333500" y="3429000"/>
            <a:ext cx="4445000" cy="276999"/>
          </a:xfrm>
          <a:prstGeom prst="rect">
            <a:avLst/>
          </a:prstGeom>
          <a:noFill/>
        </p:spPr>
        <p:txBody>
          <a:bodyPr vert="horz" wrap="square" lIns="0" tIns="0" rIns="0" bIns="0" rtlCol="0">
            <a:spAutoFit/>
          </a:bodyPr>
          <a:lstStyle/>
          <a:p>
            <a:r>
              <a:rPr lang="en-US" b="1">
                <a:solidFill>
                  <a:srgbClr val="00E6F0"/>
                </a:solidFill>
                <a:latin typeface="Arial" panose="020B0604020202020204" pitchFamily="34" charset="0"/>
              </a:rPr>
              <a:t>DOWNTIME GROUPS</a:t>
            </a:r>
          </a:p>
        </p:txBody>
      </p:sp>
      <p:sp>
        <p:nvSpPr>
          <p:cNvPr id="18" name="TextBox 17">
            <a:extLst>
              <a:ext uri="{FF2B5EF4-FFF2-40B4-BE49-F238E27FC236}">
                <a16:creationId xmlns:a16="http://schemas.microsoft.com/office/drawing/2014/main" id="{67EB3AD3-0DC6-5875-F809-6EAEE85B8346}"/>
              </a:ext>
            </a:extLst>
          </p:cNvPr>
          <p:cNvSpPr txBox="1"/>
          <p:nvPr/>
        </p:nvSpPr>
        <p:spPr>
          <a:xfrm>
            <a:off x="1333500" y="41910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error</a:t>
            </a:r>
          </a:p>
        </p:txBody>
      </p:sp>
      <p:sp>
        <p:nvSpPr>
          <p:cNvPr id="19" name="Rectangle 18">
            <a:extLst>
              <a:ext uri="{FF2B5EF4-FFF2-40B4-BE49-F238E27FC236}">
                <a16:creationId xmlns:a16="http://schemas.microsoft.com/office/drawing/2014/main" id="{9E32D222-1541-7620-948C-2E76E85F5DC5}"/>
              </a:ext>
            </a:extLst>
          </p:cNvPr>
          <p:cNvSpPr/>
          <p:nvPr/>
        </p:nvSpPr>
        <p:spPr>
          <a:xfrm>
            <a:off x="4064000" y="42164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A82A597-1440-9A61-3D09-D5BECBA64403}"/>
              </a:ext>
            </a:extLst>
          </p:cNvPr>
          <p:cNvSpPr/>
          <p:nvPr/>
        </p:nvSpPr>
        <p:spPr>
          <a:xfrm>
            <a:off x="4064000" y="4216400"/>
            <a:ext cx="5024120" cy="2286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7E5B221-3320-2464-E1FF-929F930CAA63}"/>
              </a:ext>
            </a:extLst>
          </p:cNvPr>
          <p:cNvSpPr txBox="1"/>
          <p:nvPr/>
        </p:nvSpPr>
        <p:spPr>
          <a:xfrm>
            <a:off x="1333500" y="48641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Recognition error</a:t>
            </a:r>
          </a:p>
        </p:txBody>
      </p:sp>
      <p:sp>
        <p:nvSpPr>
          <p:cNvPr id="22" name="Rectangle 21">
            <a:extLst>
              <a:ext uri="{FF2B5EF4-FFF2-40B4-BE49-F238E27FC236}">
                <a16:creationId xmlns:a16="http://schemas.microsoft.com/office/drawing/2014/main" id="{15852789-6D82-8472-4799-A1D0E27262FF}"/>
              </a:ext>
            </a:extLst>
          </p:cNvPr>
          <p:cNvSpPr/>
          <p:nvPr/>
        </p:nvSpPr>
        <p:spPr>
          <a:xfrm>
            <a:off x="4064000" y="48895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DD0AA5D-E0FC-A620-4C0D-D685BA52548A}"/>
              </a:ext>
            </a:extLst>
          </p:cNvPr>
          <p:cNvSpPr/>
          <p:nvPr/>
        </p:nvSpPr>
        <p:spPr>
          <a:xfrm>
            <a:off x="4064000" y="4889500"/>
            <a:ext cx="3972560" cy="2286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FD0A7F9-A56A-88FF-D897-328148FE2B4D}"/>
              </a:ext>
            </a:extLst>
          </p:cNvPr>
          <p:cNvSpPr txBox="1"/>
          <p:nvPr/>
        </p:nvSpPr>
        <p:spPr>
          <a:xfrm>
            <a:off x="1333500" y="55372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Single error stop</a:t>
            </a:r>
          </a:p>
        </p:txBody>
      </p:sp>
      <p:sp>
        <p:nvSpPr>
          <p:cNvPr id="25" name="Rectangle 24">
            <a:extLst>
              <a:ext uri="{FF2B5EF4-FFF2-40B4-BE49-F238E27FC236}">
                <a16:creationId xmlns:a16="http://schemas.microsoft.com/office/drawing/2014/main" id="{6BB129BE-6032-4325-3387-C3DF13319E6E}"/>
              </a:ext>
            </a:extLst>
          </p:cNvPr>
          <p:cNvSpPr/>
          <p:nvPr/>
        </p:nvSpPr>
        <p:spPr>
          <a:xfrm>
            <a:off x="4064000" y="55626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8B0E313-8277-674F-D071-F49978B31B31}"/>
              </a:ext>
            </a:extLst>
          </p:cNvPr>
          <p:cNvSpPr/>
          <p:nvPr/>
        </p:nvSpPr>
        <p:spPr>
          <a:xfrm>
            <a:off x="4064000" y="5562600"/>
            <a:ext cx="3037840" cy="2286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DFFBDBB-1DF5-0474-A64B-AC7FE0508B95}"/>
              </a:ext>
            </a:extLst>
          </p:cNvPr>
          <p:cNvSpPr txBox="1"/>
          <p:nvPr/>
        </p:nvSpPr>
        <p:spPr>
          <a:xfrm>
            <a:off x="1333500" y="62103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Trouble stop</a:t>
            </a:r>
          </a:p>
        </p:txBody>
      </p:sp>
      <p:sp>
        <p:nvSpPr>
          <p:cNvPr id="28" name="Rectangle 27">
            <a:extLst>
              <a:ext uri="{FF2B5EF4-FFF2-40B4-BE49-F238E27FC236}">
                <a16:creationId xmlns:a16="http://schemas.microsoft.com/office/drawing/2014/main" id="{308C5D38-887D-33A2-0F34-623F74AF9618}"/>
              </a:ext>
            </a:extLst>
          </p:cNvPr>
          <p:cNvSpPr/>
          <p:nvPr/>
        </p:nvSpPr>
        <p:spPr>
          <a:xfrm>
            <a:off x="4064000" y="62357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4EBBD7A-836B-738E-05C9-E64B85CB9E67}"/>
              </a:ext>
            </a:extLst>
          </p:cNvPr>
          <p:cNvSpPr/>
          <p:nvPr/>
        </p:nvSpPr>
        <p:spPr>
          <a:xfrm>
            <a:off x="4064000" y="6235700"/>
            <a:ext cx="2278380" cy="2286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71CC6DB-EF1B-F250-883E-705F26C585B6}"/>
              </a:ext>
            </a:extLst>
          </p:cNvPr>
          <p:cNvSpPr txBox="1"/>
          <p:nvPr/>
        </p:nvSpPr>
        <p:spPr>
          <a:xfrm>
            <a:off x="1333500" y="68834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Part exhaust</a:t>
            </a:r>
          </a:p>
        </p:txBody>
      </p:sp>
      <p:sp>
        <p:nvSpPr>
          <p:cNvPr id="31" name="Rectangle 30">
            <a:extLst>
              <a:ext uri="{FF2B5EF4-FFF2-40B4-BE49-F238E27FC236}">
                <a16:creationId xmlns:a16="http://schemas.microsoft.com/office/drawing/2014/main" id="{E2C6206F-AAC9-57A9-78D1-B8BBEFEC26B5}"/>
              </a:ext>
            </a:extLst>
          </p:cNvPr>
          <p:cNvSpPr/>
          <p:nvPr/>
        </p:nvSpPr>
        <p:spPr>
          <a:xfrm>
            <a:off x="4064000" y="69088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84106E0-837F-E915-B716-A42103C5DF2A}"/>
              </a:ext>
            </a:extLst>
          </p:cNvPr>
          <p:cNvSpPr/>
          <p:nvPr/>
        </p:nvSpPr>
        <p:spPr>
          <a:xfrm>
            <a:off x="4064000" y="6908800"/>
            <a:ext cx="3563620" cy="2286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92EDF1F-877C-CFE0-0CB2-D50ED150BDBD}"/>
              </a:ext>
            </a:extLst>
          </p:cNvPr>
          <p:cNvSpPr/>
          <p:nvPr/>
        </p:nvSpPr>
        <p:spPr>
          <a:xfrm>
            <a:off x="11747500" y="2984500"/>
            <a:ext cx="5651500" cy="4953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E8E44C8-A4C9-54C9-28F6-144691906270}"/>
              </a:ext>
            </a:extLst>
          </p:cNvPr>
          <p:cNvSpPr txBox="1"/>
          <p:nvPr/>
        </p:nvSpPr>
        <p:spPr>
          <a:xfrm>
            <a:off x="12192000" y="3492500"/>
            <a:ext cx="1905000" cy="523220"/>
          </a:xfrm>
          <a:prstGeom prst="rect">
            <a:avLst/>
          </a:prstGeom>
          <a:noFill/>
        </p:spPr>
        <p:txBody>
          <a:bodyPr vert="horz" wrap="square" lIns="0" tIns="0" rIns="0" bIns="0" rtlCol="0">
            <a:spAutoFit/>
          </a:bodyPr>
          <a:lstStyle/>
          <a:p>
            <a:r>
              <a:rPr lang="en-US" sz="3400" b="1">
                <a:solidFill>
                  <a:srgbClr val="22C55E"/>
                </a:solidFill>
                <a:latin typeface="Arial" panose="020B0604020202020204" pitchFamily="34" charset="0"/>
              </a:rPr>
              <a:t>PPM</a:t>
            </a:r>
          </a:p>
        </p:txBody>
      </p:sp>
      <p:sp>
        <p:nvSpPr>
          <p:cNvPr id="35" name="TextBox 34">
            <a:extLst>
              <a:ext uri="{FF2B5EF4-FFF2-40B4-BE49-F238E27FC236}">
                <a16:creationId xmlns:a16="http://schemas.microsoft.com/office/drawing/2014/main" id="{E894EC34-FADA-BF50-BD6A-712DD91F791F}"/>
              </a:ext>
            </a:extLst>
          </p:cNvPr>
          <p:cNvSpPr txBox="1"/>
          <p:nvPr/>
        </p:nvSpPr>
        <p:spPr>
          <a:xfrm>
            <a:off x="12192000" y="4445000"/>
            <a:ext cx="4445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 Quality misses × 1,000,000</a:t>
            </a:r>
          </a:p>
        </p:txBody>
      </p:sp>
      <p:sp>
        <p:nvSpPr>
          <p:cNvPr id="36" name="TextBox 35">
            <a:extLst>
              <a:ext uri="{FF2B5EF4-FFF2-40B4-BE49-F238E27FC236}">
                <a16:creationId xmlns:a16="http://schemas.microsoft.com/office/drawing/2014/main" id="{F1755F65-EF53-664C-1092-078EFAB0A46C}"/>
              </a:ext>
            </a:extLst>
          </p:cNvPr>
          <p:cNvSpPr txBox="1"/>
          <p:nvPr/>
        </p:nvSpPr>
        <p:spPr>
          <a:xfrm>
            <a:off x="12192000" y="4953000"/>
            <a:ext cx="4445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Total pickup / placement</a:t>
            </a:r>
          </a:p>
        </p:txBody>
      </p:sp>
      <p:cxnSp>
        <p:nvCxnSpPr>
          <p:cNvPr id="37" name="Straight Connector 36">
            <a:extLst>
              <a:ext uri="{FF2B5EF4-FFF2-40B4-BE49-F238E27FC236}">
                <a16:creationId xmlns:a16="http://schemas.microsoft.com/office/drawing/2014/main" id="{8F47A82F-4FF5-D939-0655-8ADDEB37B87F}"/>
              </a:ext>
            </a:extLst>
          </p:cNvPr>
          <p:cNvCxnSpPr/>
          <p:nvPr/>
        </p:nvCxnSpPr>
        <p:spPr>
          <a:xfrm>
            <a:off x="12192000" y="5461000"/>
            <a:ext cx="4508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1FBD1538-116F-ABAD-7097-62B241E5E171}"/>
              </a:ext>
            </a:extLst>
          </p:cNvPr>
          <p:cNvSpPr/>
          <p:nvPr/>
        </p:nvSpPr>
        <p:spPr>
          <a:xfrm>
            <a:off x="12192000" y="6070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E3B7395-7FD0-829D-1FA9-0EE89EB0EDA6}"/>
              </a:ext>
            </a:extLst>
          </p:cNvPr>
          <p:cNvSpPr txBox="1"/>
          <p:nvPr/>
        </p:nvSpPr>
        <p:spPr>
          <a:xfrm>
            <a:off x="12496800" y="5969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Compare across lines</a:t>
            </a:r>
          </a:p>
        </p:txBody>
      </p:sp>
      <p:sp>
        <p:nvSpPr>
          <p:cNvPr id="40" name="Oval 39">
            <a:extLst>
              <a:ext uri="{FF2B5EF4-FFF2-40B4-BE49-F238E27FC236}">
                <a16:creationId xmlns:a16="http://schemas.microsoft.com/office/drawing/2014/main" id="{3462A233-4D7B-7E07-394F-D537E228C40A}"/>
              </a:ext>
            </a:extLst>
          </p:cNvPr>
          <p:cNvSpPr/>
          <p:nvPr/>
        </p:nvSpPr>
        <p:spPr>
          <a:xfrm>
            <a:off x="12192000" y="6642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62851A4-9378-FB7D-43CD-93EA4FB9375E}"/>
              </a:ext>
            </a:extLst>
          </p:cNvPr>
          <p:cNvSpPr txBox="1"/>
          <p:nvPr/>
        </p:nvSpPr>
        <p:spPr>
          <a:xfrm>
            <a:off x="12496800" y="6540500"/>
            <a:ext cx="41402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Prioritize the largest losses</a:t>
            </a:r>
            <a:endParaRPr lang="en-US" sz="1600">
              <a:solidFill>
                <a:srgbClr val="E6F0FA"/>
              </a:solidFill>
              <a:latin typeface="Arial" panose="020B0604020202020204" pitchFamily="34" charset="0"/>
            </a:endParaRPr>
          </a:p>
        </p:txBody>
      </p:sp>
      <p:sp>
        <p:nvSpPr>
          <p:cNvPr id="42" name="Oval 41">
            <a:extLst>
              <a:ext uri="{FF2B5EF4-FFF2-40B4-BE49-F238E27FC236}">
                <a16:creationId xmlns:a16="http://schemas.microsoft.com/office/drawing/2014/main" id="{8BBE0441-08A6-CF55-8C05-7F3B7F1652F9}"/>
              </a:ext>
            </a:extLst>
          </p:cNvPr>
          <p:cNvSpPr/>
          <p:nvPr/>
        </p:nvSpPr>
        <p:spPr>
          <a:xfrm>
            <a:off x="121920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D04C352-0DC6-B455-0B97-570EBB5AF36A}"/>
              </a:ext>
            </a:extLst>
          </p:cNvPr>
          <p:cNvSpPr txBox="1"/>
          <p:nvPr/>
        </p:nvSpPr>
        <p:spPr>
          <a:xfrm>
            <a:off x="12496800" y="7112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Measure count and time</a:t>
            </a:r>
          </a:p>
        </p:txBody>
      </p:sp>
      <p:sp>
        <p:nvSpPr>
          <p:cNvPr id="44" name="TextBox 43">
            <a:extLst>
              <a:ext uri="{FF2B5EF4-FFF2-40B4-BE49-F238E27FC236}">
                <a16:creationId xmlns:a16="http://schemas.microsoft.com/office/drawing/2014/main" id="{A061523B-9FEC-7A47-F0E9-88C46EA98B4B}"/>
              </a:ext>
            </a:extLst>
          </p:cNvPr>
          <p:cNvSpPr txBox="1"/>
          <p:nvPr/>
        </p:nvSpPr>
        <p:spPr>
          <a:xfrm>
            <a:off x="889000" y="8318500"/>
            <a:ext cx="16510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Bars illustrate layout only; they are not actual data.</a:t>
            </a:r>
          </a:p>
        </p:txBody>
      </p:sp>
      <p:sp>
        <p:nvSpPr>
          <p:cNvPr id="49" name="TextBox 48">
            <a:extLst>
              <a:ext uri="{FF2B5EF4-FFF2-40B4-BE49-F238E27FC236}">
                <a16:creationId xmlns:a16="http://schemas.microsoft.com/office/drawing/2014/main" id="{1A2CA580-D123-2BDD-E5D4-2DEB74DD5933}"/>
              </a:ext>
            </a:extLst>
          </p:cNvPr>
          <p:cNvSpPr txBox="1"/>
          <p:nvPr/>
        </p:nvSpPr>
        <p:spPr>
          <a:xfrm>
            <a:off x="5255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0" name="TextBox 49">
            <a:extLst>
              <a:ext uri="{FF2B5EF4-FFF2-40B4-BE49-F238E27FC236}">
                <a16:creationId xmlns:a16="http://schemas.microsoft.com/office/drawing/2014/main" id="{79C7FD92-A702-37EC-B412-0B8ADC9CD168}"/>
              </a:ext>
            </a:extLst>
          </p:cNvPr>
          <p:cNvSpPr txBox="1"/>
          <p:nvPr/>
        </p:nvSpPr>
        <p:spPr>
          <a:xfrm>
            <a:off x="68430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51" name="TextBox 50">
            <a:extLst>
              <a:ext uri="{FF2B5EF4-FFF2-40B4-BE49-F238E27FC236}">
                <a16:creationId xmlns:a16="http://schemas.microsoft.com/office/drawing/2014/main" id="{F94289C0-F10F-5BCF-0B3D-B56E07D69AE8}"/>
              </a:ext>
            </a:extLst>
          </p:cNvPr>
          <p:cNvSpPr txBox="1"/>
          <p:nvPr/>
        </p:nvSpPr>
        <p:spPr>
          <a:xfrm>
            <a:off x="8811525"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52" name="TextBox 51">
            <a:extLst>
              <a:ext uri="{FF2B5EF4-FFF2-40B4-BE49-F238E27FC236}">
                <a16:creationId xmlns:a16="http://schemas.microsoft.com/office/drawing/2014/main" id="{59083001-1BF0-44AA-64B1-E392344DBA34}"/>
              </a:ext>
            </a:extLst>
          </p:cNvPr>
          <p:cNvSpPr txBox="1"/>
          <p:nvPr/>
        </p:nvSpPr>
        <p:spPr>
          <a:xfrm>
            <a:off x="10907025"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53" name="Straight Connector 52">
            <a:extLst>
              <a:ext uri="{FF2B5EF4-FFF2-40B4-BE49-F238E27FC236}">
                <a16:creationId xmlns:a16="http://schemas.microsoft.com/office/drawing/2014/main" id="{2235370C-D7EE-0AFE-D350-A5EADF6E9463}"/>
              </a:ext>
            </a:extLst>
          </p:cNvPr>
          <p:cNvCxnSpPr/>
          <p:nvPr/>
        </p:nvCxnSpPr>
        <p:spPr>
          <a:xfrm>
            <a:off x="11186425"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7285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4AA64C31-36D1-500A-2A9E-8AB79B309E52}"/>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10" name="TextBox 9">
            <a:extLst>
              <a:ext uri="{FF2B5EF4-FFF2-40B4-BE49-F238E27FC236}">
                <a16:creationId xmlns:a16="http://schemas.microsoft.com/office/drawing/2014/main" id="{1C91FDB7-FC4B-F5F8-F780-5D409DF7F9CC}"/>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dirty="0">
                <a:solidFill>
                  <a:srgbClr val="94A3B8"/>
                </a:solidFill>
                <a:latin typeface="Arial" panose="020B0604020202020204" pitchFamily="34" charset="0"/>
              </a:rPr>
              <a:t>13</a:t>
            </a:r>
          </a:p>
        </p:txBody>
      </p:sp>
      <p:cxnSp>
        <p:nvCxnSpPr>
          <p:cNvPr id="12" name="Straight Connector 11">
            <a:extLst>
              <a:ext uri="{FF2B5EF4-FFF2-40B4-BE49-F238E27FC236}">
                <a16:creationId xmlns:a16="http://schemas.microsoft.com/office/drawing/2014/main" id="{FED56562-6AA9-0ACE-B571-32E470546008}"/>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EF3B186-7E10-DAFB-D877-CCBBCAB98C51}"/>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DB641683-4A3F-1795-C47E-AD5EFA0A3E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dirty="0">
                <a:solidFill>
                  <a:srgbClr val="94A3B8"/>
                </a:solidFill>
                <a:latin typeface="Arial" panose="020B0604020202020204" pitchFamily="34" charset="0"/>
              </a:rPr>
              <a:t>PANASONIC • 13</a:t>
            </a:r>
          </a:p>
        </p:txBody>
      </p:sp>
      <p:sp>
        <p:nvSpPr>
          <p:cNvPr id="15" name="TextBox 14">
            <a:extLst>
              <a:ext uri="{FF2B5EF4-FFF2-40B4-BE49-F238E27FC236}">
                <a16:creationId xmlns:a16="http://schemas.microsoft.com/office/drawing/2014/main" id="{986E3515-9BB5-2FF7-5088-C54B114ABA5C}"/>
              </a:ext>
            </a:extLst>
          </p:cNvPr>
          <p:cNvSpPr txBox="1"/>
          <p:nvPr/>
        </p:nvSpPr>
        <p:spPr>
          <a:xfrm>
            <a:off x="889000" y="2853329"/>
            <a:ext cx="16510000" cy="923330"/>
          </a:xfrm>
          <a:prstGeom prst="rect">
            <a:avLst/>
          </a:prstGeom>
          <a:noFill/>
        </p:spPr>
        <p:txBody>
          <a:bodyPr vert="horz" wrap="square" lIns="0" tIns="0" rIns="0" bIns="0" rtlCol="0">
            <a:spAutoFit/>
          </a:bodyPr>
          <a:lstStyle/>
          <a:p>
            <a:pPr algn="ctr"/>
            <a:r>
              <a:rPr lang="en-US" sz="6000" b="1">
                <a:solidFill>
                  <a:srgbClr val="00E6F0"/>
                </a:solidFill>
                <a:latin typeface="Arial" panose="020B0604020202020204" pitchFamily="34" charset="0"/>
              </a:rPr>
              <a:t>THANK YOU</a:t>
            </a:r>
          </a:p>
        </p:txBody>
      </p:sp>
      <p:sp>
        <p:nvSpPr>
          <p:cNvPr id="16" name="TextBox 15">
            <a:extLst>
              <a:ext uri="{FF2B5EF4-FFF2-40B4-BE49-F238E27FC236}">
                <a16:creationId xmlns:a16="http://schemas.microsoft.com/office/drawing/2014/main" id="{6EB6FC14-B3B1-F530-117C-14DA0D2AA805}"/>
              </a:ext>
            </a:extLst>
          </p:cNvPr>
          <p:cNvSpPr txBox="1"/>
          <p:nvPr/>
        </p:nvSpPr>
        <p:spPr>
          <a:xfrm>
            <a:off x="889000" y="4254500"/>
            <a:ext cx="16510000" cy="1077218"/>
          </a:xfrm>
          <a:prstGeom prst="rect">
            <a:avLst/>
          </a:prstGeom>
          <a:noFill/>
        </p:spPr>
        <p:txBody>
          <a:bodyPr vert="horz" wrap="square" lIns="0" tIns="0" rIns="0" bIns="0" rtlCol="0">
            <a:spAutoFit/>
          </a:bodyPr>
          <a:lstStyle/>
          <a:p>
            <a:pPr algn="ctr"/>
            <a:r>
              <a:rPr lang="en-US" sz="7000" b="1">
                <a:solidFill>
                  <a:srgbClr val="FFFFFF"/>
                </a:solidFill>
                <a:latin typeface="Arial" panose="020B0604020202020204" pitchFamily="34" charset="0"/>
              </a:rPr>
              <a:t>Q&amp;A</a:t>
            </a:r>
          </a:p>
        </p:txBody>
      </p:sp>
      <p:sp>
        <p:nvSpPr>
          <p:cNvPr id="17" name="TextBox 16">
            <a:extLst>
              <a:ext uri="{FF2B5EF4-FFF2-40B4-BE49-F238E27FC236}">
                <a16:creationId xmlns:a16="http://schemas.microsoft.com/office/drawing/2014/main" id="{6FEA0359-97E2-99C9-E02C-6699F68A2E2D}"/>
              </a:ext>
            </a:extLst>
          </p:cNvPr>
          <p:cNvSpPr txBox="1"/>
          <p:nvPr/>
        </p:nvSpPr>
        <p:spPr>
          <a:xfrm>
            <a:off x="889000" y="6350000"/>
            <a:ext cx="16510000" cy="338554"/>
          </a:xfrm>
          <a:prstGeom prst="rect">
            <a:avLst/>
          </a:prstGeom>
          <a:noFill/>
        </p:spPr>
        <p:txBody>
          <a:bodyPr vert="horz" wrap="square" lIns="0" tIns="0" rIns="0" bIns="0" rtlCol="0">
            <a:spAutoFit/>
          </a:bodyPr>
          <a:lstStyle/>
          <a:p>
            <a:pPr algn="ctr"/>
            <a:r>
              <a:rPr lang="en-US" sz="2200">
                <a:solidFill>
                  <a:srgbClr val="E6F0FA"/>
                </a:solidFill>
                <a:latin typeface="Arial" panose="020B0604020202020204" pitchFamily="34" charset="0"/>
              </a:rPr>
              <a:t>Manufacturing Performance Overview</a:t>
            </a:r>
          </a:p>
        </p:txBody>
      </p:sp>
      <p:sp>
        <p:nvSpPr>
          <p:cNvPr id="18" name="TextBox 17">
            <a:extLst>
              <a:ext uri="{FF2B5EF4-FFF2-40B4-BE49-F238E27FC236}">
                <a16:creationId xmlns:a16="http://schemas.microsoft.com/office/drawing/2014/main" id="{A706DE78-6564-5CB1-B8DA-FDCFC3AFD603}"/>
              </a:ext>
            </a:extLst>
          </p:cNvPr>
          <p:cNvSpPr txBox="1"/>
          <p:nvPr/>
        </p:nvSpPr>
        <p:spPr>
          <a:xfrm>
            <a:off x="889000" y="7048500"/>
            <a:ext cx="16510000" cy="261610"/>
          </a:xfrm>
          <a:prstGeom prst="rect">
            <a:avLst/>
          </a:prstGeom>
          <a:noFill/>
        </p:spPr>
        <p:txBody>
          <a:bodyPr vert="horz" wrap="square" lIns="0" tIns="0" rIns="0" bIns="0" rtlCol="0">
            <a:spAutoFit/>
          </a:bodyPr>
          <a:lstStyle/>
          <a:p>
            <a:pPr algn="ctr"/>
            <a:r>
              <a:rPr lang="en-US" sz="1700" b="1">
                <a:solidFill>
                  <a:srgbClr val="00E6F0"/>
                </a:solidFill>
                <a:latin typeface="Arial" panose="020B0604020202020204" pitchFamily="34" charset="0"/>
              </a:rPr>
              <a:t>LNB → SFTP → Node-RED → PostgreSQL → Docker Web Portal</a:t>
            </a:r>
          </a:p>
        </p:txBody>
      </p:sp>
      <p:sp>
        <p:nvSpPr>
          <p:cNvPr id="19" name="TextBox 18">
            <a:extLst>
              <a:ext uri="{FF2B5EF4-FFF2-40B4-BE49-F238E27FC236}">
                <a16:creationId xmlns:a16="http://schemas.microsoft.com/office/drawing/2014/main" id="{395D4F89-4DD4-B609-6427-EDA171959230}"/>
              </a:ext>
            </a:extLst>
          </p:cNvPr>
          <p:cNvSpPr txBox="1"/>
          <p:nvPr/>
        </p:nvSpPr>
        <p:spPr>
          <a:xfrm>
            <a:off x="889000" y="8064500"/>
            <a:ext cx="16510000" cy="276999"/>
          </a:xfrm>
          <a:prstGeom prst="rect">
            <a:avLst/>
          </a:prstGeom>
          <a:noFill/>
        </p:spPr>
        <p:txBody>
          <a:bodyPr vert="horz" wrap="square" lIns="0" tIns="0" rIns="0" bIns="0" rtlCol="0">
            <a:spAutoFit/>
          </a:bodyPr>
          <a:lstStyle/>
          <a:p>
            <a:pPr algn="ctr"/>
            <a:r>
              <a:rPr lang="en-US">
                <a:solidFill>
                  <a:srgbClr val="FFFFFF"/>
                </a:solidFill>
                <a:latin typeface="Arial" panose="020B0604020202020204" pitchFamily="34" charset="0"/>
              </a:rPr>
              <a:t>Accurate Data • Faster Analysis • Focused Action</a:t>
            </a:r>
          </a:p>
        </p:txBody>
      </p:sp>
    </p:spTree>
    <p:extLst>
      <p:ext uri="{BB962C8B-B14F-4D97-AF65-F5344CB8AC3E}">
        <p14:creationId xmlns:p14="http://schemas.microsoft.com/office/powerpoint/2010/main" val="535253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980</Words>
  <Application>Microsoft Office PowerPoint</Application>
  <PresentationFormat>Custom</PresentationFormat>
  <Paragraphs>288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Poppins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Panasonic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Trinh Quoc Vinh</dc:creator>
  <cp:lastModifiedBy>Trinh Quoc Vinh</cp:lastModifiedBy>
  <cp:revision>10</cp:revision>
  <dcterms:created xsi:type="dcterms:W3CDTF">2026-08-18T08:02:55Z</dcterms:created>
  <dcterms:modified xsi:type="dcterms:W3CDTF">2026-08-18T09:58:47Z</dcterms:modified>
</cp:coreProperties>
</file>