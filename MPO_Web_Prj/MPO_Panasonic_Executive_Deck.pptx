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5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68A905-70E2-4A0C-B349-B7096566C448}"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B46738-2443-4093-9CCF-CC14B157ED04}" type="slidenum">
              <a:rPr lang="en-US" smtClean="0"/>
              <a:t>‹#›</a:t>
            </a:fld>
            <a:endParaRPr lang="en-US"/>
          </a:p>
        </p:txBody>
      </p:sp>
    </p:spTree>
    <p:extLst>
      <p:ext uri="{BB962C8B-B14F-4D97-AF65-F5344CB8AC3E}">
        <p14:creationId xmlns:p14="http://schemas.microsoft.com/office/powerpoint/2010/main" val="427950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MPO là hệ thống web báo cáo hiệu suất sản xuất, chuyển dữ liệu máy LNB thô thành dashboard và báo cáo phục vụ vận hành hằng ngày.</a:t>
            </a:r>
          </a:p>
        </p:txBody>
      </p:sp>
      <p:sp>
        <p:nvSpPr>
          <p:cNvPr id="4" name="Slide Number Placeholder 3"/>
          <p:cNvSpPr>
            <a:spLocks noGrp="1"/>
          </p:cNvSpPr>
          <p:nvPr>
            <p:ph type="sldNum" sz="quarter" idx="5"/>
          </p:nvPr>
        </p:nvSpPr>
        <p:spPr/>
        <p:txBody>
          <a:bodyPr/>
          <a:lstStyle/>
          <a:p>
            <a:fld id="{6EB46738-2443-4093-9CCF-CC14B157ED04}" type="slidenum">
              <a:rPr lang="en-US" smtClean="0"/>
              <a:t>1</a:t>
            </a:fld>
            <a:endParaRPr lang="en-US"/>
          </a:p>
        </p:txBody>
      </p:sp>
    </p:spTree>
    <p:extLst>
      <p:ext uri="{BB962C8B-B14F-4D97-AF65-F5344CB8AC3E}">
        <p14:creationId xmlns:p14="http://schemas.microsoft.com/office/powerpoint/2010/main" val="2042219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Dashboard chỉ ra khu vực cần chú ý; các báo cáo chi tiết cung cấp bằng chứng để điều tra.</a:t>
            </a:r>
          </a:p>
        </p:txBody>
      </p:sp>
      <p:sp>
        <p:nvSpPr>
          <p:cNvPr id="4" name="Slide Number Placeholder 3"/>
          <p:cNvSpPr>
            <a:spLocks noGrp="1"/>
          </p:cNvSpPr>
          <p:nvPr>
            <p:ph type="sldNum" sz="quarter" idx="5"/>
          </p:nvPr>
        </p:nvSpPr>
        <p:spPr/>
        <p:txBody>
          <a:bodyPr/>
          <a:lstStyle/>
          <a:p>
            <a:fld id="{6EB46738-2443-4093-9CCF-CC14B157ED04}" type="slidenum">
              <a:rPr lang="en-US" smtClean="0"/>
              <a:t>2</a:t>
            </a:fld>
            <a:endParaRPr lang="en-US"/>
          </a:p>
        </p:txBody>
      </p:sp>
    </p:spTree>
    <p:extLst>
      <p:ext uri="{BB962C8B-B14F-4D97-AF65-F5344CB8AC3E}">
        <p14:creationId xmlns:p14="http://schemas.microsoft.com/office/powerpoint/2010/main" val="5347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Luồng tổng thể: LNB raw data, SFTP, incoming folder, Node-RED Watch, parse và delta, PostgreSQL, ASP.NET Core và web frontend trong Docker.</a:t>
            </a:r>
          </a:p>
        </p:txBody>
      </p:sp>
      <p:sp>
        <p:nvSpPr>
          <p:cNvPr id="4" name="Slide Number Placeholder 3"/>
          <p:cNvSpPr>
            <a:spLocks noGrp="1"/>
          </p:cNvSpPr>
          <p:nvPr>
            <p:ph type="sldNum" sz="quarter" idx="5"/>
          </p:nvPr>
        </p:nvSpPr>
        <p:spPr/>
        <p:txBody>
          <a:bodyPr/>
          <a:lstStyle/>
          <a:p>
            <a:fld id="{6EB46738-2443-4093-9CCF-CC14B157ED04}" type="slidenum">
              <a:rPr lang="en-US" smtClean="0"/>
              <a:t>4</a:t>
            </a:fld>
            <a:endParaRPr lang="en-US"/>
          </a:p>
        </p:txBody>
      </p:sp>
    </p:spTree>
    <p:extLst>
      <p:ext uri="{BB962C8B-B14F-4D97-AF65-F5344CB8AC3E}">
        <p14:creationId xmlns:p14="http://schemas.microsoft.com/office/powerpoint/2010/main" val="2912772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Toàn bộ quy trình là tự động, từ file raw đến báo cáo. Sau khi dữ liệu được ghi vào PostgreSQL, người dùng thao tác trực tiếp trên web dashboard.</a:t>
            </a:r>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6</a:t>
            </a:fld>
            <a:endParaRPr lang="en-US"/>
          </a:p>
        </p:txBody>
      </p:sp>
    </p:spTree>
    <p:extLst>
      <p:ext uri="{BB962C8B-B14F-4D97-AF65-F5344CB8AC3E}">
        <p14:creationId xmlns:p14="http://schemas.microsoft.com/office/powerpoint/2010/main" val="1672315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Đây là điểm quan trọng nhất của flow. Máy gửi số tích lũy, còn hệ thống cần số phát sinh thực tế trong kỳ. Delta ngăn cộng lặp và xử lý trường hợp reset counter.</a:t>
            </a:r>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8</a:t>
            </a:fld>
            <a:endParaRPr lang="en-US"/>
          </a:p>
        </p:txBody>
      </p:sp>
    </p:spTree>
    <p:extLst>
      <p:ext uri="{BB962C8B-B14F-4D97-AF65-F5344CB8AC3E}">
        <p14:creationId xmlns:p14="http://schemas.microsoft.com/office/powerpoint/2010/main" val="216951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Khi Node-RED khởi động, flow truy vấn machine_counter_state và nạp lại counter của từng máy, feeder và nozzle vào flow context.</a:t>
            </a:r>
          </a:p>
        </p:txBody>
      </p:sp>
      <p:sp>
        <p:nvSpPr>
          <p:cNvPr id="4" name="Slide Number Placeholder 3"/>
          <p:cNvSpPr>
            <a:spLocks noGrp="1"/>
          </p:cNvSpPr>
          <p:nvPr>
            <p:ph type="sldNum" sz="quarter" idx="5"/>
          </p:nvPr>
        </p:nvSpPr>
        <p:spPr/>
        <p:txBody>
          <a:bodyPr/>
          <a:lstStyle/>
          <a:p>
            <a:fld id="{6EB46738-2443-4093-9CCF-CC14B157ED04}" type="slidenum">
              <a:rPr lang="en-US" smtClean="0"/>
              <a:t>10</a:t>
            </a:fld>
            <a:endParaRPr lang="en-US"/>
          </a:p>
        </p:txBody>
      </p:sp>
    </p:spTree>
    <p:extLst>
      <p:ext uri="{BB962C8B-B14F-4D97-AF65-F5344CB8AC3E}">
        <p14:creationId xmlns:p14="http://schemas.microsoft.com/office/powerpoint/2010/main" val="3203790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Database tách master, lịch sử báo cáo, chi tiết feeder/nozzle và technical state. Quan hệ rõ ràng giúp báo cáo nhanh nhưng vẫn khôi phục delta sau restart.</a:t>
            </a:r>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12</a:t>
            </a:fld>
            <a:endParaRPr lang="en-US"/>
          </a:p>
        </p:txBody>
      </p:sp>
    </p:spTree>
    <p:extLst>
      <p:ext uri="{BB962C8B-B14F-4D97-AF65-F5344CB8AC3E}">
        <p14:creationId xmlns:p14="http://schemas.microsoft.com/office/powerpoint/2010/main" val="2875981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Stored procedure là điểm ghi tập trung: đọc machine_id, upsert master, insert report, duyệt feeders/nozzles và cập nhật machine_counter_state.</a:t>
            </a:r>
          </a:p>
        </p:txBody>
      </p:sp>
      <p:sp>
        <p:nvSpPr>
          <p:cNvPr id="4" name="Slide Number Placeholder 3"/>
          <p:cNvSpPr>
            <a:spLocks noGrp="1"/>
          </p:cNvSpPr>
          <p:nvPr>
            <p:ph type="sldNum" sz="quarter" idx="5"/>
          </p:nvPr>
        </p:nvSpPr>
        <p:spPr/>
        <p:txBody>
          <a:bodyPr/>
          <a:lstStyle/>
          <a:p>
            <a:fld id="{6EB46738-2443-4093-9CCF-CC14B157ED04}" type="slidenum">
              <a:rPr lang="en-US" smtClean="0"/>
              <a:t>16</a:t>
            </a:fld>
            <a:endParaRPr lang="en-US"/>
          </a:p>
        </p:txBody>
      </p:sp>
    </p:spTree>
    <p:extLst>
      <p:ext uri="{BB962C8B-B14F-4D97-AF65-F5344CB8AC3E}">
        <p14:creationId xmlns:p14="http://schemas.microsoft.com/office/powerpoint/2010/main" val="808006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Dashboard kết hợp board produced, top worst feeder/nozzle, total pickup/placement, PPM và error stop time theo line.</a:t>
            </a:r>
          </a:p>
        </p:txBody>
      </p:sp>
      <p:sp>
        <p:nvSpPr>
          <p:cNvPr id="4" name="Slide Number Placeholder 3"/>
          <p:cNvSpPr>
            <a:spLocks noGrp="1"/>
          </p:cNvSpPr>
          <p:nvPr>
            <p:ph type="sldNum" sz="quarter" idx="5"/>
          </p:nvPr>
        </p:nvSpPr>
        <p:spPr/>
        <p:txBody>
          <a:bodyPr/>
          <a:lstStyle/>
          <a:p>
            <a:fld id="{6EB46738-2443-4093-9CCF-CC14B157ED04}" type="slidenum">
              <a:rPr lang="en-US" smtClean="0"/>
              <a:t>20</a:t>
            </a:fld>
            <a:endParaRPr lang="en-US"/>
          </a:p>
        </p:txBody>
      </p:sp>
    </p:spTree>
    <p:extLst>
      <p:ext uri="{BB962C8B-B14F-4D97-AF65-F5344CB8AC3E}">
        <p14:creationId xmlns:p14="http://schemas.microsoft.com/office/powerpoint/2010/main" val="2013841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Kịch bản demo: dashboard, chọn thời gian, Board Produced, top worst feeder/nozzle, Error Stop Time, Downtime Report, drill-down thiết bị và Export Excel.</a:t>
            </a:r>
          </a:p>
        </p:txBody>
      </p:sp>
      <p:sp>
        <p:nvSpPr>
          <p:cNvPr id="4" name="Slide Number Placeholder 3"/>
          <p:cNvSpPr>
            <a:spLocks noGrp="1"/>
          </p:cNvSpPr>
          <p:nvPr>
            <p:ph type="sldNum" sz="quarter" idx="5"/>
          </p:nvPr>
        </p:nvSpPr>
        <p:spPr/>
        <p:txBody>
          <a:bodyPr/>
          <a:lstStyle/>
          <a:p>
            <a:fld id="{6EB46738-2443-4093-9CCF-CC14B157ED04}" type="slidenum">
              <a:rPr lang="en-US" smtClean="0"/>
              <a:t>26</a:t>
            </a:fld>
            <a:endParaRPr lang="en-US"/>
          </a:p>
        </p:txBody>
      </p:sp>
    </p:spTree>
    <p:extLst>
      <p:ext uri="{BB962C8B-B14F-4D97-AF65-F5344CB8AC3E}">
        <p14:creationId xmlns:p14="http://schemas.microsoft.com/office/powerpoint/2010/main" val="2398340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792A3-23FB-1F34-722B-5E3E910B5B77}"/>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4CB25A-6A5E-E636-780E-A4D1B589A4DA}"/>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8C5985-3791-E6AC-C4B2-21E8692E0079}"/>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C68D1AAA-1008-46F3-A90C-946BC0E390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68C04E-1F54-F39B-E3E1-E1249C30573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937107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DA5E-60D0-C9E4-1C0E-55FFFB5E1C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DB7E07-6AED-184E-B091-A631031C87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5C100-2587-6710-2072-9F1FEFDE9A1C}"/>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6F7D9DDE-A1EE-F86B-9405-DEDB31C62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7E99E5-C2A1-414B-E0EF-B8640BC47EC4}"/>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256426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68BC-7A51-4D34-9739-8836CF18E4E3}"/>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F76FE5-C216-1303-C72E-7668AB7433BE}"/>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D78583-C2BB-A253-ABA9-9F7B559B4AD2}"/>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69281265-1478-49F1-E774-FA177A9B9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22096-B0EB-3DD3-EEAC-EA2D243ACEAF}"/>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522736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33E5F-6E83-D768-E002-A2DABBDE2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46EAA5-C2DB-5DAF-2164-2B94880BBB9C}"/>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EBE84D-AD5D-79CF-11F8-68E0E4DCD9A7}"/>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9770B-9F2E-745B-E87C-7FF9403AE58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C66DC936-4AE1-2FFE-00B3-AAED21A9BA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947049-3D15-3414-0546-65215CB42041}"/>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616147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DC425-C752-E275-FACB-0A219DA17763}"/>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8F5E02-A4EC-9E27-7862-AD2BD384D63A}"/>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F56C76-70A4-2A79-36D0-8C0BBACF46D6}"/>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865FAF-9B8F-5753-DDBB-82A8947B31ED}"/>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1FB9B6-8E87-4F36-DCD0-A329CB4B2822}"/>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5F5E05-A0FA-CD51-7F55-683AD46C7E4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8" name="Footer Placeholder 7">
            <a:extLst>
              <a:ext uri="{FF2B5EF4-FFF2-40B4-BE49-F238E27FC236}">
                <a16:creationId xmlns:a16="http://schemas.microsoft.com/office/drawing/2014/main" id="{7C8FDCDB-2EA2-1DAF-E97F-457121D072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6EA4A6-00FC-82F6-A721-CEFFA4BF5768}"/>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941925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4CA97-F1AA-8B7A-65B8-16538BF547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6041F2-E09E-3D1B-81A9-9AE6D8A2562A}"/>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4" name="Footer Placeholder 3">
            <a:extLst>
              <a:ext uri="{FF2B5EF4-FFF2-40B4-BE49-F238E27FC236}">
                <a16:creationId xmlns:a16="http://schemas.microsoft.com/office/drawing/2014/main" id="{38A69FCD-F9B9-349E-CD48-9587647E7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04ACE1-D2FB-16A5-F66E-EC61CC4E979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792890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B36450-68C6-A396-7352-52DD6F28A435}"/>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3" name="Footer Placeholder 2">
            <a:extLst>
              <a:ext uri="{FF2B5EF4-FFF2-40B4-BE49-F238E27FC236}">
                <a16:creationId xmlns:a16="http://schemas.microsoft.com/office/drawing/2014/main" id="{45C3D1AE-4BC6-C5FF-5A19-6AF3C10192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AA5E42-9C85-80D7-BF7F-8C2D2AD29F76}"/>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494228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E779A-98C4-8BC5-73B4-1CD4F11DF4AB}"/>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D25713-BC91-2159-A6C3-48AE12B87FCB}"/>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A299A5-0AA5-A0DF-DE8D-6FEC9D863937}"/>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86256-903B-E02E-338D-1C76033C5DF7}"/>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8E7D41B3-BCC4-4240-1DD6-44CC333F06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AA18E-EDFC-9947-BA14-ECBE231B4DAC}"/>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4100388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89D6-FA8F-B145-B8C2-2A7C60EAD673}"/>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FDFF2B-4A9B-D5A1-8C3A-908371AC6533}"/>
              </a:ext>
            </a:extLst>
          </p:cNvPr>
          <p:cNvSpPr>
            <a:spLocks noGrp="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D33E00-D0A1-05AB-AE09-755376F5B4A0}"/>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219CE5-87BF-9418-3A56-9436D3A6F844}"/>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31B5194E-8EA0-C1C3-B08E-9BC60AF0B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66B1B3-2178-29D7-F8A0-D822DF3C3C84}"/>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034560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B38D-E4B8-F523-A830-BCA9FF6BBC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9DF627-ED4F-EF60-73E9-754ED3ECD5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93C552-729F-B973-77EB-827059CD12E7}"/>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14656AFB-C573-AE0E-E2E5-7FAC70B1D1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F84E0B-5F4B-0C92-05D8-4982A4D6198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236888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903CAD-5D2D-26B7-D65A-CA14F291BCC6}"/>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97196E-FEA1-BD13-0D69-A20991A44E99}"/>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029752-AD71-82D7-2EA6-EA19B8CC3CE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385B3453-4D2E-9DDF-B2F4-51D9B55D5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AF4F1-5AC2-6A56-DA02-9C0FCB1B488A}"/>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418657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6DC260-65CF-C945-BFA8-3FED9BA64F8C}"/>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8858E-D220-055D-ED33-E19234C5D9D7}"/>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624B75-5F41-6E09-7CD4-76A1F510AD8E}"/>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F87C45F7-BF32-57DC-BDCF-D488EC753F22}"/>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FEC798-2F79-3C69-C71F-EFCC3395E871}"/>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F1E9BE65-3261-4D01-A418-908AEC5E5799}" type="slidenum">
              <a:rPr lang="en-US" smtClean="0"/>
              <a:t>‹#›</a:t>
            </a:fld>
            <a:endParaRPr lang="en-US"/>
          </a:p>
        </p:txBody>
      </p:sp>
    </p:spTree>
    <p:extLst>
      <p:ext uri="{BB962C8B-B14F-4D97-AF65-F5344CB8AC3E}">
        <p14:creationId xmlns:p14="http://schemas.microsoft.com/office/powerpoint/2010/main" val="1666129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4096" r="-14096" b="-51837"/>
            </a:stretch>
          </a:blipFill>
        </p:spPr>
        <p:txBody>
          <a:bodyPr/>
          <a:lstStyle/>
          <a:p>
            <a:endParaRPr lang="en-US"/>
          </a:p>
        </p:txBody>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019FF">
                <a:alpha val="20784"/>
              </a:srgbClr>
            </a:solidFill>
          </p:spPr>
          <p:txBody>
            <a:bodyPr/>
            <a:lstStyle/>
            <a:p>
              <a:endParaRPr lang="en-US"/>
            </a:p>
          </p:txBody>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874463" y="3620749"/>
            <a:ext cx="13842681" cy="4248535"/>
          </a:xfrm>
          <a:prstGeom prst="rect">
            <a:avLst/>
          </a:prstGeom>
        </p:spPr>
        <p:txBody>
          <a:bodyPr lIns="0" tIns="0" rIns="0" bIns="0" rtlCol="0" anchor="t">
            <a:spAutoFit/>
          </a:bodyPr>
          <a:lstStyle/>
          <a:p>
            <a:pPr algn="ctr">
              <a:lnSpc>
                <a:spcPts val="11613"/>
              </a:lnSpc>
            </a:pPr>
            <a:r>
              <a:rPr lang="en-US" sz="5400" b="1">
                <a:solidFill>
                  <a:srgbClr val="FFFFFF"/>
                </a:solidFill>
                <a:latin typeface="Arial" panose="020B0604020202020204" pitchFamily="34" charset="0"/>
                <a:ea typeface="Zen Dots"/>
                <a:cs typeface="Zen Dots"/>
                <a:sym typeface="Zen Dots"/>
              </a:rPr>
              <a:t>MPO</a:t>
            </a:r>
          </a:p>
          <a:p>
            <a:pPr algn="ctr">
              <a:lnSpc>
                <a:spcPts val="11613"/>
              </a:lnSpc>
            </a:pPr>
            <a:r>
              <a:rPr lang="en-US" sz="5400" b="1">
                <a:solidFill>
                  <a:srgbClr val="FFFFFF"/>
                </a:solidFill>
                <a:latin typeface="Arial" panose="020B0604020202020204" pitchFamily="34" charset="0"/>
                <a:ea typeface="Zen Dots"/>
                <a:cs typeface="Zen Dots"/>
                <a:sym typeface="Zen Dots"/>
              </a:rPr>
              <a:t>MANUFACTURING PERFORMANCE OVERVIEW</a:t>
            </a:r>
          </a:p>
        </p:txBody>
      </p:sp>
      <p:sp>
        <p:nvSpPr>
          <p:cNvPr id="7" name="AutoShape 7"/>
          <p:cNvSpPr/>
          <p:nvPr/>
        </p:nvSpPr>
        <p:spPr>
          <a:xfrm>
            <a:off x="1028683" y="8732575"/>
            <a:ext cx="16230600" cy="19050"/>
          </a:xfrm>
          <a:prstGeom prst="line">
            <a:avLst/>
          </a:prstGeom>
          <a:ln w="19050" cap="flat">
            <a:solidFill>
              <a:srgbClr val="FFFFFF"/>
            </a:solidFill>
            <a:prstDash val="solid"/>
            <a:headEnd type="none" w="sm" len="sm"/>
            <a:tailEnd type="none" w="sm" len="sm"/>
          </a:ln>
        </p:spPr>
        <p:txBody>
          <a:bodyPr/>
          <a:lstStyle/>
          <a:p>
            <a:endParaRPr lang="en-US"/>
          </a:p>
        </p:txBody>
      </p:sp>
      <p:sp>
        <p:nvSpPr>
          <p:cNvPr id="8" name="Freeform 8"/>
          <p:cNvSpPr/>
          <p:nvPr/>
        </p:nvSpPr>
        <p:spPr>
          <a:xfrm>
            <a:off x="656761" y="447161"/>
            <a:ext cx="2777782" cy="1007971"/>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4624599" y="731452"/>
            <a:ext cx="1662550" cy="710772"/>
          </a:xfrm>
          <a:prstGeom prst="rect">
            <a:avLst/>
          </a:prstGeom>
        </p:spPr>
        <p:txBody>
          <a:bodyPr lIns="0" tIns="0" rIns="0" bIns="0" rtlCol="0" anchor="t">
            <a:spAutoFit/>
          </a:bodyPr>
          <a:lstStyle/>
          <a:p>
            <a:pPr marL="0" lvl="0" indent="0" algn="ctr">
              <a:lnSpc>
                <a:spcPts val="2871"/>
              </a:lnSpc>
              <a:spcBef>
                <a:spcPct val="0"/>
              </a:spcBef>
            </a:pPr>
            <a:r>
              <a:rPr lang="en-US" sz="2051" b="1" spc="4">
                <a:solidFill>
                  <a:srgbClr val="FFFFFF"/>
                </a:solidFill>
                <a:latin typeface="Poppins Bold"/>
                <a:ea typeface="Poppins Bold"/>
                <a:cs typeface="Poppins Bold"/>
                <a:sym typeface="Poppins Bold"/>
              </a:rPr>
              <a:t>Manufacturing</a:t>
            </a:r>
          </a:p>
        </p:txBody>
      </p:sp>
      <p:sp>
        <p:nvSpPr>
          <p:cNvPr id="10" name="TextBox 10"/>
          <p:cNvSpPr txBox="1"/>
          <p:nvPr/>
        </p:nvSpPr>
        <p:spPr>
          <a:xfrm>
            <a:off x="6888721" y="733665"/>
            <a:ext cx="1907082" cy="352597"/>
          </a:xfrm>
          <a:prstGeom prst="rect">
            <a:avLst/>
          </a:prstGeom>
        </p:spPr>
        <p:txBody>
          <a:bodyPr lIns="0" tIns="0" rIns="0" bIns="0" rtlCol="0" anchor="t">
            <a:spAutoFit/>
          </a:bodyPr>
          <a:lstStyle/>
          <a:p>
            <a:pPr marL="0" lvl="0" indent="0" algn="ctr">
              <a:lnSpc>
                <a:spcPts val="2871"/>
              </a:lnSpc>
              <a:spcBef>
                <a:spcPct val="0"/>
              </a:spcBef>
            </a:pPr>
            <a:r>
              <a:rPr lang="en-US" sz="2051" spc="4">
                <a:solidFill>
                  <a:srgbClr val="FFFFFF"/>
                </a:solidFill>
                <a:latin typeface="Poppins"/>
                <a:ea typeface="Poppins"/>
                <a:cs typeface="Poppins"/>
                <a:sym typeface="Poppins"/>
              </a:rPr>
              <a:t>Performance</a:t>
            </a:r>
          </a:p>
        </p:txBody>
      </p:sp>
      <p:sp>
        <p:nvSpPr>
          <p:cNvPr id="11" name="TextBox 11"/>
          <p:cNvSpPr txBox="1"/>
          <p:nvPr/>
        </p:nvSpPr>
        <p:spPr>
          <a:xfrm>
            <a:off x="9596344" y="733665"/>
            <a:ext cx="1589190" cy="352597"/>
          </a:xfrm>
          <a:prstGeom prst="rect">
            <a:avLst/>
          </a:prstGeom>
        </p:spPr>
        <p:txBody>
          <a:bodyPr lIns="0" tIns="0" rIns="0" bIns="0" rtlCol="0" anchor="t">
            <a:spAutoFit/>
          </a:bodyPr>
          <a:lstStyle/>
          <a:p>
            <a:pPr marL="0" lvl="0" indent="0" algn="ctr">
              <a:lnSpc>
                <a:spcPts val="2871"/>
              </a:lnSpc>
              <a:spcBef>
                <a:spcPct val="0"/>
              </a:spcBef>
            </a:pPr>
            <a:r>
              <a:rPr lang="en-US" sz="2051" spc="4">
                <a:solidFill>
                  <a:srgbClr val="FFFFFF"/>
                </a:solidFill>
                <a:latin typeface="Poppins"/>
                <a:ea typeface="Poppins"/>
                <a:cs typeface="Poppins"/>
                <a:sym typeface="Poppins"/>
              </a:rPr>
              <a:t>Overview</a:t>
            </a:r>
          </a:p>
        </p:txBody>
      </p:sp>
      <p:sp>
        <p:nvSpPr>
          <p:cNvPr id="12" name="TextBox 12"/>
          <p:cNvSpPr txBox="1"/>
          <p:nvPr/>
        </p:nvSpPr>
        <p:spPr>
          <a:xfrm>
            <a:off x="11529929" y="731452"/>
            <a:ext cx="2224975" cy="352597"/>
          </a:xfrm>
          <a:prstGeom prst="rect">
            <a:avLst/>
          </a:prstGeom>
        </p:spPr>
        <p:txBody>
          <a:bodyPr lIns="0" tIns="0" rIns="0" bIns="0" rtlCol="0" anchor="t">
            <a:spAutoFit/>
          </a:bodyPr>
          <a:lstStyle/>
          <a:p>
            <a:pPr marL="0" lvl="0" indent="0" algn="ctr">
              <a:lnSpc>
                <a:spcPts val="2871"/>
              </a:lnSpc>
              <a:spcBef>
                <a:spcPct val="0"/>
              </a:spcBef>
            </a:pPr>
            <a:r>
              <a:rPr lang="en-US" sz="2051" spc="4">
                <a:solidFill>
                  <a:srgbClr val="FFFFFF"/>
                </a:solidFill>
                <a:latin typeface="Poppins"/>
                <a:ea typeface="Poppins"/>
                <a:cs typeface="Poppins"/>
                <a:sym typeface="Poppins"/>
              </a:rPr>
              <a:t>2026</a:t>
            </a:r>
          </a:p>
        </p:txBody>
      </p:sp>
      <p:sp>
        <p:nvSpPr>
          <p:cNvPr id="13" name="TextBox 13"/>
          <p:cNvSpPr txBox="1"/>
          <p:nvPr/>
        </p:nvSpPr>
        <p:spPr>
          <a:xfrm>
            <a:off x="4571999" y="9055100"/>
            <a:ext cx="9144000" cy="386901"/>
          </a:xfrm>
          <a:prstGeom prst="rect">
            <a:avLst/>
          </a:prstGeom>
        </p:spPr>
        <p:txBody>
          <a:bodyPr lIns="0" tIns="0" rIns="0" bIns="0" rtlCol="0" anchor="t">
            <a:spAutoFit/>
          </a:bodyPr>
          <a:lstStyle/>
          <a:p>
            <a:pPr algn="ctr">
              <a:lnSpc>
                <a:spcPts val="3461"/>
              </a:lnSpc>
            </a:pPr>
            <a:r>
              <a:rPr lang="en-US" sz="1400">
                <a:solidFill>
                  <a:srgbClr val="FFFFFF"/>
                </a:solidFill>
                <a:latin typeface="Poppins"/>
                <a:ea typeface="Poppins"/>
                <a:cs typeface="Poppins"/>
                <a:sym typeface="Poppins"/>
              </a:rPr>
              <a:t>LNB • SFTP • Node-RED • PostgreSQL • ASP.NET Core</a:t>
            </a:r>
          </a:p>
        </p:txBody>
      </p:sp>
      <p:sp>
        <p:nvSpPr>
          <p:cNvPr id="14" name="TextBox 13">
            <a:extLst>
              <a:ext uri="{FF2B5EF4-FFF2-40B4-BE49-F238E27FC236}">
                <a16:creationId xmlns:a16="http://schemas.microsoft.com/office/drawing/2014/main" id="{3F035A05-5260-7D16-13E7-E14435586C2F}"/>
              </a:ext>
            </a:extLst>
          </p:cNvPr>
          <p:cNvSpPr txBox="1"/>
          <p:nvPr/>
        </p:nvSpPr>
        <p:spPr>
          <a:xfrm>
            <a:off x="3810000" y="6921500"/>
            <a:ext cx="10668000" cy="307777"/>
          </a:xfrm>
          <a:prstGeom prst="rect">
            <a:avLst/>
          </a:prstGeom>
          <a:noFill/>
        </p:spPr>
        <p:txBody>
          <a:bodyPr vert="horz" wrap="square" lIns="0" tIns="0" rIns="0" bIns="0" rtlCol="0">
            <a:spAutoFit/>
          </a:bodyPr>
          <a:lstStyle/>
          <a:p>
            <a:pPr algn="ctr"/>
            <a:r>
              <a:rPr lang="en-US" sz="2000">
                <a:solidFill>
                  <a:srgbClr val="FFFFFF"/>
                </a:solidFill>
                <a:latin typeface="Arial" panose="020B0604020202020204" pitchFamily="34" charset="0"/>
              </a:rPr>
              <a:t>Tài liệu tổng hợp quá trình &amp; thiết kế dự án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C4FD0353-71A5-3549-1999-56725F05B4EC}"/>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3" name="TextBox 2">
            <a:extLst>
              <a:ext uri="{FF2B5EF4-FFF2-40B4-BE49-F238E27FC236}">
                <a16:creationId xmlns:a16="http://schemas.microsoft.com/office/drawing/2014/main" id="{94255C07-D277-4271-C0A0-7F05E360647E}"/>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32A964EB-997B-9BA0-2217-0BE63D9F06D6}"/>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MPO</a:t>
            </a:r>
          </a:p>
        </p:txBody>
      </p:sp>
      <p:cxnSp>
        <p:nvCxnSpPr>
          <p:cNvPr id="5" name="Straight Connector 4">
            <a:extLst>
              <a:ext uri="{FF2B5EF4-FFF2-40B4-BE49-F238E27FC236}">
                <a16:creationId xmlns:a16="http://schemas.microsoft.com/office/drawing/2014/main" id="{E975A2BA-0698-18F4-D34C-34CD4B2F5C46}"/>
              </a:ext>
            </a:extLst>
          </p:cNvPr>
          <p:cNvCxnSpPr/>
          <p:nvPr/>
        </p:nvCxnSpPr>
        <p:spPr>
          <a:xfrm>
            <a:off x="4470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7DA3B9F-A236-BA9D-9C21-69A05DBEF487}"/>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7" name="TextBox 6">
            <a:extLst>
              <a:ext uri="{FF2B5EF4-FFF2-40B4-BE49-F238E27FC236}">
                <a16:creationId xmlns:a16="http://schemas.microsoft.com/office/drawing/2014/main" id="{4E290E30-E390-21A6-C25E-29B07213A6E3}"/>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8" name="TextBox 7">
            <a:extLst>
              <a:ext uri="{FF2B5EF4-FFF2-40B4-BE49-F238E27FC236}">
                <a16:creationId xmlns:a16="http://schemas.microsoft.com/office/drawing/2014/main" id="{DAF858D9-6F03-9725-7CF7-7087D1804CBC}"/>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29E758C8-2AF2-EB94-B0DD-32819FA74CE6}"/>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4A1329C8-90CE-A7C9-9FC7-DF964EFEAC46}"/>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02</a:t>
            </a:r>
          </a:p>
        </p:txBody>
      </p:sp>
      <p:sp>
        <p:nvSpPr>
          <p:cNvPr id="11" name="TextBox 10">
            <a:extLst>
              <a:ext uri="{FF2B5EF4-FFF2-40B4-BE49-F238E27FC236}">
                <a16:creationId xmlns:a16="http://schemas.microsoft.com/office/drawing/2014/main" id="{645CC2C5-6540-D65C-0795-631553F4DF33}"/>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EXECUTIVE SUMMARY</a:t>
            </a:r>
          </a:p>
        </p:txBody>
      </p:sp>
      <p:sp>
        <p:nvSpPr>
          <p:cNvPr id="12" name="TextBox 11">
            <a:extLst>
              <a:ext uri="{FF2B5EF4-FFF2-40B4-BE49-F238E27FC236}">
                <a16:creationId xmlns:a16="http://schemas.microsoft.com/office/drawing/2014/main" id="{E5A8254F-A1F3-A762-048C-7789F818B7C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MPO biến dữ liệu máy thành hành động</a:t>
            </a:r>
          </a:p>
        </p:txBody>
      </p:sp>
      <p:cxnSp>
        <p:nvCxnSpPr>
          <p:cNvPr id="13" name="Straight Connector 12">
            <a:extLst>
              <a:ext uri="{FF2B5EF4-FFF2-40B4-BE49-F238E27FC236}">
                <a16:creationId xmlns:a16="http://schemas.microsoft.com/office/drawing/2014/main" id="{8F604FB2-B5D5-F926-2190-448F7D511DA3}"/>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6567F40-4EA2-E107-7699-6DFE778CE2DD}"/>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2DC6ADCA-4F23-8D09-4D07-4A76F4717C4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02</a:t>
            </a:r>
          </a:p>
        </p:txBody>
      </p:sp>
      <p:sp>
        <p:nvSpPr>
          <p:cNvPr id="16" name="TextBox 15">
            <a:extLst>
              <a:ext uri="{FF2B5EF4-FFF2-40B4-BE49-F238E27FC236}">
                <a16:creationId xmlns:a16="http://schemas.microsoft.com/office/drawing/2014/main" id="{CD5819B8-78DA-51FC-BE43-BFA20D3C3CC4}"/>
              </a:ext>
            </a:extLst>
          </p:cNvPr>
          <p:cNvSpPr txBox="1"/>
          <p:nvPr/>
        </p:nvSpPr>
        <p:spPr>
          <a:xfrm>
            <a:off x="889000" y="2819400"/>
            <a:ext cx="15748000" cy="369332"/>
          </a:xfrm>
          <a:prstGeom prst="rect">
            <a:avLst/>
          </a:prstGeom>
          <a:noFill/>
        </p:spPr>
        <p:txBody>
          <a:bodyPr vert="horz" wrap="square" lIns="0" tIns="0" rIns="0" bIns="0" rtlCol="0">
            <a:spAutoFit/>
          </a:bodyPr>
          <a:lstStyle/>
          <a:p>
            <a:r>
              <a:rPr lang="vi-VN" sz="2400">
                <a:solidFill>
                  <a:srgbClr val="E6F0FA"/>
                </a:solidFill>
                <a:latin typeface="Arial" panose="020B0604020202020204" pitchFamily="34" charset="0"/>
              </a:rPr>
              <a:t>Một luồng tự động hợp nhất sản lượng, chất lượng và downtime — từ file .u01 đến dashboard quản trị.</a:t>
            </a:r>
            <a:endParaRPr lang="en-US" sz="2400">
              <a:solidFill>
                <a:srgbClr val="E6F0FA"/>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4778EDE6-14BA-D60B-3EB0-C272A4583D40}"/>
              </a:ext>
            </a:extLst>
          </p:cNvPr>
          <p:cNvSpPr/>
          <p:nvPr/>
        </p:nvSpPr>
        <p:spPr>
          <a:xfrm>
            <a:off x="889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F477D18-BB35-7A90-1006-F97CDA400C1F}"/>
              </a:ext>
            </a:extLst>
          </p:cNvPr>
          <p:cNvSpPr/>
          <p:nvPr/>
        </p:nvSpPr>
        <p:spPr>
          <a:xfrm>
            <a:off x="889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64764308-F7EB-752F-7809-1BFE21C46F7D}"/>
              </a:ext>
            </a:extLst>
          </p:cNvPr>
          <p:cNvSpPr/>
          <p:nvPr/>
        </p:nvSpPr>
        <p:spPr>
          <a:xfrm>
            <a:off x="1193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82CE164-BCC1-0794-1907-CAF72292BA4D}"/>
              </a:ext>
            </a:extLst>
          </p:cNvPr>
          <p:cNvSpPr txBox="1"/>
          <p:nvPr/>
        </p:nvSpPr>
        <p:spPr>
          <a:xfrm>
            <a:off x="1295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1" name="TextBox 20">
            <a:extLst>
              <a:ext uri="{FF2B5EF4-FFF2-40B4-BE49-F238E27FC236}">
                <a16:creationId xmlns:a16="http://schemas.microsoft.com/office/drawing/2014/main" id="{38799253-8A74-BF54-5287-1BC12153D411}"/>
              </a:ext>
            </a:extLst>
          </p:cNvPr>
          <p:cNvSpPr txBox="1"/>
          <p:nvPr/>
        </p:nvSpPr>
        <p:spPr>
          <a:xfrm>
            <a:off x="1193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Tập trung</a:t>
            </a:r>
          </a:p>
        </p:txBody>
      </p:sp>
      <p:sp>
        <p:nvSpPr>
          <p:cNvPr id="22" name="TextBox 21">
            <a:extLst>
              <a:ext uri="{FF2B5EF4-FFF2-40B4-BE49-F238E27FC236}">
                <a16:creationId xmlns:a16="http://schemas.microsoft.com/office/drawing/2014/main" id="{F080BC86-A873-1E94-0D0F-877337D20854}"/>
              </a:ext>
            </a:extLst>
          </p:cNvPr>
          <p:cNvSpPr txBox="1"/>
          <p:nvPr/>
        </p:nvSpPr>
        <p:spPr>
          <a:xfrm>
            <a:off x="1193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Một nguồn báo cáo thống nhất cho dữ liệu máy LNB.</a:t>
            </a:r>
          </a:p>
        </p:txBody>
      </p:sp>
      <p:sp>
        <p:nvSpPr>
          <p:cNvPr id="23" name="Rectangle: Rounded Corners 22">
            <a:extLst>
              <a:ext uri="{FF2B5EF4-FFF2-40B4-BE49-F238E27FC236}">
                <a16:creationId xmlns:a16="http://schemas.microsoft.com/office/drawing/2014/main" id="{7A37C9C7-9B27-96AA-4981-F7A9FF6AF628}"/>
              </a:ext>
            </a:extLst>
          </p:cNvPr>
          <p:cNvSpPr/>
          <p:nvPr/>
        </p:nvSpPr>
        <p:spPr>
          <a:xfrm>
            <a:off x="6350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51CDE2D-820C-1AF7-35BB-5195948B080A}"/>
              </a:ext>
            </a:extLst>
          </p:cNvPr>
          <p:cNvSpPr/>
          <p:nvPr/>
        </p:nvSpPr>
        <p:spPr>
          <a:xfrm>
            <a:off x="6350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22B9BF30-08AC-325A-AACE-77357D0121B6}"/>
              </a:ext>
            </a:extLst>
          </p:cNvPr>
          <p:cNvSpPr/>
          <p:nvPr/>
        </p:nvSpPr>
        <p:spPr>
          <a:xfrm>
            <a:off x="6654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E58221D-FA50-2F72-C2A6-6C119828062B}"/>
              </a:ext>
            </a:extLst>
          </p:cNvPr>
          <p:cNvSpPr txBox="1"/>
          <p:nvPr/>
        </p:nvSpPr>
        <p:spPr>
          <a:xfrm>
            <a:off x="6756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7" name="TextBox 26">
            <a:extLst>
              <a:ext uri="{FF2B5EF4-FFF2-40B4-BE49-F238E27FC236}">
                <a16:creationId xmlns:a16="http://schemas.microsoft.com/office/drawing/2014/main" id="{18D47094-5D16-1BC2-4DEB-0E885FB2CD1E}"/>
              </a:ext>
            </a:extLst>
          </p:cNvPr>
          <p:cNvSpPr txBox="1"/>
          <p:nvPr/>
        </p:nvSpPr>
        <p:spPr>
          <a:xfrm>
            <a:off x="6654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Phân tích</a:t>
            </a:r>
          </a:p>
        </p:txBody>
      </p:sp>
      <p:sp>
        <p:nvSpPr>
          <p:cNvPr id="28" name="TextBox 27">
            <a:extLst>
              <a:ext uri="{FF2B5EF4-FFF2-40B4-BE49-F238E27FC236}">
                <a16:creationId xmlns:a16="http://schemas.microsoft.com/office/drawing/2014/main" id="{650472D0-A590-ABBD-E863-35060924E0C2}"/>
              </a:ext>
            </a:extLst>
          </p:cNvPr>
          <p:cNvSpPr txBox="1"/>
          <p:nvPr/>
        </p:nvSpPr>
        <p:spPr>
          <a:xfrm>
            <a:off x="6654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Drill-down theo line, lane, máy, model, part, feeder và nozzle.</a:t>
            </a:r>
          </a:p>
        </p:txBody>
      </p:sp>
      <p:sp>
        <p:nvSpPr>
          <p:cNvPr id="29" name="Rectangle: Rounded Corners 28">
            <a:extLst>
              <a:ext uri="{FF2B5EF4-FFF2-40B4-BE49-F238E27FC236}">
                <a16:creationId xmlns:a16="http://schemas.microsoft.com/office/drawing/2014/main" id="{A47D5E63-6A6D-52C5-AD50-A054B449F840}"/>
              </a:ext>
            </a:extLst>
          </p:cNvPr>
          <p:cNvSpPr/>
          <p:nvPr/>
        </p:nvSpPr>
        <p:spPr>
          <a:xfrm>
            <a:off x="11811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5076F9F-AF04-94A0-7440-94C307DB21CB}"/>
              </a:ext>
            </a:extLst>
          </p:cNvPr>
          <p:cNvSpPr/>
          <p:nvPr/>
        </p:nvSpPr>
        <p:spPr>
          <a:xfrm>
            <a:off x="11811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5ACE12BA-BFF9-97B7-5A0A-D96E3742943B}"/>
              </a:ext>
            </a:extLst>
          </p:cNvPr>
          <p:cNvSpPr/>
          <p:nvPr/>
        </p:nvSpPr>
        <p:spPr>
          <a:xfrm>
            <a:off x="12115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F15A8CE-FF83-B485-D20C-108387835326}"/>
              </a:ext>
            </a:extLst>
          </p:cNvPr>
          <p:cNvSpPr txBox="1"/>
          <p:nvPr/>
        </p:nvSpPr>
        <p:spPr>
          <a:xfrm>
            <a:off x="12217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3" name="TextBox 32">
            <a:extLst>
              <a:ext uri="{FF2B5EF4-FFF2-40B4-BE49-F238E27FC236}">
                <a16:creationId xmlns:a16="http://schemas.microsoft.com/office/drawing/2014/main" id="{027DDC23-8942-DFD7-AF20-732394687429}"/>
              </a:ext>
            </a:extLst>
          </p:cNvPr>
          <p:cNvSpPr txBox="1"/>
          <p:nvPr/>
        </p:nvSpPr>
        <p:spPr>
          <a:xfrm>
            <a:off x="12115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Hành động</a:t>
            </a:r>
          </a:p>
        </p:txBody>
      </p:sp>
      <p:sp>
        <p:nvSpPr>
          <p:cNvPr id="34" name="TextBox 33">
            <a:extLst>
              <a:ext uri="{FF2B5EF4-FFF2-40B4-BE49-F238E27FC236}">
                <a16:creationId xmlns:a16="http://schemas.microsoft.com/office/drawing/2014/main" id="{85C508D4-4A1D-C6F0-B931-F74559C4FA94}"/>
              </a:ext>
            </a:extLst>
          </p:cNvPr>
          <p:cNvSpPr txBox="1"/>
          <p:nvPr/>
        </p:nvSpPr>
        <p:spPr>
          <a:xfrm>
            <a:off x="12115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Xác định thiết bị rủi ro, điều tra nguyên nhân và export dữ liệu.</a:t>
            </a:r>
          </a:p>
        </p:txBody>
      </p:sp>
      <p:sp>
        <p:nvSpPr>
          <p:cNvPr id="35" name="TextBox 34">
            <a:extLst>
              <a:ext uri="{FF2B5EF4-FFF2-40B4-BE49-F238E27FC236}">
                <a16:creationId xmlns:a16="http://schemas.microsoft.com/office/drawing/2014/main" id="{7C4FD30D-F58B-2B28-25A9-B5AD346EBB63}"/>
              </a:ext>
            </a:extLst>
          </p:cNvPr>
          <p:cNvSpPr txBox="1"/>
          <p:nvPr/>
        </p:nvSpPr>
        <p:spPr>
          <a:xfrm>
            <a:off x="889000" y="7937500"/>
            <a:ext cx="15748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Kết quả: dữ liệu thô trở thành bằng chứng có thể sử dụng trong vận hành hằng ngày.</a:t>
            </a:r>
          </a:p>
        </p:txBody>
      </p:sp>
      <p:sp>
        <p:nvSpPr>
          <p:cNvPr id="36" name="Rectangle 35">
            <a:extLst>
              <a:ext uri="{FF2B5EF4-FFF2-40B4-BE49-F238E27FC236}">
                <a16:creationId xmlns:a16="http://schemas.microsoft.com/office/drawing/2014/main" id="{1FD8F3D7-8B75-8A31-941E-9374F488ED10}"/>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1DDC90A-1F81-5D71-E91E-980503DBF7D4}"/>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4110318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0E7A4F04-A090-8F35-31FC-83077B3032B6}"/>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51605677-7857-039B-857A-F53114F7B1E9}"/>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70012E99-BD3A-6598-A611-1434C68B235F}"/>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MPO</a:t>
            </a:r>
          </a:p>
        </p:txBody>
      </p:sp>
      <p:cxnSp>
        <p:nvCxnSpPr>
          <p:cNvPr id="5" name="Straight Connector 4">
            <a:extLst>
              <a:ext uri="{FF2B5EF4-FFF2-40B4-BE49-F238E27FC236}">
                <a16:creationId xmlns:a16="http://schemas.microsoft.com/office/drawing/2014/main" id="{835C8EE8-A410-B14A-9706-2EBFA8BE7DAA}"/>
              </a:ext>
            </a:extLst>
          </p:cNvPr>
          <p:cNvCxnSpPr/>
          <p:nvPr/>
        </p:nvCxnSpPr>
        <p:spPr>
          <a:xfrm>
            <a:off x="4470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91B59F9-B9B9-B150-40C0-A9D3C1F50F5D}"/>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7" name="TextBox 6">
            <a:extLst>
              <a:ext uri="{FF2B5EF4-FFF2-40B4-BE49-F238E27FC236}">
                <a16:creationId xmlns:a16="http://schemas.microsoft.com/office/drawing/2014/main" id="{79B41460-D01D-95DB-4596-EA703B87D7C0}"/>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8" name="TextBox 7">
            <a:extLst>
              <a:ext uri="{FF2B5EF4-FFF2-40B4-BE49-F238E27FC236}">
                <a16:creationId xmlns:a16="http://schemas.microsoft.com/office/drawing/2014/main" id="{FAAC2E09-6870-16FC-C3F7-9D072CB33F83}"/>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AD188B6A-E935-F227-FAB6-2D312F064FAF}"/>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267776C5-EC78-B913-5DF5-D5A84687ECEC}"/>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03</a:t>
            </a:r>
          </a:p>
        </p:txBody>
      </p:sp>
      <p:sp>
        <p:nvSpPr>
          <p:cNvPr id="11" name="TextBox 10">
            <a:extLst>
              <a:ext uri="{FF2B5EF4-FFF2-40B4-BE49-F238E27FC236}">
                <a16:creationId xmlns:a16="http://schemas.microsoft.com/office/drawing/2014/main" id="{C9783CC7-7588-E941-AA8C-A4A18D3F17CC}"/>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BUSINESS VALUE</a:t>
            </a:r>
          </a:p>
        </p:txBody>
      </p:sp>
      <p:sp>
        <p:nvSpPr>
          <p:cNvPr id="12" name="TextBox 11">
            <a:extLst>
              <a:ext uri="{FF2B5EF4-FFF2-40B4-BE49-F238E27FC236}">
                <a16:creationId xmlns:a16="http://schemas.microsoft.com/office/drawing/2014/main" id="{A2BCE1F5-40CA-19E9-78AC-9D8242AD7A36}"/>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Bốn giá trị trực tiếp cho vận hành</a:t>
            </a:r>
          </a:p>
        </p:txBody>
      </p:sp>
      <p:cxnSp>
        <p:nvCxnSpPr>
          <p:cNvPr id="13" name="Straight Connector 12">
            <a:extLst>
              <a:ext uri="{FF2B5EF4-FFF2-40B4-BE49-F238E27FC236}">
                <a16:creationId xmlns:a16="http://schemas.microsoft.com/office/drawing/2014/main" id="{7E1BD5C2-2BB4-1CD6-9F58-2D9C747E6D2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712FA56-9DA5-D842-C454-037E0859BDDF}"/>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C6B571C9-84C4-125C-FBC0-32E69EDE47CE}"/>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03</a:t>
            </a:r>
          </a:p>
        </p:txBody>
      </p:sp>
      <p:sp>
        <p:nvSpPr>
          <p:cNvPr id="16" name="Rectangle: Rounded Corners 15">
            <a:extLst>
              <a:ext uri="{FF2B5EF4-FFF2-40B4-BE49-F238E27FC236}">
                <a16:creationId xmlns:a16="http://schemas.microsoft.com/office/drawing/2014/main" id="{DCEFED37-CCA6-8816-9276-65099ABCB84C}"/>
              </a:ext>
            </a:extLst>
          </p:cNvPr>
          <p:cNvSpPr/>
          <p:nvPr/>
        </p:nvSpPr>
        <p:spPr>
          <a:xfrm>
            <a:off x="889000" y="29845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C9523DC-0A1D-3C71-2259-D04AEE97CD19}"/>
              </a:ext>
            </a:extLst>
          </p:cNvPr>
          <p:cNvSpPr/>
          <p:nvPr/>
        </p:nvSpPr>
        <p:spPr>
          <a:xfrm>
            <a:off x="889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E40B44C4-2CC1-88E0-89C0-DCFAEC7418CE}"/>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2859A82-D835-DEF5-4F89-D4B524BA1452}"/>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6144C155-0F33-A93D-161A-3BA90F9E7547}"/>
              </a:ext>
            </a:extLst>
          </p:cNvPr>
          <p:cNvSpPr txBox="1"/>
          <p:nvPr/>
        </p:nvSpPr>
        <p:spPr>
          <a:xfrm>
            <a:off x="1193800" y="38227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Một nguồn dữ liệu</a:t>
            </a:r>
          </a:p>
        </p:txBody>
      </p:sp>
      <p:sp>
        <p:nvSpPr>
          <p:cNvPr id="21" name="TextBox 20">
            <a:extLst>
              <a:ext uri="{FF2B5EF4-FFF2-40B4-BE49-F238E27FC236}">
                <a16:creationId xmlns:a16="http://schemas.microsoft.com/office/drawing/2014/main" id="{F4E4473C-60C7-1608-076B-969A8D44C346}"/>
              </a:ext>
            </a:extLst>
          </p:cNvPr>
          <p:cNvSpPr txBox="1"/>
          <p:nvPr/>
        </p:nvSpPr>
        <p:spPr>
          <a:xfrm>
            <a:off x="1193800" y="44323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Tập trung production, quality và downtime.</a:t>
            </a:r>
          </a:p>
        </p:txBody>
      </p:sp>
      <p:sp>
        <p:nvSpPr>
          <p:cNvPr id="22" name="Rectangle: Rounded Corners 21">
            <a:extLst>
              <a:ext uri="{FF2B5EF4-FFF2-40B4-BE49-F238E27FC236}">
                <a16:creationId xmlns:a16="http://schemas.microsoft.com/office/drawing/2014/main" id="{CB2DD7BD-2C94-F9AD-199E-E48EB7713F52}"/>
              </a:ext>
            </a:extLst>
          </p:cNvPr>
          <p:cNvSpPr/>
          <p:nvPr/>
        </p:nvSpPr>
        <p:spPr>
          <a:xfrm>
            <a:off x="9144000" y="29845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F40D2CF-2ECA-E704-041E-90FD71AB52C7}"/>
              </a:ext>
            </a:extLst>
          </p:cNvPr>
          <p:cNvSpPr/>
          <p:nvPr/>
        </p:nvSpPr>
        <p:spPr>
          <a:xfrm>
            <a:off x="9144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9AA9DAC-EE5B-008C-B940-85AA7225F169}"/>
              </a:ext>
            </a:extLst>
          </p:cNvPr>
          <p:cNvSpPr/>
          <p:nvPr/>
        </p:nvSpPr>
        <p:spPr>
          <a:xfrm>
            <a:off x="9448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612544E-D7D7-01CC-C513-58AE4AC87046}"/>
              </a:ext>
            </a:extLst>
          </p:cNvPr>
          <p:cNvSpPr txBox="1"/>
          <p:nvPr/>
        </p:nvSpPr>
        <p:spPr>
          <a:xfrm>
            <a:off x="9550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17F63C83-060B-9EE8-5CE7-3DD37FC9AE30}"/>
              </a:ext>
            </a:extLst>
          </p:cNvPr>
          <p:cNvSpPr txBox="1"/>
          <p:nvPr/>
        </p:nvSpPr>
        <p:spPr>
          <a:xfrm>
            <a:off x="9448800" y="38227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Giảm thủ công</a:t>
            </a:r>
          </a:p>
        </p:txBody>
      </p:sp>
      <p:sp>
        <p:nvSpPr>
          <p:cNvPr id="27" name="TextBox 26">
            <a:extLst>
              <a:ext uri="{FF2B5EF4-FFF2-40B4-BE49-F238E27FC236}">
                <a16:creationId xmlns:a16="http://schemas.microsoft.com/office/drawing/2014/main" id="{EBE01961-3D9F-3473-3DE7-7ABC83195F37}"/>
              </a:ext>
            </a:extLst>
          </p:cNvPr>
          <p:cNvSpPr txBox="1"/>
          <p:nvPr/>
        </p:nvSpPr>
        <p:spPr>
          <a:xfrm>
            <a:off x="9448800" y="4432300"/>
            <a:ext cx="71374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Loại bỏ nhiều bước tổng hợp và đối chiếu file.</a:t>
            </a:r>
            <a:endParaRPr lang="en-US" sz="1600">
              <a:solidFill>
                <a:srgbClr val="E6F0FA"/>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CBBB96C3-C8E5-CEC7-315E-9AD8DB383111}"/>
              </a:ext>
            </a:extLst>
          </p:cNvPr>
          <p:cNvSpPr/>
          <p:nvPr/>
        </p:nvSpPr>
        <p:spPr>
          <a:xfrm>
            <a:off x="889000" y="558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81889F2-4E75-1F5F-5946-8FACDAA38988}"/>
              </a:ext>
            </a:extLst>
          </p:cNvPr>
          <p:cNvSpPr/>
          <p:nvPr/>
        </p:nvSpPr>
        <p:spPr>
          <a:xfrm>
            <a:off x="889000" y="55880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FC689DE5-892B-6AC6-4C17-5DCB9A9EFF37}"/>
              </a:ext>
            </a:extLst>
          </p:cNvPr>
          <p:cNvSpPr/>
          <p:nvPr/>
        </p:nvSpPr>
        <p:spPr>
          <a:xfrm>
            <a:off x="1193800" y="5816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36D3068-2BBD-32D9-B7A9-69681D08DACE}"/>
              </a:ext>
            </a:extLst>
          </p:cNvPr>
          <p:cNvSpPr txBox="1"/>
          <p:nvPr/>
        </p:nvSpPr>
        <p:spPr>
          <a:xfrm>
            <a:off x="1295400" y="5892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5C299CE6-D6A4-1124-FBA4-E4E3E1FDE666}"/>
              </a:ext>
            </a:extLst>
          </p:cNvPr>
          <p:cNvSpPr txBox="1"/>
          <p:nvPr/>
        </p:nvSpPr>
        <p:spPr>
          <a:xfrm>
            <a:off x="1193800" y="64262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Root-cause nhanh</a:t>
            </a:r>
          </a:p>
        </p:txBody>
      </p:sp>
      <p:sp>
        <p:nvSpPr>
          <p:cNvPr id="33" name="TextBox 32">
            <a:extLst>
              <a:ext uri="{FF2B5EF4-FFF2-40B4-BE49-F238E27FC236}">
                <a16:creationId xmlns:a16="http://schemas.microsoft.com/office/drawing/2014/main" id="{5313A6C6-0195-0907-D22B-DD03245C7533}"/>
              </a:ext>
            </a:extLst>
          </p:cNvPr>
          <p:cNvSpPr txBox="1"/>
          <p:nvPr/>
        </p:nvSpPr>
        <p:spPr>
          <a:xfrm>
            <a:off x="1193800" y="70358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Truy vết từ line đến feeder, nozzle hoặc part.</a:t>
            </a:r>
          </a:p>
        </p:txBody>
      </p:sp>
      <p:sp>
        <p:nvSpPr>
          <p:cNvPr id="34" name="Rectangle: Rounded Corners 33">
            <a:extLst>
              <a:ext uri="{FF2B5EF4-FFF2-40B4-BE49-F238E27FC236}">
                <a16:creationId xmlns:a16="http://schemas.microsoft.com/office/drawing/2014/main" id="{8801E848-B2C7-95A3-7434-20BF4EE4DBAD}"/>
              </a:ext>
            </a:extLst>
          </p:cNvPr>
          <p:cNvSpPr/>
          <p:nvPr/>
        </p:nvSpPr>
        <p:spPr>
          <a:xfrm>
            <a:off x="9144000" y="558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257D452-D35C-48DD-0B3F-30C0A7174A1D}"/>
              </a:ext>
            </a:extLst>
          </p:cNvPr>
          <p:cNvSpPr/>
          <p:nvPr/>
        </p:nvSpPr>
        <p:spPr>
          <a:xfrm>
            <a:off x="9144000" y="55880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6581C80F-10FB-E4F5-FF96-D7C8BE85AAB7}"/>
              </a:ext>
            </a:extLst>
          </p:cNvPr>
          <p:cNvSpPr/>
          <p:nvPr/>
        </p:nvSpPr>
        <p:spPr>
          <a:xfrm>
            <a:off x="9448800" y="5816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6FBCE671-9B57-B70D-FA6B-F3653AB287EC}"/>
              </a:ext>
            </a:extLst>
          </p:cNvPr>
          <p:cNvSpPr txBox="1"/>
          <p:nvPr/>
        </p:nvSpPr>
        <p:spPr>
          <a:xfrm>
            <a:off x="9550400" y="5892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04</a:t>
            </a:r>
          </a:p>
        </p:txBody>
      </p:sp>
      <p:sp>
        <p:nvSpPr>
          <p:cNvPr id="38" name="TextBox 37">
            <a:extLst>
              <a:ext uri="{FF2B5EF4-FFF2-40B4-BE49-F238E27FC236}">
                <a16:creationId xmlns:a16="http://schemas.microsoft.com/office/drawing/2014/main" id="{1AD68464-A597-4DB2-70D9-2F7E54C7F281}"/>
              </a:ext>
            </a:extLst>
          </p:cNvPr>
          <p:cNvSpPr txBox="1"/>
          <p:nvPr/>
        </p:nvSpPr>
        <p:spPr>
          <a:xfrm>
            <a:off x="9448800" y="64262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Chia sẻ linh hoạt</a:t>
            </a:r>
          </a:p>
        </p:txBody>
      </p:sp>
      <p:sp>
        <p:nvSpPr>
          <p:cNvPr id="39" name="TextBox 38">
            <a:extLst>
              <a:ext uri="{FF2B5EF4-FFF2-40B4-BE49-F238E27FC236}">
                <a16:creationId xmlns:a16="http://schemas.microsoft.com/office/drawing/2014/main" id="{0F6F1752-D405-AA97-B43A-E01C73BEE080}"/>
              </a:ext>
            </a:extLst>
          </p:cNvPr>
          <p:cNvSpPr txBox="1"/>
          <p:nvPr/>
        </p:nvSpPr>
        <p:spPr>
          <a:xfrm>
            <a:off x="9448800" y="70358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Export kết quả đã lọc sang Excel-compatible.</a:t>
            </a:r>
          </a:p>
        </p:txBody>
      </p:sp>
      <p:sp>
        <p:nvSpPr>
          <p:cNvPr id="40" name="Rectangle 39">
            <a:extLst>
              <a:ext uri="{FF2B5EF4-FFF2-40B4-BE49-F238E27FC236}">
                <a16:creationId xmlns:a16="http://schemas.microsoft.com/office/drawing/2014/main" id="{9D717F56-3E3E-0934-00E2-8002259E02BE}"/>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396E917B-90D3-0FAB-A657-7B3D423F5DFF}"/>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943028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B03D263E-EFFA-2511-C4D2-127335981398}"/>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3" name="TextBox 2">
            <a:extLst>
              <a:ext uri="{FF2B5EF4-FFF2-40B4-BE49-F238E27FC236}">
                <a16:creationId xmlns:a16="http://schemas.microsoft.com/office/drawing/2014/main" id="{93BF5A53-6062-3BA0-9CC3-51646C875272}"/>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7F00C011-72CA-0859-35C6-6E3A2D003D91}"/>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MPO</a:t>
            </a:r>
          </a:p>
        </p:txBody>
      </p:sp>
      <p:cxnSp>
        <p:nvCxnSpPr>
          <p:cNvPr id="5" name="Straight Connector 4">
            <a:extLst>
              <a:ext uri="{FF2B5EF4-FFF2-40B4-BE49-F238E27FC236}">
                <a16:creationId xmlns:a16="http://schemas.microsoft.com/office/drawing/2014/main" id="{3B19CBF2-2DC5-6F8C-508B-41AE78BA493B}"/>
              </a:ext>
            </a:extLst>
          </p:cNvPr>
          <p:cNvCxnSpPr/>
          <p:nvPr/>
        </p:nvCxnSpPr>
        <p:spPr>
          <a:xfrm>
            <a:off x="4470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C9AA923-76C9-7B2C-C254-E130581CF152}"/>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7" name="TextBox 6">
            <a:extLst>
              <a:ext uri="{FF2B5EF4-FFF2-40B4-BE49-F238E27FC236}">
                <a16:creationId xmlns:a16="http://schemas.microsoft.com/office/drawing/2014/main" id="{7CDC991D-71C9-97DE-ABF8-F7146CAB6AB7}"/>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8" name="TextBox 7">
            <a:extLst>
              <a:ext uri="{FF2B5EF4-FFF2-40B4-BE49-F238E27FC236}">
                <a16:creationId xmlns:a16="http://schemas.microsoft.com/office/drawing/2014/main" id="{8ACDD0F7-6EF0-038A-278A-3220F3C18656}"/>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93E95AD2-359F-7583-6760-9CAAD419F691}"/>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102C5F7F-3654-A247-8CA1-79EC88558F82}"/>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04</a:t>
            </a:r>
          </a:p>
        </p:txBody>
      </p:sp>
      <p:sp>
        <p:nvSpPr>
          <p:cNvPr id="11" name="TextBox 10">
            <a:extLst>
              <a:ext uri="{FF2B5EF4-FFF2-40B4-BE49-F238E27FC236}">
                <a16:creationId xmlns:a16="http://schemas.microsoft.com/office/drawing/2014/main" id="{3BB686C7-04F6-4507-8A4E-3BBD1992658A}"/>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SYSTEM AT A GLANCE</a:t>
            </a:r>
          </a:p>
        </p:txBody>
      </p:sp>
      <p:sp>
        <p:nvSpPr>
          <p:cNvPr id="12" name="TextBox 11">
            <a:extLst>
              <a:ext uri="{FF2B5EF4-FFF2-40B4-BE49-F238E27FC236}">
                <a16:creationId xmlns:a16="http://schemas.microsoft.com/office/drawing/2014/main" id="{E2F0607C-09EE-DF8E-BB62-8C60F1C8E32A}"/>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Một kiến trúc, một dòng dữ liệu</a:t>
            </a:r>
          </a:p>
        </p:txBody>
      </p:sp>
      <p:cxnSp>
        <p:nvCxnSpPr>
          <p:cNvPr id="13" name="Straight Connector 12">
            <a:extLst>
              <a:ext uri="{FF2B5EF4-FFF2-40B4-BE49-F238E27FC236}">
                <a16:creationId xmlns:a16="http://schemas.microsoft.com/office/drawing/2014/main" id="{C61BB732-FE3D-F293-9775-77BEB96538E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3354F43-9385-C230-DB92-E3ADF70F7BA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7D2FD1CE-9CFD-3EA2-0E7B-F42B2DE73E19}"/>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04</a:t>
            </a:r>
          </a:p>
        </p:txBody>
      </p:sp>
      <p:sp>
        <p:nvSpPr>
          <p:cNvPr id="16" name="Rectangle: Rounded Corners 15">
            <a:extLst>
              <a:ext uri="{FF2B5EF4-FFF2-40B4-BE49-F238E27FC236}">
                <a16:creationId xmlns:a16="http://schemas.microsoft.com/office/drawing/2014/main" id="{6BC277E7-9B7E-65DE-8BE8-CFEEBBF1E79E}"/>
              </a:ext>
            </a:extLst>
          </p:cNvPr>
          <p:cNvSpPr/>
          <p:nvPr/>
        </p:nvSpPr>
        <p:spPr>
          <a:xfrm>
            <a:off x="6985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2ECD2B-FE2B-1EBA-563E-28957C1DF217}"/>
              </a:ext>
            </a:extLst>
          </p:cNvPr>
          <p:cNvSpPr/>
          <p:nvPr/>
        </p:nvSpPr>
        <p:spPr>
          <a:xfrm>
            <a:off x="17018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F451115-ED2A-78A9-085A-038E2624C6FE}"/>
              </a:ext>
            </a:extLst>
          </p:cNvPr>
          <p:cNvSpPr txBox="1"/>
          <p:nvPr/>
        </p:nvSpPr>
        <p:spPr>
          <a:xfrm>
            <a:off x="18415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01</a:t>
            </a:r>
          </a:p>
        </p:txBody>
      </p:sp>
      <p:sp>
        <p:nvSpPr>
          <p:cNvPr id="19" name="TextBox 18">
            <a:extLst>
              <a:ext uri="{FF2B5EF4-FFF2-40B4-BE49-F238E27FC236}">
                <a16:creationId xmlns:a16="http://schemas.microsoft.com/office/drawing/2014/main" id="{3E5C9E36-E478-9DF9-33C3-2C8ACC84B951}"/>
              </a:ext>
            </a:extLst>
          </p:cNvPr>
          <p:cNvSpPr txBox="1"/>
          <p:nvPr/>
        </p:nvSpPr>
        <p:spPr>
          <a:xfrm>
            <a:off x="9271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LNB</a:t>
            </a:r>
          </a:p>
        </p:txBody>
      </p:sp>
      <p:sp>
        <p:nvSpPr>
          <p:cNvPr id="20" name="TextBox 19">
            <a:extLst>
              <a:ext uri="{FF2B5EF4-FFF2-40B4-BE49-F238E27FC236}">
                <a16:creationId xmlns:a16="http://schemas.microsoft.com/office/drawing/2014/main" id="{1849379B-68BB-78E8-7B26-FEF36A3A0958}"/>
              </a:ext>
            </a:extLst>
          </p:cNvPr>
          <p:cNvSpPr txBox="1"/>
          <p:nvPr/>
        </p:nvSpPr>
        <p:spPr>
          <a:xfrm>
            <a:off x="9271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.u01 raw data</a:t>
            </a:r>
          </a:p>
        </p:txBody>
      </p:sp>
      <p:cxnSp>
        <p:nvCxnSpPr>
          <p:cNvPr id="21" name="Straight Connector 20">
            <a:extLst>
              <a:ext uri="{FF2B5EF4-FFF2-40B4-BE49-F238E27FC236}">
                <a16:creationId xmlns:a16="http://schemas.microsoft.com/office/drawing/2014/main" id="{F170928B-6C93-6082-BB07-7FCA6C891713}"/>
              </a:ext>
            </a:extLst>
          </p:cNvPr>
          <p:cNvCxnSpPr/>
          <p:nvPr/>
        </p:nvCxnSpPr>
        <p:spPr>
          <a:xfrm>
            <a:off x="34925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9C4E5170-8A96-86C3-1178-00855E352A41}"/>
              </a:ext>
            </a:extLst>
          </p:cNvPr>
          <p:cNvSpPr/>
          <p:nvPr/>
        </p:nvSpPr>
        <p:spPr>
          <a:xfrm>
            <a:off x="41529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B080CAB-1FE0-78D0-E16E-0F7952269C88}"/>
              </a:ext>
            </a:extLst>
          </p:cNvPr>
          <p:cNvSpPr/>
          <p:nvPr/>
        </p:nvSpPr>
        <p:spPr>
          <a:xfrm>
            <a:off x="51562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F31BC67-9D13-6997-B340-4DCB208753C3}"/>
              </a:ext>
            </a:extLst>
          </p:cNvPr>
          <p:cNvSpPr txBox="1"/>
          <p:nvPr/>
        </p:nvSpPr>
        <p:spPr>
          <a:xfrm>
            <a:off x="52959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D3041744-6078-F1F2-4AA7-ECF3FC90BAE9}"/>
              </a:ext>
            </a:extLst>
          </p:cNvPr>
          <p:cNvSpPr txBox="1"/>
          <p:nvPr/>
        </p:nvSpPr>
        <p:spPr>
          <a:xfrm>
            <a:off x="43815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SFTP</a:t>
            </a:r>
          </a:p>
        </p:txBody>
      </p:sp>
      <p:sp>
        <p:nvSpPr>
          <p:cNvPr id="26" name="TextBox 25">
            <a:extLst>
              <a:ext uri="{FF2B5EF4-FFF2-40B4-BE49-F238E27FC236}">
                <a16:creationId xmlns:a16="http://schemas.microsoft.com/office/drawing/2014/main" id="{D51C4DD3-ED79-8CC6-B3CC-C7AACB617C8B}"/>
              </a:ext>
            </a:extLst>
          </p:cNvPr>
          <p:cNvSpPr txBox="1"/>
          <p:nvPr/>
        </p:nvSpPr>
        <p:spPr>
          <a:xfrm>
            <a:off x="43815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Secure transfer</a:t>
            </a:r>
          </a:p>
        </p:txBody>
      </p:sp>
      <p:cxnSp>
        <p:nvCxnSpPr>
          <p:cNvPr id="27" name="Straight Connector 26">
            <a:extLst>
              <a:ext uri="{FF2B5EF4-FFF2-40B4-BE49-F238E27FC236}">
                <a16:creationId xmlns:a16="http://schemas.microsoft.com/office/drawing/2014/main" id="{2CC4DD4E-4FED-D1AD-C930-7145F155D6C0}"/>
              </a:ext>
            </a:extLst>
          </p:cNvPr>
          <p:cNvCxnSpPr/>
          <p:nvPr/>
        </p:nvCxnSpPr>
        <p:spPr>
          <a:xfrm>
            <a:off x="69469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09663B93-4823-C645-3788-D7A7E108DE91}"/>
              </a:ext>
            </a:extLst>
          </p:cNvPr>
          <p:cNvSpPr/>
          <p:nvPr/>
        </p:nvSpPr>
        <p:spPr>
          <a:xfrm>
            <a:off x="76073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B4A51C6-7890-32B5-F928-5191E769C9A4}"/>
              </a:ext>
            </a:extLst>
          </p:cNvPr>
          <p:cNvSpPr/>
          <p:nvPr/>
        </p:nvSpPr>
        <p:spPr>
          <a:xfrm>
            <a:off x="86106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38B5DC7-E57E-203E-6A3F-43A26D5A2079}"/>
              </a:ext>
            </a:extLst>
          </p:cNvPr>
          <p:cNvSpPr txBox="1"/>
          <p:nvPr/>
        </p:nvSpPr>
        <p:spPr>
          <a:xfrm>
            <a:off x="87503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03</a:t>
            </a:r>
          </a:p>
        </p:txBody>
      </p:sp>
      <p:sp>
        <p:nvSpPr>
          <p:cNvPr id="31" name="TextBox 30">
            <a:extLst>
              <a:ext uri="{FF2B5EF4-FFF2-40B4-BE49-F238E27FC236}">
                <a16:creationId xmlns:a16="http://schemas.microsoft.com/office/drawing/2014/main" id="{63580953-F0DE-474F-02F8-0809789873CE}"/>
              </a:ext>
            </a:extLst>
          </p:cNvPr>
          <p:cNvSpPr txBox="1"/>
          <p:nvPr/>
        </p:nvSpPr>
        <p:spPr>
          <a:xfrm>
            <a:off x="78359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Node-RED</a:t>
            </a:r>
          </a:p>
        </p:txBody>
      </p:sp>
      <p:sp>
        <p:nvSpPr>
          <p:cNvPr id="32" name="TextBox 31">
            <a:extLst>
              <a:ext uri="{FF2B5EF4-FFF2-40B4-BE49-F238E27FC236}">
                <a16:creationId xmlns:a16="http://schemas.microsoft.com/office/drawing/2014/main" id="{FD487103-7F86-91DB-6E4B-A37AF0B24350}"/>
              </a:ext>
            </a:extLst>
          </p:cNvPr>
          <p:cNvSpPr txBox="1"/>
          <p:nvPr/>
        </p:nvSpPr>
        <p:spPr>
          <a:xfrm>
            <a:off x="78359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Parse + delta</a:t>
            </a:r>
          </a:p>
        </p:txBody>
      </p:sp>
      <p:cxnSp>
        <p:nvCxnSpPr>
          <p:cNvPr id="33" name="Straight Connector 32">
            <a:extLst>
              <a:ext uri="{FF2B5EF4-FFF2-40B4-BE49-F238E27FC236}">
                <a16:creationId xmlns:a16="http://schemas.microsoft.com/office/drawing/2014/main" id="{41864491-24D8-0A30-883D-86CC2702BC41}"/>
              </a:ext>
            </a:extLst>
          </p:cNvPr>
          <p:cNvCxnSpPr/>
          <p:nvPr/>
        </p:nvCxnSpPr>
        <p:spPr>
          <a:xfrm>
            <a:off x="104013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2370E711-AAFB-13EE-D09B-5EE4B9374401}"/>
              </a:ext>
            </a:extLst>
          </p:cNvPr>
          <p:cNvSpPr/>
          <p:nvPr/>
        </p:nvSpPr>
        <p:spPr>
          <a:xfrm>
            <a:off x="110617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231798D-E736-D9F1-F0A7-3F6E16A59F09}"/>
              </a:ext>
            </a:extLst>
          </p:cNvPr>
          <p:cNvSpPr/>
          <p:nvPr/>
        </p:nvSpPr>
        <p:spPr>
          <a:xfrm>
            <a:off x="120650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C91D44BA-B74B-F67F-D027-C2179C6A3AA1}"/>
              </a:ext>
            </a:extLst>
          </p:cNvPr>
          <p:cNvSpPr txBox="1"/>
          <p:nvPr/>
        </p:nvSpPr>
        <p:spPr>
          <a:xfrm>
            <a:off x="122047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04</a:t>
            </a:r>
          </a:p>
        </p:txBody>
      </p:sp>
      <p:sp>
        <p:nvSpPr>
          <p:cNvPr id="37" name="TextBox 36">
            <a:extLst>
              <a:ext uri="{FF2B5EF4-FFF2-40B4-BE49-F238E27FC236}">
                <a16:creationId xmlns:a16="http://schemas.microsoft.com/office/drawing/2014/main" id="{74D480B9-4C3C-AC21-784F-55DC3D40FFE0}"/>
              </a:ext>
            </a:extLst>
          </p:cNvPr>
          <p:cNvSpPr txBox="1"/>
          <p:nvPr/>
        </p:nvSpPr>
        <p:spPr>
          <a:xfrm>
            <a:off x="112903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PostgreSQL</a:t>
            </a:r>
          </a:p>
        </p:txBody>
      </p:sp>
      <p:sp>
        <p:nvSpPr>
          <p:cNvPr id="38" name="TextBox 37">
            <a:extLst>
              <a:ext uri="{FF2B5EF4-FFF2-40B4-BE49-F238E27FC236}">
                <a16:creationId xmlns:a16="http://schemas.microsoft.com/office/drawing/2014/main" id="{097907A9-27CD-2B47-C4C0-EA68B74ED31D}"/>
              </a:ext>
            </a:extLst>
          </p:cNvPr>
          <p:cNvSpPr txBox="1"/>
          <p:nvPr/>
        </p:nvSpPr>
        <p:spPr>
          <a:xfrm>
            <a:off x="112903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Store + state</a:t>
            </a:r>
          </a:p>
        </p:txBody>
      </p:sp>
      <p:cxnSp>
        <p:nvCxnSpPr>
          <p:cNvPr id="39" name="Straight Connector 38">
            <a:extLst>
              <a:ext uri="{FF2B5EF4-FFF2-40B4-BE49-F238E27FC236}">
                <a16:creationId xmlns:a16="http://schemas.microsoft.com/office/drawing/2014/main" id="{AB89B26A-26C6-61DE-E47C-D375DA0E4419}"/>
              </a:ext>
            </a:extLst>
          </p:cNvPr>
          <p:cNvCxnSpPr/>
          <p:nvPr/>
        </p:nvCxnSpPr>
        <p:spPr>
          <a:xfrm>
            <a:off x="138557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1AE01C2A-20A4-C469-BFD7-FCFF5353CB3A}"/>
              </a:ext>
            </a:extLst>
          </p:cNvPr>
          <p:cNvSpPr/>
          <p:nvPr/>
        </p:nvSpPr>
        <p:spPr>
          <a:xfrm>
            <a:off x="145161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EA5C6BF-F4B3-6BBA-8976-9F983DFA5846}"/>
              </a:ext>
            </a:extLst>
          </p:cNvPr>
          <p:cNvSpPr/>
          <p:nvPr/>
        </p:nvSpPr>
        <p:spPr>
          <a:xfrm>
            <a:off x="155194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2ED5B433-3A63-DCEC-C95F-F1D2B13FD87D}"/>
              </a:ext>
            </a:extLst>
          </p:cNvPr>
          <p:cNvSpPr txBox="1"/>
          <p:nvPr/>
        </p:nvSpPr>
        <p:spPr>
          <a:xfrm>
            <a:off x="156591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05</a:t>
            </a:r>
          </a:p>
        </p:txBody>
      </p:sp>
      <p:sp>
        <p:nvSpPr>
          <p:cNvPr id="43" name="TextBox 42">
            <a:extLst>
              <a:ext uri="{FF2B5EF4-FFF2-40B4-BE49-F238E27FC236}">
                <a16:creationId xmlns:a16="http://schemas.microsoft.com/office/drawing/2014/main" id="{E83F70ED-F796-A89A-05FE-54BF78E54B01}"/>
              </a:ext>
            </a:extLst>
          </p:cNvPr>
          <p:cNvSpPr txBox="1"/>
          <p:nvPr/>
        </p:nvSpPr>
        <p:spPr>
          <a:xfrm>
            <a:off x="147447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Web MPO</a:t>
            </a:r>
          </a:p>
        </p:txBody>
      </p:sp>
      <p:sp>
        <p:nvSpPr>
          <p:cNvPr id="44" name="TextBox 43">
            <a:extLst>
              <a:ext uri="{FF2B5EF4-FFF2-40B4-BE49-F238E27FC236}">
                <a16:creationId xmlns:a16="http://schemas.microsoft.com/office/drawing/2014/main" id="{6130396F-10CE-8682-89EC-DD2BFFD42299}"/>
              </a:ext>
            </a:extLst>
          </p:cNvPr>
          <p:cNvSpPr txBox="1"/>
          <p:nvPr/>
        </p:nvSpPr>
        <p:spPr>
          <a:xfrm>
            <a:off x="147447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Dashboard + export</a:t>
            </a:r>
          </a:p>
        </p:txBody>
      </p:sp>
      <p:sp>
        <p:nvSpPr>
          <p:cNvPr id="45" name="Rectangle: Rounded Corners 44">
            <a:extLst>
              <a:ext uri="{FF2B5EF4-FFF2-40B4-BE49-F238E27FC236}">
                <a16:creationId xmlns:a16="http://schemas.microsoft.com/office/drawing/2014/main" id="{39E4AB2C-CBFD-4469-4897-08E18C19D956}"/>
              </a:ext>
            </a:extLst>
          </p:cNvPr>
          <p:cNvSpPr/>
          <p:nvPr/>
        </p:nvSpPr>
        <p:spPr>
          <a:xfrm>
            <a:off x="7010400" y="6604000"/>
            <a:ext cx="1905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849AB1D2-EFB3-CAEC-DD3B-F973A826D75F}"/>
              </a:ext>
            </a:extLst>
          </p:cNvPr>
          <p:cNvSpPr txBox="1"/>
          <p:nvPr/>
        </p:nvSpPr>
        <p:spPr>
          <a:xfrm>
            <a:off x="7112000" y="6680200"/>
            <a:ext cx="1701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AUTOMATED</a:t>
            </a:r>
          </a:p>
        </p:txBody>
      </p:sp>
      <p:sp>
        <p:nvSpPr>
          <p:cNvPr id="47" name="TextBox 46">
            <a:extLst>
              <a:ext uri="{FF2B5EF4-FFF2-40B4-BE49-F238E27FC236}">
                <a16:creationId xmlns:a16="http://schemas.microsoft.com/office/drawing/2014/main" id="{4CCB24AA-1143-CE18-C718-13E6BFE5CB4D}"/>
              </a:ext>
            </a:extLst>
          </p:cNvPr>
          <p:cNvSpPr txBox="1"/>
          <p:nvPr/>
        </p:nvSpPr>
        <p:spPr>
          <a:xfrm>
            <a:off x="3873500" y="7366000"/>
            <a:ext cx="10541000" cy="307777"/>
          </a:xfrm>
          <a:prstGeom prst="rect">
            <a:avLst/>
          </a:prstGeom>
          <a:noFill/>
        </p:spPr>
        <p:txBody>
          <a:bodyPr vert="horz" wrap="square" lIns="0" tIns="0" rIns="0" bIns="0" rtlCol="0">
            <a:spAutoFit/>
          </a:bodyPr>
          <a:lstStyle/>
          <a:p>
            <a:pPr algn="ctr"/>
            <a:r>
              <a:rPr lang="en-US" sz="2000">
                <a:solidFill>
                  <a:srgbClr val="E6F0FA"/>
                </a:solidFill>
                <a:latin typeface="Arial" panose="020B0604020202020204" pitchFamily="34" charset="0"/>
              </a:rPr>
              <a:t>Không cần xử lý file thủ công sau khi dữ liệu vào PostgreSQL.</a:t>
            </a:r>
          </a:p>
        </p:txBody>
      </p:sp>
      <p:sp>
        <p:nvSpPr>
          <p:cNvPr id="48" name="Rectangle 47">
            <a:extLst>
              <a:ext uri="{FF2B5EF4-FFF2-40B4-BE49-F238E27FC236}">
                <a16:creationId xmlns:a16="http://schemas.microsoft.com/office/drawing/2014/main" id="{ADD40965-624B-7BDC-CB71-17A1F4B46758}"/>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AB1BC3DE-53D3-CC26-6953-EF29732CBAC7}"/>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79380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3A034B52-97AD-1B91-9BB7-5BB0A4A5C52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DAE0EA30-92A1-6CD6-B964-A31261B9400C}"/>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E6E77746-0EAD-B8B6-13D7-ABE504480AA5}"/>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85D79807-EFB4-962D-A723-C5692AABBADB}"/>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PIPELINE</a:t>
            </a:r>
          </a:p>
        </p:txBody>
      </p:sp>
      <p:cxnSp>
        <p:nvCxnSpPr>
          <p:cNvPr id="6" name="Straight Connector 5">
            <a:extLst>
              <a:ext uri="{FF2B5EF4-FFF2-40B4-BE49-F238E27FC236}">
                <a16:creationId xmlns:a16="http://schemas.microsoft.com/office/drawing/2014/main" id="{65FD04C0-2B7D-1BE9-E18F-B86CB3F11BF7}"/>
              </a:ext>
            </a:extLst>
          </p:cNvPr>
          <p:cNvCxnSpPr/>
          <p:nvPr/>
        </p:nvCxnSpPr>
        <p:spPr>
          <a:xfrm>
            <a:off x="6057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377B3E5-B253-81DD-399E-1EAF40A6D8A9}"/>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8" name="TextBox 7">
            <a:extLst>
              <a:ext uri="{FF2B5EF4-FFF2-40B4-BE49-F238E27FC236}">
                <a16:creationId xmlns:a16="http://schemas.microsoft.com/office/drawing/2014/main" id="{63DB1658-9E98-6659-661E-8502FD8A642C}"/>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1F58A0BA-2ACF-C272-E6F9-DC5869EF4BD8}"/>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730BA24F-91B7-C01B-A657-AC25D1EB0259}"/>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05</a:t>
            </a:r>
          </a:p>
        </p:txBody>
      </p:sp>
      <p:sp>
        <p:nvSpPr>
          <p:cNvPr id="11" name="TextBox 10">
            <a:extLst>
              <a:ext uri="{FF2B5EF4-FFF2-40B4-BE49-F238E27FC236}">
                <a16:creationId xmlns:a16="http://schemas.microsoft.com/office/drawing/2014/main" id="{B0D67339-B282-1E31-56C2-B215C983B082}"/>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65A52441-AC8C-13B9-C772-576E5037D09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4EF8707-3B4E-075B-8398-D1DEF02D80E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36656C92-47DB-7FD5-0C1E-684946B745A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05</a:t>
            </a:r>
          </a:p>
        </p:txBody>
      </p:sp>
      <p:sp>
        <p:nvSpPr>
          <p:cNvPr id="15" name="TextBox 14">
            <a:extLst>
              <a:ext uri="{FF2B5EF4-FFF2-40B4-BE49-F238E27FC236}">
                <a16:creationId xmlns:a16="http://schemas.microsoft.com/office/drawing/2014/main" id="{190DFE9C-C002-51D7-5089-7E8B5B801EE1}"/>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01</a:t>
            </a:r>
          </a:p>
        </p:txBody>
      </p:sp>
      <p:cxnSp>
        <p:nvCxnSpPr>
          <p:cNvPr id="16" name="Straight Connector 15">
            <a:extLst>
              <a:ext uri="{FF2B5EF4-FFF2-40B4-BE49-F238E27FC236}">
                <a16:creationId xmlns:a16="http://schemas.microsoft.com/office/drawing/2014/main" id="{FBD99426-6A23-7277-EDEB-CC4CEF1962E2}"/>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F9E5BBB-EAB8-42B2-E3E0-E8C8735154C1}"/>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DATA PIPELINE</a:t>
            </a:r>
          </a:p>
        </p:txBody>
      </p:sp>
      <p:sp>
        <p:nvSpPr>
          <p:cNvPr id="18" name="TextBox 17">
            <a:extLst>
              <a:ext uri="{FF2B5EF4-FFF2-40B4-BE49-F238E27FC236}">
                <a16:creationId xmlns:a16="http://schemas.microsoft.com/office/drawing/2014/main" id="{BF164ED6-8251-209B-BAD6-6F4AE662CAE8}"/>
              </a:ext>
            </a:extLst>
          </p:cNvPr>
          <p:cNvSpPr txBox="1"/>
          <p:nvPr/>
        </p:nvSpPr>
        <p:spPr>
          <a:xfrm>
            <a:off x="5257800" y="4673600"/>
            <a:ext cx="9906000" cy="353943"/>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Cách MPO tiếp nhận, chuẩn hóa và bảo toàn ý nghĩa của counter tích lũy.</a:t>
            </a:r>
          </a:p>
        </p:txBody>
      </p:sp>
      <p:sp>
        <p:nvSpPr>
          <p:cNvPr id="19" name="TextBox 18">
            <a:extLst>
              <a:ext uri="{FF2B5EF4-FFF2-40B4-BE49-F238E27FC236}">
                <a16:creationId xmlns:a16="http://schemas.microsoft.com/office/drawing/2014/main" id="{A6478909-52B0-BB2B-FEB6-5200E54DD487}"/>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E672253F-794D-95E9-632D-37C6A56037A9}"/>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4CEF4BE-DAD1-4788-28C4-C2FC91CB484E}"/>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D1E2B5D-626B-3265-D2BB-B407328FA5F4}"/>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F0A8044-D15B-6D0B-9680-B44D65C506D2}"/>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5FD6D52-1373-8B17-CA90-DDD8A73BB1A8}"/>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B06181D-443C-2E24-5629-99D5D1A0EDC9}"/>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0D89389-1B81-6E2A-51FC-17162B4A4147}"/>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407007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C509CDAC-16AD-6222-3F6D-B194E71900F1}"/>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3" name="TextBox 2">
            <a:extLst>
              <a:ext uri="{FF2B5EF4-FFF2-40B4-BE49-F238E27FC236}">
                <a16:creationId xmlns:a16="http://schemas.microsoft.com/office/drawing/2014/main" id="{C598330F-1B44-71C6-2380-6FC03563BBB8}"/>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589E0886-85A9-9AC4-EEAA-EC8330B3CC34}"/>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4D2A86A5-5512-9108-0166-492ADC68A6C1}"/>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PIPELINE</a:t>
            </a:r>
          </a:p>
        </p:txBody>
      </p:sp>
      <p:cxnSp>
        <p:nvCxnSpPr>
          <p:cNvPr id="6" name="Straight Connector 5">
            <a:extLst>
              <a:ext uri="{FF2B5EF4-FFF2-40B4-BE49-F238E27FC236}">
                <a16:creationId xmlns:a16="http://schemas.microsoft.com/office/drawing/2014/main" id="{BFA7A92C-799D-C325-1A41-C8015CF962B7}"/>
              </a:ext>
            </a:extLst>
          </p:cNvPr>
          <p:cNvCxnSpPr/>
          <p:nvPr/>
        </p:nvCxnSpPr>
        <p:spPr>
          <a:xfrm>
            <a:off x="6057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16A6DD3-D8D4-AB8B-72B5-C1454FA18871}"/>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8" name="TextBox 7">
            <a:extLst>
              <a:ext uri="{FF2B5EF4-FFF2-40B4-BE49-F238E27FC236}">
                <a16:creationId xmlns:a16="http://schemas.microsoft.com/office/drawing/2014/main" id="{2942B27B-9E6E-9FDF-4589-E5066130C851}"/>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2469EBE7-A263-8364-49F8-7F3E1D182992}"/>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FD191A98-4A19-3CC6-8903-9DC101A51CFB}"/>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06</a:t>
            </a:r>
          </a:p>
        </p:txBody>
      </p:sp>
      <p:sp>
        <p:nvSpPr>
          <p:cNvPr id="11" name="TextBox 10">
            <a:extLst>
              <a:ext uri="{FF2B5EF4-FFF2-40B4-BE49-F238E27FC236}">
                <a16:creationId xmlns:a16="http://schemas.microsoft.com/office/drawing/2014/main" id="{7AB6F674-6206-4145-670D-D44D69754468}"/>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END-TO-END FLOW</a:t>
            </a:r>
          </a:p>
        </p:txBody>
      </p:sp>
      <p:sp>
        <p:nvSpPr>
          <p:cNvPr id="12" name="TextBox 11">
            <a:extLst>
              <a:ext uri="{FF2B5EF4-FFF2-40B4-BE49-F238E27FC236}">
                <a16:creationId xmlns:a16="http://schemas.microsoft.com/office/drawing/2014/main" id="{1E6DB3F5-D8C9-A192-15F7-215C680903BD}"/>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Luồng dữ liệu tự động qua 8 bước</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E3F7F824-6019-AD77-4579-F1AD5AA7FEAF}"/>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9025945-3336-F6D2-68A7-A608F5E8E22C}"/>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920696F-1652-4A67-C7DF-CF201E91E580}"/>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06</a:t>
            </a:r>
          </a:p>
        </p:txBody>
      </p:sp>
      <p:sp>
        <p:nvSpPr>
          <p:cNvPr id="16" name="Oval 15">
            <a:extLst>
              <a:ext uri="{FF2B5EF4-FFF2-40B4-BE49-F238E27FC236}">
                <a16:creationId xmlns:a16="http://schemas.microsoft.com/office/drawing/2014/main" id="{636B36F8-01B3-7344-7E88-6DA9270227A0}"/>
              </a:ext>
            </a:extLst>
          </p:cNvPr>
          <p:cNvSpPr/>
          <p:nvPr/>
        </p:nvSpPr>
        <p:spPr>
          <a:xfrm>
            <a:off x="889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68D1AA7-D2CE-2D77-4AFB-D99BBDF3AAA8}"/>
              </a:ext>
            </a:extLst>
          </p:cNvPr>
          <p:cNvSpPr txBox="1"/>
          <p:nvPr/>
        </p:nvSpPr>
        <p:spPr>
          <a:xfrm>
            <a:off x="914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18" name="TextBox 17">
            <a:extLst>
              <a:ext uri="{FF2B5EF4-FFF2-40B4-BE49-F238E27FC236}">
                <a16:creationId xmlns:a16="http://schemas.microsoft.com/office/drawing/2014/main" id="{7F69E444-D4A6-9521-1495-274D4667319F}"/>
              </a:ext>
            </a:extLst>
          </p:cNvPr>
          <p:cNvSpPr txBox="1"/>
          <p:nvPr/>
        </p:nvSpPr>
        <p:spPr>
          <a:xfrm>
            <a:off x="1625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LNB tạo file</a:t>
            </a:r>
          </a:p>
        </p:txBody>
      </p:sp>
      <p:sp>
        <p:nvSpPr>
          <p:cNvPr id="19" name="TextBox 18">
            <a:extLst>
              <a:ext uri="{FF2B5EF4-FFF2-40B4-BE49-F238E27FC236}">
                <a16:creationId xmlns:a16="http://schemas.microsoft.com/office/drawing/2014/main" id="{BC1D5438-BE71-919E-0F9B-0F68562E8C72}"/>
              </a:ext>
            </a:extLst>
          </p:cNvPr>
          <p:cNvSpPr txBox="1"/>
          <p:nvPr/>
        </p:nvSpPr>
        <p:spPr>
          <a:xfrm>
            <a:off x="1625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.u01 counters</a:t>
            </a:r>
          </a:p>
        </p:txBody>
      </p:sp>
      <p:cxnSp>
        <p:nvCxnSpPr>
          <p:cNvPr id="20" name="Straight Connector 19">
            <a:extLst>
              <a:ext uri="{FF2B5EF4-FFF2-40B4-BE49-F238E27FC236}">
                <a16:creationId xmlns:a16="http://schemas.microsoft.com/office/drawing/2014/main" id="{CE4E3043-20D8-9125-1747-AFDB136BF464}"/>
              </a:ext>
            </a:extLst>
          </p:cNvPr>
          <p:cNvCxnSpPr/>
          <p:nvPr/>
        </p:nvCxnSpPr>
        <p:spPr>
          <a:xfrm>
            <a:off x="4546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E1A9EAF6-3F44-236C-B2D0-97685147A9A8}"/>
              </a:ext>
            </a:extLst>
          </p:cNvPr>
          <p:cNvSpPr/>
          <p:nvPr/>
        </p:nvSpPr>
        <p:spPr>
          <a:xfrm>
            <a:off x="5080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8B0F5F3-4169-6247-094E-D99457A56079}"/>
              </a:ext>
            </a:extLst>
          </p:cNvPr>
          <p:cNvSpPr txBox="1"/>
          <p:nvPr/>
        </p:nvSpPr>
        <p:spPr>
          <a:xfrm>
            <a:off x="5105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3" name="TextBox 22">
            <a:extLst>
              <a:ext uri="{FF2B5EF4-FFF2-40B4-BE49-F238E27FC236}">
                <a16:creationId xmlns:a16="http://schemas.microsoft.com/office/drawing/2014/main" id="{1B0959B0-0DD2-A3B4-3327-07FB8A7522D2}"/>
              </a:ext>
            </a:extLst>
          </p:cNvPr>
          <p:cNvSpPr txBox="1"/>
          <p:nvPr/>
        </p:nvSpPr>
        <p:spPr>
          <a:xfrm>
            <a:off x="5816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SFTP chuyển file</a:t>
            </a:r>
          </a:p>
        </p:txBody>
      </p:sp>
      <p:sp>
        <p:nvSpPr>
          <p:cNvPr id="24" name="TextBox 23">
            <a:extLst>
              <a:ext uri="{FF2B5EF4-FFF2-40B4-BE49-F238E27FC236}">
                <a16:creationId xmlns:a16="http://schemas.microsoft.com/office/drawing/2014/main" id="{2DE44C33-3935-61BD-FDF0-2F2B1C3687FA}"/>
              </a:ext>
            </a:extLst>
          </p:cNvPr>
          <p:cNvSpPr txBox="1"/>
          <p:nvPr/>
        </p:nvSpPr>
        <p:spPr>
          <a:xfrm>
            <a:off x="5816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incoming folder</a:t>
            </a:r>
          </a:p>
        </p:txBody>
      </p:sp>
      <p:cxnSp>
        <p:nvCxnSpPr>
          <p:cNvPr id="25" name="Straight Connector 24">
            <a:extLst>
              <a:ext uri="{FF2B5EF4-FFF2-40B4-BE49-F238E27FC236}">
                <a16:creationId xmlns:a16="http://schemas.microsoft.com/office/drawing/2014/main" id="{9C50BC2C-F04D-BF68-71A3-AA464125B046}"/>
              </a:ext>
            </a:extLst>
          </p:cNvPr>
          <p:cNvCxnSpPr/>
          <p:nvPr/>
        </p:nvCxnSpPr>
        <p:spPr>
          <a:xfrm>
            <a:off x="8737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C6650C8F-D209-961D-FB72-0A2608AC8B0E}"/>
              </a:ext>
            </a:extLst>
          </p:cNvPr>
          <p:cNvSpPr/>
          <p:nvPr/>
        </p:nvSpPr>
        <p:spPr>
          <a:xfrm>
            <a:off x="9271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4D5636C-46AD-CD05-1231-DD539D4352E9}"/>
              </a:ext>
            </a:extLst>
          </p:cNvPr>
          <p:cNvSpPr txBox="1"/>
          <p:nvPr/>
        </p:nvSpPr>
        <p:spPr>
          <a:xfrm>
            <a:off x="9296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8" name="TextBox 27">
            <a:extLst>
              <a:ext uri="{FF2B5EF4-FFF2-40B4-BE49-F238E27FC236}">
                <a16:creationId xmlns:a16="http://schemas.microsoft.com/office/drawing/2014/main" id="{B65902BF-074A-A4CD-6637-B0EBE9BC15F8}"/>
              </a:ext>
            </a:extLst>
          </p:cNvPr>
          <p:cNvSpPr txBox="1"/>
          <p:nvPr/>
        </p:nvSpPr>
        <p:spPr>
          <a:xfrm>
            <a:off x="10007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Watch phát hiện</a:t>
            </a:r>
          </a:p>
        </p:txBody>
      </p:sp>
      <p:sp>
        <p:nvSpPr>
          <p:cNvPr id="29" name="TextBox 28">
            <a:extLst>
              <a:ext uri="{FF2B5EF4-FFF2-40B4-BE49-F238E27FC236}">
                <a16:creationId xmlns:a16="http://schemas.microsoft.com/office/drawing/2014/main" id="{09D46C09-C623-2F28-66EB-78C0F4120434}"/>
              </a:ext>
            </a:extLst>
          </p:cNvPr>
          <p:cNvSpPr txBox="1"/>
          <p:nvPr/>
        </p:nvSpPr>
        <p:spPr>
          <a:xfrm>
            <a:off x="10007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lọc file hợp lệ</a:t>
            </a:r>
          </a:p>
        </p:txBody>
      </p:sp>
      <p:cxnSp>
        <p:nvCxnSpPr>
          <p:cNvPr id="30" name="Straight Connector 29">
            <a:extLst>
              <a:ext uri="{FF2B5EF4-FFF2-40B4-BE49-F238E27FC236}">
                <a16:creationId xmlns:a16="http://schemas.microsoft.com/office/drawing/2014/main" id="{5646A92E-FD7E-BCF9-C1BE-78A3E9E3F7F1}"/>
              </a:ext>
            </a:extLst>
          </p:cNvPr>
          <p:cNvCxnSpPr/>
          <p:nvPr/>
        </p:nvCxnSpPr>
        <p:spPr>
          <a:xfrm>
            <a:off x="12928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C459D330-C41C-9867-6551-27C22F74A3AB}"/>
              </a:ext>
            </a:extLst>
          </p:cNvPr>
          <p:cNvSpPr/>
          <p:nvPr/>
        </p:nvSpPr>
        <p:spPr>
          <a:xfrm>
            <a:off x="13462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2930D8E-52A5-86F6-9B5F-8E1BC9E0F730}"/>
              </a:ext>
            </a:extLst>
          </p:cNvPr>
          <p:cNvSpPr txBox="1"/>
          <p:nvPr/>
        </p:nvSpPr>
        <p:spPr>
          <a:xfrm>
            <a:off x="13487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3" name="TextBox 32">
            <a:extLst>
              <a:ext uri="{FF2B5EF4-FFF2-40B4-BE49-F238E27FC236}">
                <a16:creationId xmlns:a16="http://schemas.microsoft.com/office/drawing/2014/main" id="{F9999A62-1578-E4CD-1157-3368C844F0F5}"/>
              </a:ext>
            </a:extLst>
          </p:cNvPr>
          <p:cNvSpPr txBox="1"/>
          <p:nvPr/>
        </p:nvSpPr>
        <p:spPr>
          <a:xfrm>
            <a:off x="14198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Parse nội dung</a:t>
            </a:r>
          </a:p>
        </p:txBody>
      </p:sp>
      <p:sp>
        <p:nvSpPr>
          <p:cNvPr id="34" name="TextBox 33">
            <a:extLst>
              <a:ext uri="{FF2B5EF4-FFF2-40B4-BE49-F238E27FC236}">
                <a16:creationId xmlns:a16="http://schemas.microsoft.com/office/drawing/2014/main" id="{9813EAFB-E26D-C990-5528-34515455E34F}"/>
              </a:ext>
            </a:extLst>
          </p:cNvPr>
          <p:cNvSpPr txBox="1"/>
          <p:nvPr/>
        </p:nvSpPr>
        <p:spPr>
          <a:xfrm>
            <a:off x="14198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machine + report</a:t>
            </a:r>
          </a:p>
        </p:txBody>
      </p:sp>
      <p:sp>
        <p:nvSpPr>
          <p:cNvPr id="35" name="Oval 34">
            <a:extLst>
              <a:ext uri="{FF2B5EF4-FFF2-40B4-BE49-F238E27FC236}">
                <a16:creationId xmlns:a16="http://schemas.microsoft.com/office/drawing/2014/main" id="{DA4342A5-91D7-8A21-4AB3-857C8852DAEF}"/>
              </a:ext>
            </a:extLst>
          </p:cNvPr>
          <p:cNvSpPr/>
          <p:nvPr/>
        </p:nvSpPr>
        <p:spPr>
          <a:xfrm>
            <a:off x="889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A8F2C16-E342-EB61-B678-F65FEBA7803A}"/>
              </a:ext>
            </a:extLst>
          </p:cNvPr>
          <p:cNvSpPr txBox="1"/>
          <p:nvPr/>
        </p:nvSpPr>
        <p:spPr>
          <a:xfrm>
            <a:off x="914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7" name="TextBox 36">
            <a:extLst>
              <a:ext uri="{FF2B5EF4-FFF2-40B4-BE49-F238E27FC236}">
                <a16:creationId xmlns:a16="http://schemas.microsoft.com/office/drawing/2014/main" id="{63A542A7-A4AF-1D95-1FE8-E59F54E2BB4D}"/>
              </a:ext>
            </a:extLst>
          </p:cNvPr>
          <p:cNvSpPr txBox="1"/>
          <p:nvPr/>
        </p:nvSpPr>
        <p:spPr>
          <a:xfrm>
            <a:off x="1625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Tính delta</a:t>
            </a:r>
          </a:p>
        </p:txBody>
      </p:sp>
      <p:sp>
        <p:nvSpPr>
          <p:cNvPr id="38" name="TextBox 37">
            <a:extLst>
              <a:ext uri="{FF2B5EF4-FFF2-40B4-BE49-F238E27FC236}">
                <a16:creationId xmlns:a16="http://schemas.microsoft.com/office/drawing/2014/main" id="{1697D19A-8C94-E010-F093-FC7F44D528EA}"/>
              </a:ext>
            </a:extLst>
          </p:cNvPr>
          <p:cNvSpPr txBox="1"/>
          <p:nvPr/>
        </p:nvSpPr>
        <p:spPr>
          <a:xfrm>
            <a:off x="1625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count + time</a:t>
            </a:r>
          </a:p>
        </p:txBody>
      </p:sp>
      <p:cxnSp>
        <p:nvCxnSpPr>
          <p:cNvPr id="39" name="Straight Connector 38">
            <a:extLst>
              <a:ext uri="{FF2B5EF4-FFF2-40B4-BE49-F238E27FC236}">
                <a16:creationId xmlns:a16="http://schemas.microsoft.com/office/drawing/2014/main" id="{DD28F320-4C2B-3A68-C015-0A6B048585F4}"/>
              </a:ext>
            </a:extLst>
          </p:cNvPr>
          <p:cNvCxnSpPr/>
          <p:nvPr/>
        </p:nvCxnSpPr>
        <p:spPr>
          <a:xfrm>
            <a:off x="4546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7C369895-3E9B-2A45-1542-FCDC18FEE0B0}"/>
              </a:ext>
            </a:extLst>
          </p:cNvPr>
          <p:cNvSpPr/>
          <p:nvPr/>
        </p:nvSpPr>
        <p:spPr>
          <a:xfrm>
            <a:off x="5080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B0063EA-0102-2854-FC58-9E1A4F7C83AE}"/>
              </a:ext>
            </a:extLst>
          </p:cNvPr>
          <p:cNvSpPr txBox="1"/>
          <p:nvPr/>
        </p:nvSpPr>
        <p:spPr>
          <a:xfrm>
            <a:off x="5105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06</a:t>
            </a:r>
          </a:p>
        </p:txBody>
      </p:sp>
      <p:sp>
        <p:nvSpPr>
          <p:cNvPr id="42" name="TextBox 41">
            <a:extLst>
              <a:ext uri="{FF2B5EF4-FFF2-40B4-BE49-F238E27FC236}">
                <a16:creationId xmlns:a16="http://schemas.microsoft.com/office/drawing/2014/main" id="{4C4600AF-4B7E-DE6A-38EA-F7D61E2AA8AD}"/>
              </a:ext>
            </a:extLst>
          </p:cNvPr>
          <p:cNvSpPr txBox="1"/>
          <p:nvPr/>
        </p:nvSpPr>
        <p:spPr>
          <a:xfrm>
            <a:off x="5816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Ghi database</a:t>
            </a:r>
          </a:p>
        </p:txBody>
      </p:sp>
      <p:sp>
        <p:nvSpPr>
          <p:cNvPr id="43" name="TextBox 42">
            <a:extLst>
              <a:ext uri="{FF2B5EF4-FFF2-40B4-BE49-F238E27FC236}">
                <a16:creationId xmlns:a16="http://schemas.microsoft.com/office/drawing/2014/main" id="{DDC6E540-4393-03A1-6425-309EAFBCFB51}"/>
              </a:ext>
            </a:extLst>
          </p:cNvPr>
          <p:cNvSpPr txBox="1"/>
          <p:nvPr/>
        </p:nvSpPr>
        <p:spPr>
          <a:xfrm>
            <a:off x="5816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stored procedure</a:t>
            </a:r>
          </a:p>
        </p:txBody>
      </p:sp>
      <p:cxnSp>
        <p:nvCxnSpPr>
          <p:cNvPr id="44" name="Straight Connector 43">
            <a:extLst>
              <a:ext uri="{FF2B5EF4-FFF2-40B4-BE49-F238E27FC236}">
                <a16:creationId xmlns:a16="http://schemas.microsoft.com/office/drawing/2014/main" id="{E15F1F0D-B85C-7C82-3ECD-3F8173AEE7D3}"/>
              </a:ext>
            </a:extLst>
          </p:cNvPr>
          <p:cNvCxnSpPr/>
          <p:nvPr/>
        </p:nvCxnSpPr>
        <p:spPr>
          <a:xfrm>
            <a:off x="8737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9BAA8829-319A-B200-260D-E24F04D3040F}"/>
              </a:ext>
            </a:extLst>
          </p:cNvPr>
          <p:cNvSpPr/>
          <p:nvPr/>
        </p:nvSpPr>
        <p:spPr>
          <a:xfrm>
            <a:off x="9271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5445DCB-511C-0554-80EA-BE97A4E6599C}"/>
              </a:ext>
            </a:extLst>
          </p:cNvPr>
          <p:cNvSpPr txBox="1"/>
          <p:nvPr/>
        </p:nvSpPr>
        <p:spPr>
          <a:xfrm>
            <a:off x="9296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07</a:t>
            </a:r>
          </a:p>
        </p:txBody>
      </p:sp>
      <p:sp>
        <p:nvSpPr>
          <p:cNvPr id="47" name="TextBox 46">
            <a:extLst>
              <a:ext uri="{FF2B5EF4-FFF2-40B4-BE49-F238E27FC236}">
                <a16:creationId xmlns:a16="http://schemas.microsoft.com/office/drawing/2014/main" id="{DE57323B-6094-81E6-EC56-7179F5D34CCE}"/>
              </a:ext>
            </a:extLst>
          </p:cNvPr>
          <p:cNvSpPr txBox="1"/>
          <p:nvPr/>
        </p:nvSpPr>
        <p:spPr>
          <a:xfrm>
            <a:off x="10007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Khôi phục state</a:t>
            </a:r>
          </a:p>
        </p:txBody>
      </p:sp>
      <p:sp>
        <p:nvSpPr>
          <p:cNvPr id="48" name="TextBox 47">
            <a:extLst>
              <a:ext uri="{FF2B5EF4-FFF2-40B4-BE49-F238E27FC236}">
                <a16:creationId xmlns:a16="http://schemas.microsoft.com/office/drawing/2014/main" id="{40041E85-E490-0AA8-E338-789724920A4E}"/>
              </a:ext>
            </a:extLst>
          </p:cNvPr>
          <p:cNvSpPr txBox="1"/>
          <p:nvPr/>
        </p:nvSpPr>
        <p:spPr>
          <a:xfrm>
            <a:off x="10007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sau restart</a:t>
            </a:r>
          </a:p>
        </p:txBody>
      </p:sp>
      <p:cxnSp>
        <p:nvCxnSpPr>
          <p:cNvPr id="49" name="Straight Connector 48">
            <a:extLst>
              <a:ext uri="{FF2B5EF4-FFF2-40B4-BE49-F238E27FC236}">
                <a16:creationId xmlns:a16="http://schemas.microsoft.com/office/drawing/2014/main" id="{9DCF1EB6-932A-9FC5-7339-AD8241387C6B}"/>
              </a:ext>
            </a:extLst>
          </p:cNvPr>
          <p:cNvCxnSpPr/>
          <p:nvPr/>
        </p:nvCxnSpPr>
        <p:spPr>
          <a:xfrm>
            <a:off x="12928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A241E7BC-DD76-991F-611D-5E98D0A44E9C}"/>
              </a:ext>
            </a:extLst>
          </p:cNvPr>
          <p:cNvSpPr/>
          <p:nvPr/>
        </p:nvSpPr>
        <p:spPr>
          <a:xfrm>
            <a:off x="13462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F6A578AA-BBA9-86B6-0770-0070FDD46EF8}"/>
              </a:ext>
            </a:extLst>
          </p:cNvPr>
          <p:cNvSpPr txBox="1"/>
          <p:nvPr/>
        </p:nvSpPr>
        <p:spPr>
          <a:xfrm>
            <a:off x="13487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08</a:t>
            </a:r>
          </a:p>
        </p:txBody>
      </p:sp>
      <p:sp>
        <p:nvSpPr>
          <p:cNvPr id="52" name="TextBox 51">
            <a:extLst>
              <a:ext uri="{FF2B5EF4-FFF2-40B4-BE49-F238E27FC236}">
                <a16:creationId xmlns:a16="http://schemas.microsoft.com/office/drawing/2014/main" id="{0EF63721-0347-219D-C71D-B2E240E77442}"/>
              </a:ext>
            </a:extLst>
          </p:cNvPr>
          <p:cNvSpPr txBox="1"/>
          <p:nvPr/>
        </p:nvSpPr>
        <p:spPr>
          <a:xfrm>
            <a:off x="14198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Hiển thị web</a:t>
            </a:r>
          </a:p>
        </p:txBody>
      </p:sp>
      <p:sp>
        <p:nvSpPr>
          <p:cNvPr id="53" name="TextBox 52">
            <a:extLst>
              <a:ext uri="{FF2B5EF4-FFF2-40B4-BE49-F238E27FC236}">
                <a16:creationId xmlns:a16="http://schemas.microsoft.com/office/drawing/2014/main" id="{7368D600-B8FC-2527-16B0-5AFBBB8FF66F}"/>
              </a:ext>
            </a:extLst>
          </p:cNvPr>
          <p:cNvSpPr txBox="1"/>
          <p:nvPr/>
        </p:nvSpPr>
        <p:spPr>
          <a:xfrm>
            <a:off x="14198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dashboard + export</a:t>
            </a:r>
          </a:p>
        </p:txBody>
      </p:sp>
      <p:sp>
        <p:nvSpPr>
          <p:cNvPr id="54" name="TextBox 53">
            <a:extLst>
              <a:ext uri="{FF2B5EF4-FFF2-40B4-BE49-F238E27FC236}">
                <a16:creationId xmlns:a16="http://schemas.microsoft.com/office/drawing/2014/main" id="{775B9FDD-4C94-74C8-B4B7-9BCEB82EDB0F}"/>
              </a:ext>
            </a:extLst>
          </p:cNvPr>
          <p:cNvSpPr txBox="1"/>
          <p:nvPr/>
        </p:nvSpPr>
        <p:spPr>
          <a:xfrm>
            <a:off x="889000" y="8445500"/>
            <a:ext cx="15748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Điểm kiểm soát trọng yếu: delta counter + state persistence.</a:t>
            </a:r>
          </a:p>
        </p:txBody>
      </p:sp>
      <p:sp>
        <p:nvSpPr>
          <p:cNvPr id="55" name="Rectangle 54">
            <a:extLst>
              <a:ext uri="{FF2B5EF4-FFF2-40B4-BE49-F238E27FC236}">
                <a16:creationId xmlns:a16="http://schemas.microsoft.com/office/drawing/2014/main" id="{C8E11972-65CD-DB86-4020-752AC401688A}"/>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D018BD0C-BFBB-1040-AEE3-4EE8DCDC10D3}"/>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1289970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4DAFBA66-CCD9-ED25-0E24-7CFAA6BB407C}"/>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69055956-2CE3-3724-2068-1768EDFDB607}"/>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D28BD28F-68E9-8DE4-1420-2055A8420814}"/>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E01D36B0-E8A6-CE19-E7C5-FF50A7CDED36}"/>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PIPELINE</a:t>
            </a:r>
          </a:p>
        </p:txBody>
      </p:sp>
      <p:cxnSp>
        <p:nvCxnSpPr>
          <p:cNvPr id="6" name="Straight Connector 5">
            <a:extLst>
              <a:ext uri="{FF2B5EF4-FFF2-40B4-BE49-F238E27FC236}">
                <a16:creationId xmlns:a16="http://schemas.microsoft.com/office/drawing/2014/main" id="{49355FAE-F7AA-6134-F83E-1CEED9BCD487}"/>
              </a:ext>
            </a:extLst>
          </p:cNvPr>
          <p:cNvCxnSpPr/>
          <p:nvPr/>
        </p:nvCxnSpPr>
        <p:spPr>
          <a:xfrm>
            <a:off x="6057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BEE570F-D260-9BCC-CB7E-1D822EED5FA7}"/>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8" name="TextBox 7">
            <a:extLst>
              <a:ext uri="{FF2B5EF4-FFF2-40B4-BE49-F238E27FC236}">
                <a16:creationId xmlns:a16="http://schemas.microsoft.com/office/drawing/2014/main" id="{C6CB913F-EF89-7C4F-9CFA-D1C0AE28AB9D}"/>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479DE679-8007-A4B7-CB00-CD8F4FC07852}"/>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C122A9F0-3D48-FA1D-3CFD-CE365761C030}"/>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07</a:t>
            </a:r>
          </a:p>
        </p:txBody>
      </p:sp>
      <p:sp>
        <p:nvSpPr>
          <p:cNvPr id="11" name="TextBox 10">
            <a:extLst>
              <a:ext uri="{FF2B5EF4-FFF2-40B4-BE49-F238E27FC236}">
                <a16:creationId xmlns:a16="http://schemas.microsoft.com/office/drawing/2014/main" id="{48A0988A-53F5-0CEF-5D63-3D46FE369CD3}"/>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INGESTION &amp; PARSING</a:t>
            </a:r>
          </a:p>
        </p:txBody>
      </p:sp>
      <p:sp>
        <p:nvSpPr>
          <p:cNvPr id="12" name="TextBox 11">
            <a:extLst>
              <a:ext uri="{FF2B5EF4-FFF2-40B4-BE49-F238E27FC236}">
                <a16:creationId xmlns:a16="http://schemas.microsoft.com/office/drawing/2014/main" id="{4CD01556-6FFE-B238-6CB7-E8C834CC8E3C}"/>
              </a:ext>
            </a:extLst>
          </p:cNvPr>
          <p:cNvSpPr txBox="1"/>
          <p:nvPr/>
        </p:nvSpPr>
        <p:spPr>
          <a:xfrm>
            <a:off x="889000" y="1917700"/>
            <a:ext cx="16510000" cy="523220"/>
          </a:xfrm>
          <a:prstGeom prst="rect">
            <a:avLst/>
          </a:prstGeom>
          <a:noFill/>
        </p:spPr>
        <p:txBody>
          <a:bodyPr vert="horz" wrap="square" lIns="0" tIns="0" rIns="0" bIns="0" rtlCol="0">
            <a:spAutoFit/>
          </a:bodyPr>
          <a:lstStyle/>
          <a:p>
            <a:r>
              <a:rPr lang="es-ES" sz="3400" b="1">
                <a:solidFill>
                  <a:srgbClr val="FFFFFF"/>
                </a:solidFill>
                <a:latin typeface="Arial" panose="020B0604020202020204" pitchFamily="34" charset="0"/>
              </a:rPr>
              <a:t>Node-RED chuẩn hóa file .u01</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9E6CFAFA-07CB-5252-4C94-9E239E5BD7F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B918208-F02A-0B4C-9312-6F54CB1498C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40C29D2D-3E12-E3F4-776D-415E5E84EDD0}"/>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07</a:t>
            </a:r>
          </a:p>
        </p:txBody>
      </p:sp>
      <p:sp>
        <p:nvSpPr>
          <p:cNvPr id="16" name="Rectangle: Rounded Corners 15">
            <a:extLst>
              <a:ext uri="{FF2B5EF4-FFF2-40B4-BE49-F238E27FC236}">
                <a16:creationId xmlns:a16="http://schemas.microsoft.com/office/drawing/2014/main" id="{9482FDF8-A137-E405-9C33-89CD3B344F08}"/>
              </a:ext>
            </a:extLst>
          </p:cNvPr>
          <p:cNvSpPr/>
          <p:nvPr/>
        </p:nvSpPr>
        <p:spPr>
          <a:xfrm>
            <a:off x="8890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D840653-0450-7EB8-6068-62B1059B0A10}"/>
              </a:ext>
            </a:extLst>
          </p:cNvPr>
          <p:cNvSpPr/>
          <p:nvPr/>
        </p:nvSpPr>
        <p:spPr>
          <a:xfrm>
            <a:off x="8890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06E47845-BBEB-F84F-EADE-B6D5A4166F4C}"/>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92C5230-34DD-28A3-EF5C-A16924B91FA5}"/>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5290D601-7251-CAD4-1012-F89C31423CE9}"/>
              </a:ext>
            </a:extLst>
          </p:cNvPr>
          <p:cNvSpPr txBox="1"/>
          <p:nvPr/>
        </p:nvSpPr>
        <p:spPr>
          <a:xfrm>
            <a:off x="1193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Machine identity</a:t>
            </a:r>
          </a:p>
        </p:txBody>
      </p:sp>
      <p:sp>
        <p:nvSpPr>
          <p:cNvPr id="21" name="TextBox 20">
            <a:extLst>
              <a:ext uri="{FF2B5EF4-FFF2-40B4-BE49-F238E27FC236}">
                <a16:creationId xmlns:a16="http://schemas.microsoft.com/office/drawing/2014/main" id="{EC55064D-098F-145A-D93F-013707E11522}"/>
              </a:ext>
            </a:extLst>
          </p:cNvPr>
          <p:cNvSpPr txBox="1"/>
          <p:nvPr/>
        </p:nvSpPr>
        <p:spPr>
          <a:xfrm>
            <a:off x="1193800" y="4432300"/>
            <a:ext cx="434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Line • machine • lane • stage • type • version</a:t>
            </a:r>
          </a:p>
        </p:txBody>
      </p:sp>
      <p:sp>
        <p:nvSpPr>
          <p:cNvPr id="22" name="Rectangle: Rounded Corners 21">
            <a:extLst>
              <a:ext uri="{FF2B5EF4-FFF2-40B4-BE49-F238E27FC236}">
                <a16:creationId xmlns:a16="http://schemas.microsoft.com/office/drawing/2014/main" id="{F65CC75F-3BD7-64D5-6921-99B28F594297}"/>
              </a:ext>
            </a:extLst>
          </p:cNvPr>
          <p:cNvSpPr/>
          <p:nvPr/>
        </p:nvSpPr>
        <p:spPr>
          <a:xfrm>
            <a:off x="66675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9AA06C0-B682-BCD4-2221-A61DC02B2D43}"/>
              </a:ext>
            </a:extLst>
          </p:cNvPr>
          <p:cNvSpPr/>
          <p:nvPr/>
        </p:nvSpPr>
        <p:spPr>
          <a:xfrm>
            <a:off x="66675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0770BD36-7F74-182B-AD85-66D196843DC9}"/>
              </a:ext>
            </a:extLst>
          </p:cNvPr>
          <p:cNvSpPr/>
          <p:nvPr/>
        </p:nvSpPr>
        <p:spPr>
          <a:xfrm>
            <a:off x="69723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8AC33F4-8A39-F2E7-EE88-9FEDCEACF26C}"/>
              </a:ext>
            </a:extLst>
          </p:cNvPr>
          <p:cNvSpPr txBox="1"/>
          <p:nvPr/>
        </p:nvSpPr>
        <p:spPr>
          <a:xfrm>
            <a:off x="70739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46DC06B4-3DEF-CFDE-1F7A-785CAC26460A}"/>
              </a:ext>
            </a:extLst>
          </p:cNvPr>
          <p:cNvSpPr txBox="1"/>
          <p:nvPr/>
        </p:nvSpPr>
        <p:spPr>
          <a:xfrm>
            <a:off x="69723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 context</a:t>
            </a:r>
          </a:p>
        </p:txBody>
      </p:sp>
      <p:sp>
        <p:nvSpPr>
          <p:cNvPr id="27" name="TextBox 26">
            <a:extLst>
              <a:ext uri="{FF2B5EF4-FFF2-40B4-BE49-F238E27FC236}">
                <a16:creationId xmlns:a16="http://schemas.microsoft.com/office/drawing/2014/main" id="{9FFC3438-BDB1-1F8D-48B3-0C80FF5E092B}"/>
              </a:ext>
            </a:extLst>
          </p:cNvPr>
          <p:cNvSpPr txBox="1"/>
          <p:nvPr/>
        </p:nvSpPr>
        <p:spPr>
          <a:xfrm>
            <a:off x="6972300" y="4432300"/>
            <a:ext cx="434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MJS ID • lot • product • report date • output</a:t>
            </a:r>
          </a:p>
        </p:txBody>
      </p:sp>
      <p:sp>
        <p:nvSpPr>
          <p:cNvPr id="28" name="Rectangle: Rounded Corners 27">
            <a:extLst>
              <a:ext uri="{FF2B5EF4-FFF2-40B4-BE49-F238E27FC236}">
                <a16:creationId xmlns:a16="http://schemas.microsoft.com/office/drawing/2014/main" id="{22A1004D-C2E2-7316-04DC-681BC51CD346}"/>
              </a:ext>
            </a:extLst>
          </p:cNvPr>
          <p:cNvSpPr/>
          <p:nvPr/>
        </p:nvSpPr>
        <p:spPr>
          <a:xfrm>
            <a:off x="124460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6B23B1D-3DD2-C357-20CC-FD6818B2B1F9}"/>
              </a:ext>
            </a:extLst>
          </p:cNvPr>
          <p:cNvSpPr/>
          <p:nvPr/>
        </p:nvSpPr>
        <p:spPr>
          <a:xfrm>
            <a:off x="124460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A02BC266-32DC-9059-E0F6-D13374B84A99}"/>
              </a:ext>
            </a:extLst>
          </p:cNvPr>
          <p:cNvSpPr/>
          <p:nvPr/>
        </p:nvSpPr>
        <p:spPr>
          <a:xfrm>
            <a:off x="12750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A7BF089-6C0A-EBDC-5851-6F8570682146}"/>
              </a:ext>
            </a:extLst>
          </p:cNvPr>
          <p:cNvSpPr txBox="1"/>
          <p:nvPr/>
        </p:nvSpPr>
        <p:spPr>
          <a:xfrm>
            <a:off x="12852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7B144D2B-371C-EEE3-C7F8-7AF566913D4F}"/>
              </a:ext>
            </a:extLst>
          </p:cNvPr>
          <p:cNvSpPr txBox="1"/>
          <p:nvPr/>
        </p:nvSpPr>
        <p:spPr>
          <a:xfrm>
            <a:off x="12750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Operational counters</a:t>
            </a:r>
          </a:p>
        </p:txBody>
      </p:sp>
      <p:sp>
        <p:nvSpPr>
          <p:cNvPr id="33" name="TextBox 32">
            <a:extLst>
              <a:ext uri="{FF2B5EF4-FFF2-40B4-BE49-F238E27FC236}">
                <a16:creationId xmlns:a16="http://schemas.microsoft.com/office/drawing/2014/main" id="{E9ECE996-CA68-CFD8-524A-06237A5C44FE}"/>
              </a:ext>
            </a:extLst>
          </p:cNvPr>
          <p:cNvSpPr txBox="1"/>
          <p:nvPr/>
        </p:nvSpPr>
        <p:spPr>
          <a:xfrm>
            <a:off x="127508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Cycle time • production • downtime • error counters</a:t>
            </a:r>
          </a:p>
        </p:txBody>
      </p:sp>
      <p:sp>
        <p:nvSpPr>
          <p:cNvPr id="34" name="Rectangle: Rounded Corners 33">
            <a:extLst>
              <a:ext uri="{FF2B5EF4-FFF2-40B4-BE49-F238E27FC236}">
                <a16:creationId xmlns:a16="http://schemas.microsoft.com/office/drawing/2014/main" id="{56F9DA38-8103-E192-9D58-4E9CA98218FC}"/>
              </a:ext>
            </a:extLst>
          </p:cNvPr>
          <p:cNvSpPr/>
          <p:nvPr/>
        </p:nvSpPr>
        <p:spPr>
          <a:xfrm>
            <a:off x="889000" y="5969000"/>
            <a:ext cx="16510000" cy="19685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F790EF0F-40F9-6A55-8ED5-3512B9C28717}"/>
              </a:ext>
            </a:extLst>
          </p:cNvPr>
          <p:cNvSpPr txBox="1"/>
          <p:nvPr/>
        </p:nvSpPr>
        <p:spPr>
          <a:xfrm>
            <a:off x="1333500" y="6413500"/>
            <a:ext cx="3683000" cy="307777"/>
          </a:xfrm>
          <a:prstGeom prst="rect">
            <a:avLst/>
          </a:prstGeom>
          <a:noFill/>
        </p:spPr>
        <p:txBody>
          <a:bodyPr vert="horz" wrap="square" lIns="0" tIns="0" rIns="0" bIns="0" rtlCol="0">
            <a:spAutoFit/>
          </a:bodyPr>
          <a:lstStyle/>
          <a:p>
            <a:r>
              <a:rPr lang="en-US" sz="2000" b="1">
                <a:solidFill>
                  <a:srgbClr val="00E6F0"/>
                </a:solidFill>
                <a:latin typeface="Arial" panose="020B0604020202020204" pitchFamily="34" charset="0"/>
              </a:rPr>
              <a:t>MountPickupFeeder</a:t>
            </a:r>
          </a:p>
        </p:txBody>
      </p:sp>
      <p:sp>
        <p:nvSpPr>
          <p:cNvPr id="36" name="TextBox 35">
            <a:extLst>
              <a:ext uri="{FF2B5EF4-FFF2-40B4-BE49-F238E27FC236}">
                <a16:creationId xmlns:a16="http://schemas.microsoft.com/office/drawing/2014/main" id="{FDAE7D05-6FEB-B941-6339-F5527BB118CE}"/>
              </a:ext>
            </a:extLst>
          </p:cNvPr>
          <p:cNvSpPr txBox="1"/>
          <p:nvPr/>
        </p:nvSpPr>
        <p:spPr>
          <a:xfrm>
            <a:off x="5143500" y="6413500"/>
            <a:ext cx="11303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 danh sách feeder theo part, address, reel và miss counters</a:t>
            </a:r>
          </a:p>
        </p:txBody>
      </p:sp>
      <p:sp>
        <p:nvSpPr>
          <p:cNvPr id="37" name="TextBox 36">
            <a:extLst>
              <a:ext uri="{FF2B5EF4-FFF2-40B4-BE49-F238E27FC236}">
                <a16:creationId xmlns:a16="http://schemas.microsoft.com/office/drawing/2014/main" id="{537EAF71-690E-74D6-8323-939FCDF5D767}"/>
              </a:ext>
            </a:extLst>
          </p:cNvPr>
          <p:cNvSpPr txBox="1"/>
          <p:nvPr/>
        </p:nvSpPr>
        <p:spPr>
          <a:xfrm>
            <a:off x="1333500" y="7112000"/>
            <a:ext cx="3683000" cy="307777"/>
          </a:xfrm>
          <a:prstGeom prst="rect">
            <a:avLst/>
          </a:prstGeom>
          <a:noFill/>
        </p:spPr>
        <p:txBody>
          <a:bodyPr vert="horz" wrap="square" lIns="0" tIns="0" rIns="0" bIns="0" rtlCol="0">
            <a:spAutoFit/>
          </a:bodyPr>
          <a:lstStyle/>
          <a:p>
            <a:r>
              <a:rPr lang="en-US" sz="2000" b="1">
                <a:solidFill>
                  <a:srgbClr val="00E6F0"/>
                </a:solidFill>
                <a:latin typeface="Arial" panose="020B0604020202020204" pitchFamily="34" charset="0"/>
              </a:rPr>
              <a:t>MountPickupNozzle</a:t>
            </a:r>
          </a:p>
        </p:txBody>
      </p:sp>
      <p:sp>
        <p:nvSpPr>
          <p:cNvPr id="38" name="TextBox 37">
            <a:extLst>
              <a:ext uri="{FF2B5EF4-FFF2-40B4-BE49-F238E27FC236}">
                <a16:creationId xmlns:a16="http://schemas.microsoft.com/office/drawing/2014/main" id="{E7DDD41B-369A-4600-D75A-281792CDC4CB}"/>
              </a:ext>
            </a:extLst>
          </p:cNvPr>
          <p:cNvSpPr txBox="1"/>
          <p:nvPr/>
        </p:nvSpPr>
        <p:spPr>
          <a:xfrm>
            <a:off x="5143500" y="7112000"/>
            <a:ext cx="11303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 danh sách nozzle theo head, address, name và miss counters</a:t>
            </a:r>
          </a:p>
        </p:txBody>
      </p:sp>
      <p:sp>
        <p:nvSpPr>
          <p:cNvPr id="39" name="Rectangle 38">
            <a:extLst>
              <a:ext uri="{FF2B5EF4-FFF2-40B4-BE49-F238E27FC236}">
                <a16:creationId xmlns:a16="http://schemas.microsoft.com/office/drawing/2014/main" id="{E8FAEE11-561F-7DF5-2CC3-5FEEB945F0AA}"/>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73971E17-01E9-14DE-CE65-2860145D5B41}"/>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3304218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55A00280-16FD-0984-8D8D-C99CB4D12C09}"/>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3" name="TextBox 2">
            <a:extLst>
              <a:ext uri="{FF2B5EF4-FFF2-40B4-BE49-F238E27FC236}">
                <a16:creationId xmlns:a16="http://schemas.microsoft.com/office/drawing/2014/main" id="{BE8CC320-DAD1-BBE5-E8E9-B27473DCBBB0}"/>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3847DC19-8CC5-22D5-C3D8-D8C72C48399E}"/>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308C5E3E-E842-E9AB-01CB-9B2A4EA078C9}"/>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PIPELINE</a:t>
            </a:r>
          </a:p>
        </p:txBody>
      </p:sp>
      <p:cxnSp>
        <p:nvCxnSpPr>
          <p:cNvPr id="6" name="Straight Connector 5">
            <a:extLst>
              <a:ext uri="{FF2B5EF4-FFF2-40B4-BE49-F238E27FC236}">
                <a16:creationId xmlns:a16="http://schemas.microsoft.com/office/drawing/2014/main" id="{1FE6307F-FF0F-DDB0-FB19-2D4CFF0B9F0D}"/>
              </a:ext>
            </a:extLst>
          </p:cNvPr>
          <p:cNvCxnSpPr/>
          <p:nvPr/>
        </p:nvCxnSpPr>
        <p:spPr>
          <a:xfrm>
            <a:off x="6057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44C9DE0-A5E2-F869-34B8-9ACBE637C6E8}"/>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8" name="TextBox 7">
            <a:extLst>
              <a:ext uri="{FF2B5EF4-FFF2-40B4-BE49-F238E27FC236}">
                <a16:creationId xmlns:a16="http://schemas.microsoft.com/office/drawing/2014/main" id="{EE7777D6-1D36-BC0D-F3F5-41B102F367D0}"/>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F5AEE562-1CA5-CEB0-4269-D0EB2DEAA801}"/>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57510546-6F51-C25E-7D6F-40E60F5B003E}"/>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08</a:t>
            </a:r>
          </a:p>
        </p:txBody>
      </p:sp>
      <p:sp>
        <p:nvSpPr>
          <p:cNvPr id="11" name="TextBox 10">
            <a:extLst>
              <a:ext uri="{FF2B5EF4-FFF2-40B4-BE49-F238E27FC236}">
                <a16:creationId xmlns:a16="http://schemas.microsoft.com/office/drawing/2014/main" id="{70740AAC-67AB-52DA-29B6-5F3C059D480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CORE PROCESSING LOGIC</a:t>
            </a:r>
          </a:p>
        </p:txBody>
      </p:sp>
      <p:sp>
        <p:nvSpPr>
          <p:cNvPr id="12" name="TextBox 11">
            <a:extLst>
              <a:ext uri="{FF2B5EF4-FFF2-40B4-BE49-F238E27FC236}">
                <a16:creationId xmlns:a16="http://schemas.microsoft.com/office/drawing/2014/main" id="{88DEA38F-5477-E1C1-0418-E8620F27B42F}"/>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Delta counter bảo toàn sản lượng thực</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6C74D776-644F-8B13-4B79-BF0358175AC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D6FC44A-26F1-242D-869B-969366616FE7}"/>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C1290084-4E5C-687E-8C69-65224501A435}"/>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08</a:t>
            </a:r>
          </a:p>
        </p:txBody>
      </p:sp>
      <p:sp>
        <p:nvSpPr>
          <p:cNvPr id="16" name="Rectangle: Rounded Corners 15">
            <a:extLst>
              <a:ext uri="{FF2B5EF4-FFF2-40B4-BE49-F238E27FC236}">
                <a16:creationId xmlns:a16="http://schemas.microsoft.com/office/drawing/2014/main" id="{983166A6-3005-5EF3-FE14-7E71C8AB5B69}"/>
              </a:ext>
            </a:extLst>
          </p:cNvPr>
          <p:cNvSpPr/>
          <p:nvPr/>
        </p:nvSpPr>
        <p:spPr>
          <a:xfrm>
            <a:off x="889000" y="2984500"/>
            <a:ext cx="6858000" cy="3937000"/>
          </a:xfrm>
          <a:prstGeom prst="roundRect">
            <a:avLst/>
          </a:prstGeom>
          <a:solidFill>
            <a:srgbClr val="051873"/>
          </a:solidFill>
          <a:ln w="1905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CD71FCA-D609-586A-3325-609297A2A1E9}"/>
              </a:ext>
            </a:extLst>
          </p:cNvPr>
          <p:cNvSpPr txBox="1"/>
          <p:nvPr/>
        </p:nvSpPr>
        <p:spPr>
          <a:xfrm>
            <a:off x="1333500" y="3492500"/>
            <a:ext cx="2159000" cy="523220"/>
          </a:xfrm>
          <a:prstGeom prst="rect">
            <a:avLst/>
          </a:prstGeom>
          <a:noFill/>
        </p:spPr>
        <p:txBody>
          <a:bodyPr vert="horz" wrap="square" lIns="0" tIns="0" rIns="0" bIns="0" rtlCol="0">
            <a:spAutoFit/>
          </a:bodyPr>
          <a:lstStyle/>
          <a:p>
            <a:r>
              <a:rPr lang="en-US" sz="3400" b="1">
                <a:solidFill>
                  <a:srgbClr val="00E6F0"/>
                </a:solidFill>
                <a:latin typeface="Arial" panose="020B0604020202020204" pitchFamily="34" charset="0"/>
              </a:rPr>
              <a:t>DELTA</a:t>
            </a:r>
          </a:p>
        </p:txBody>
      </p:sp>
      <p:sp>
        <p:nvSpPr>
          <p:cNvPr id="18" name="TextBox 17">
            <a:extLst>
              <a:ext uri="{FF2B5EF4-FFF2-40B4-BE49-F238E27FC236}">
                <a16:creationId xmlns:a16="http://schemas.microsoft.com/office/drawing/2014/main" id="{B829402A-1C78-A6E5-068A-C92B793F9D1C}"/>
              </a:ext>
            </a:extLst>
          </p:cNvPr>
          <p:cNvSpPr txBox="1"/>
          <p:nvPr/>
        </p:nvSpPr>
        <p:spPr>
          <a:xfrm>
            <a:off x="1333500" y="4254500"/>
            <a:ext cx="5588000" cy="369332"/>
          </a:xfrm>
          <a:prstGeom prst="rect">
            <a:avLst/>
          </a:prstGeom>
          <a:noFill/>
        </p:spPr>
        <p:txBody>
          <a:bodyPr vert="horz" wrap="square" lIns="0" tIns="0" rIns="0" bIns="0" rtlCol="0">
            <a:spAutoFit/>
          </a:bodyPr>
          <a:lstStyle/>
          <a:p>
            <a:r>
              <a:rPr lang="en-US" sz="2400" b="1">
                <a:solidFill>
                  <a:srgbClr val="FFFFFF"/>
                </a:solidFill>
                <a:latin typeface="Arial" panose="020B0604020202020204" pitchFamily="34" charset="0"/>
              </a:rPr>
              <a:t>= Current counter − Previous counter</a:t>
            </a:r>
          </a:p>
        </p:txBody>
      </p:sp>
      <p:cxnSp>
        <p:nvCxnSpPr>
          <p:cNvPr id="19" name="Straight Connector 18">
            <a:extLst>
              <a:ext uri="{FF2B5EF4-FFF2-40B4-BE49-F238E27FC236}">
                <a16:creationId xmlns:a16="http://schemas.microsoft.com/office/drawing/2014/main" id="{0073C76C-1448-64A9-025F-60A91878CCAF}"/>
              </a:ext>
            </a:extLst>
          </p:cNvPr>
          <p:cNvCxnSpPr/>
          <p:nvPr/>
        </p:nvCxnSpPr>
        <p:spPr>
          <a:xfrm>
            <a:off x="1333500" y="4978400"/>
            <a:ext cx="54610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D97D34C-D537-9AEE-D112-EDF74C333725}"/>
              </a:ext>
            </a:extLst>
          </p:cNvPr>
          <p:cNvSpPr txBox="1"/>
          <p:nvPr/>
        </p:nvSpPr>
        <p:spPr>
          <a:xfrm>
            <a:off x="1333500" y="5334000"/>
            <a:ext cx="1905000" cy="230832"/>
          </a:xfrm>
          <a:prstGeom prst="rect">
            <a:avLst/>
          </a:prstGeom>
          <a:noFill/>
        </p:spPr>
        <p:txBody>
          <a:bodyPr vert="horz" wrap="square" lIns="0" tIns="0" rIns="0" bIns="0" rtlCol="0">
            <a:spAutoFit/>
          </a:bodyPr>
          <a:lstStyle/>
          <a:p>
            <a:r>
              <a:rPr lang="en-US" sz="1500" b="1">
                <a:solidFill>
                  <a:srgbClr val="94A3B8"/>
                </a:solidFill>
                <a:latin typeface="Arial" panose="020B0604020202020204" pitchFamily="34" charset="0"/>
              </a:rPr>
              <a:t>Áp dụng cho</a:t>
            </a:r>
          </a:p>
        </p:txBody>
      </p:sp>
      <p:sp>
        <p:nvSpPr>
          <p:cNvPr id="21" name="TextBox 20">
            <a:extLst>
              <a:ext uri="{FF2B5EF4-FFF2-40B4-BE49-F238E27FC236}">
                <a16:creationId xmlns:a16="http://schemas.microsoft.com/office/drawing/2014/main" id="{A52489C2-56C1-8062-3A46-6A41D56801F7}"/>
              </a:ext>
            </a:extLst>
          </p:cNvPr>
          <p:cNvSpPr txBox="1"/>
          <p:nvPr/>
        </p:nvSpPr>
        <p:spPr>
          <a:xfrm>
            <a:off x="1333500" y="5778500"/>
            <a:ext cx="5461000" cy="307777"/>
          </a:xfrm>
          <a:prstGeom prst="rect">
            <a:avLst/>
          </a:prstGeom>
          <a:noFill/>
        </p:spPr>
        <p:txBody>
          <a:bodyPr vert="horz" wrap="square" lIns="0" tIns="0" rIns="0" bIns="0" rtlCol="0">
            <a:spAutoFit/>
          </a:bodyPr>
          <a:lstStyle/>
          <a:p>
            <a:r>
              <a:rPr lang="en-US" sz="2000">
                <a:solidFill>
                  <a:srgbClr val="E6F0FA"/>
                </a:solidFill>
                <a:latin typeface="Arial" panose="020B0604020202020204" pitchFamily="34" charset="0"/>
              </a:rPr>
              <a:t>Production • Time • Feeder • Nozzle</a:t>
            </a:r>
          </a:p>
        </p:txBody>
      </p:sp>
      <p:sp>
        <p:nvSpPr>
          <p:cNvPr id="22" name="Rectangle: Rounded Corners 21">
            <a:extLst>
              <a:ext uri="{FF2B5EF4-FFF2-40B4-BE49-F238E27FC236}">
                <a16:creationId xmlns:a16="http://schemas.microsoft.com/office/drawing/2014/main" id="{49320CAB-AC10-032E-1FEF-2A3BBBFE246B}"/>
              </a:ext>
            </a:extLst>
          </p:cNvPr>
          <p:cNvSpPr/>
          <p:nvPr/>
        </p:nvSpPr>
        <p:spPr>
          <a:xfrm>
            <a:off x="8636000" y="2984500"/>
            <a:ext cx="8763000" cy="1397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CC87957-6B98-4ACF-5FC7-F6BAAE640488}"/>
              </a:ext>
            </a:extLst>
          </p:cNvPr>
          <p:cNvSpPr txBox="1"/>
          <p:nvPr/>
        </p:nvSpPr>
        <p:spPr>
          <a:xfrm>
            <a:off x="9017000" y="3213100"/>
            <a:ext cx="2286000" cy="276999"/>
          </a:xfrm>
          <a:prstGeom prst="rect">
            <a:avLst/>
          </a:prstGeom>
          <a:noFill/>
        </p:spPr>
        <p:txBody>
          <a:bodyPr vert="horz" wrap="square" lIns="0" tIns="0" rIns="0" bIns="0" rtlCol="0">
            <a:spAutoFit/>
          </a:bodyPr>
          <a:lstStyle/>
          <a:p>
            <a:r>
              <a:rPr lang="en-US" b="1">
                <a:solidFill>
                  <a:srgbClr val="22C55E"/>
                </a:solidFill>
                <a:latin typeface="Arial" panose="020B0604020202020204" pitchFamily="34" charset="0"/>
              </a:rPr>
              <a:t>Lần đầu</a:t>
            </a:r>
          </a:p>
        </p:txBody>
      </p:sp>
      <p:sp>
        <p:nvSpPr>
          <p:cNvPr id="24" name="TextBox 23">
            <a:extLst>
              <a:ext uri="{FF2B5EF4-FFF2-40B4-BE49-F238E27FC236}">
                <a16:creationId xmlns:a16="http://schemas.microsoft.com/office/drawing/2014/main" id="{515B6B16-EA59-0BE7-2B55-035EC55C929F}"/>
              </a:ext>
            </a:extLst>
          </p:cNvPr>
          <p:cNvSpPr txBox="1"/>
          <p:nvPr/>
        </p:nvSpPr>
        <p:spPr>
          <a:xfrm>
            <a:off x="11620500" y="32131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a:t>
            </a:r>
          </a:p>
        </p:txBody>
      </p:sp>
      <p:sp>
        <p:nvSpPr>
          <p:cNvPr id="25" name="TextBox 24">
            <a:extLst>
              <a:ext uri="{FF2B5EF4-FFF2-40B4-BE49-F238E27FC236}">
                <a16:creationId xmlns:a16="http://schemas.microsoft.com/office/drawing/2014/main" id="{57D2AA10-46C8-EC33-2935-CA7D8BBC0825}"/>
              </a:ext>
            </a:extLst>
          </p:cNvPr>
          <p:cNvSpPr txBox="1"/>
          <p:nvPr/>
        </p:nvSpPr>
        <p:spPr>
          <a:xfrm>
            <a:off x="9017000" y="3721100"/>
            <a:ext cx="7810500" cy="230832"/>
          </a:xfrm>
          <a:prstGeom prst="rect">
            <a:avLst/>
          </a:prstGeom>
          <a:noFill/>
        </p:spPr>
        <p:txBody>
          <a:bodyPr vert="horz" wrap="square" lIns="0" tIns="0" rIns="0" bIns="0" rtlCol="0">
            <a:spAutoFit/>
          </a:bodyPr>
          <a:lstStyle/>
          <a:p>
            <a:r>
              <a:rPr lang="vi-VN" sz="1500">
                <a:solidFill>
                  <a:srgbClr val="E6F0FA"/>
                </a:solidFill>
                <a:latin typeface="Arial" panose="020B0604020202020204" pitchFamily="34" charset="0"/>
              </a:rPr>
              <a:t>Không có state trước đó</a:t>
            </a:r>
            <a:endParaRPr lang="en-US" sz="1500">
              <a:solidFill>
                <a:srgbClr val="E6F0FA"/>
              </a:solidFill>
              <a:latin typeface="Arial" panose="020B0604020202020204" pitchFamily="34" charset="0"/>
            </a:endParaRPr>
          </a:p>
        </p:txBody>
      </p:sp>
      <p:sp>
        <p:nvSpPr>
          <p:cNvPr id="26" name="Rectangle: Rounded Corners 25">
            <a:extLst>
              <a:ext uri="{FF2B5EF4-FFF2-40B4-BE49-F238E27FC236}">
                <a16:creationId xmlns:a16="http://schemas.microsoft.com/office/drawing/2014/main" id="{74852AE7-1891-A037-62DF-5FCD9F21508E}"/>
              </a:ext>
            </a:extLst>
          </p:cNvPr>
          <p:cNvSpPr/>
          <p:nvPr/>
        </p:nvSpPr>
        <p:spPr>
          <a:xfrm>
            <a:off x="8636000" y="4699000"/>
            <a:ext cx="8763000" cy="1397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CFD4A37-9FFE-C435-38CE-9FDCF4407393}"/>
              </a:ext>
            </a:extLst>
          </p:cNvPr>
          <p:cNvSpPr txBox="1"/>
          <p:nvPr/>
        </p:nvSpPr>
        <p:spPr>
          <a:xfrm>
            <a:off x="9017000" y="4927600"/>
            <a:ext cx="2286000" cy="276999"/>
          </a:xfrm>
          <a:prstGeom prst="rect">
            <a:avLst/>
          </a:prstGeom>
          <a:noFill/>
        </p:spPr>
        <p:txBody>
          <a:bodyPr vert="horz" wrap="square" lIns="0" tIns="0" rIns="0" bIns="0" rtlCol="0">
            <a:spAutoFit/>
          </a:bodyPr>
          <a:lstStyle/>
          <a:p>
            <a:r>
              <a:rPr lang="vi-VN" b="1">
                <a:solidFill>
                  <a:srgbClr val="00E6F0"/>
                </a:solidFill>
                <a:latin typeface="Arial" panose="020B0604020202020204" pitchFamily="34" charset="0"/>
              </a:rPr>
              <a:t>Bình thường</a:t>
            </a:r>
            <a:endParaRPr lang="en-US" b="1">
              <a:solidFill>
                <a:srgbClr val="00E6F0"/>
              </a:solidFill>
              <a:latin typeface="Arial" panose="020B0604020202020204" pitchFamily="34" charset="0"/>
            </a:endParaRPr>
          </a:p>
        </p:txBody>
      </p:sp>
      <p:sp>
        <p:nvSpPr>
          <p:cNvPr id="28" name="TextBox 27">
            <a:extLst>
              <a:ext uri="{FF2B5EF4-FFF2-40B4-BE49-F238E27FC236}">
                <a16:creationId xmlns:a16="http://schemas.microsoft.com/office/drawing/2014/main" id="{C352A76C-A196-CA71-43BA-4EC896559D7F}"/>
              </a:ext>
            </a:extLst>
          </p:cNvPr>
          <p:cNvSpPr txBox="1"/>
          <p:nvPr/>
        </p:nvSpPr>
        <p:spPr>
          <a:xfrm>
            <a:off x="11620500" y="49276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 − Previous</a:t>
            </a:r>
          </a:p>
        </p:txBody>
      </p:sp>
      <p:sp>
        <p:nvSpPr>
          <p:cNvPr id="29" name="TextBox 28">
            <a:extLst>
              <a:ext uri="{FF2B5EF4-FFF2-40B4-BE49-F238E27FC236}">
                <a16:creationId xmlns:a16="http://schemas.microsoft.com/office/drawing/2014/main" id="{6F335947-B81B-5752-CD18-6759C9CB9A95}"/>
              </a:ext>
            </a:extLst>
          </p:cNvPr>
          <p:cNvSpPr txBox="1"/>
          <p:nvPr/>
        </p:nvSpPr>
        <p:spPr>
          <a:xfrm>
            <a:off x="9017000" y="5435600"/>
            <a:ext cx="7810500" cy="230832"/>
          </a:xfrm>
          <a:prstGeom prst="rect">
            <a:avLst/>
          </a:prstGeom>
          <a:noFill/>
        </p:spPr>
        <p:txBody>
          <a:bodyPr vert="horz" wrap="square" lIns="0" tIns="0" rIns="0" bIns="0" rtlCol="0">
            <a:spAutoFit/>
          </a:bodyPr>
          <a:lstStyle/>
          <a:p>
            <a:r>
              <a:rPr lang="en-US" sz="1500">
                <a:solidFill>
                  <a:srgbClr val="E6F0FA"/>
                </a:solidFill>
                <a:latin typeface="Arial" panose="020B0604020202020204" pitchFamily="34" charset="0"/>
              </a:rPr>
              <a:t>Chỉ ghi phần phát sinh</a:t>
            </a:r>
          </a:p>
        </p:txBody>
      </p:sp>
      <p:sp>
        <p:nvSpPr>
          <p:cNvPr id="30" name="Rectangle: Rounded Corners 29">
            <a:extLst>
              <a:ext uri="{FF2B5EF4-FFF2-40B4-BE49-F238E27FC236}">
                <a16:creationId xmlns:a16="http://schemas.microsoft.com/office/drawing/2014/main" id="{09D7C0DB-CE11-8AF5-1784-33886310C8AA}"/>
              </a:ext>
            </a:extLst>
          </p:cNvPr>
          <p:cNvSpPr/>
          <p:nvPr/>
        </p:nvSpPr>
        <p:spPr>
          <a:xfrm>
            <a:off x="8636000" y="6413500"/>
            <a:ext cx="8763000" cy="1397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3230DB1-C79B-CFE3-A8DD-A3F47E22EBE1}"/>
              </a:ext>
            </a:extLst>
          </p:cNvPr>
          <p:cNvSpPr txBox="1"/>
          <p:nvPr/>
        </p:nvSpPr>
        <p:spPr>
          <a:xfrm>
            <a:off x="9017000" y="6642100"/>
            <a:ext cx="2286000" cy="276999"/>
          </a:xfrm>
          <a:prstGeom prst="rect">
            <a:avLst/>
          </a:prstGeom>
          <a:noFill/>
        </p:spPr>
        <p:txBody>
          <a:bodyPr vert="horz" wrap="square" lIns="0" tIns="0" rIns="0" bIns="0" rtlCol="0">
            <a:spAutoFit/>
          </a:bodyPr>
          <a:lstStyle/>
          <a:p>
            <a:r>
              <a:rPr lang="en-US" b="1">
                <a:solidFill>
                  <a:srgbClr val="F59E0B"/>
                </a:solidFill>
                <a:latin typeface="Arial" panose="020B0604020202020204" pitchFamily="34" charset="0"/>
              </a:rPr>
              <a:t>Counter reset</a:t>
            </a:r>
          </a:p>
        </p:txBody>
      </p:sp>
      <p:sp>
        <p:nvSpPr>
          <p:cNvPr id="32" name="TextBox 31">
            <a:extLst>
              <a:ext uri="{FF2B5EF4-FFF2-40B4-BE49-F238E27FC236}">
                <a16:creationId xmlns:a16="http://schemas.microsoft.com/office/drawing/2014/main" id="{A0F07EB5-E7B6-3500-16CB-8772A139E5FF}"/>
              </a:ext>
            </a:extLst>
          </p:cNvPr>
          <p:cNvSpPr txBox="1"/>
          <p:nvPr/>
        </p:nvSpPr>
        <p:spPr>
          <a:xfrm>
            <a:off x="11620500" y="66421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a:t>
            </a:r>
          </a:p>
        </p:txBody>
      </p:sp>
      <p:sp>
        <p:nvSpPr>
          <p:cNvPr id="33" name="TextBox 32">
            <a:extLst>
              <a:ext uri="{FF2B5EF4-FFF2-40B4-BE49-F238E27FC236}">
                <a16:creationId xmlns:a16="http://schemas.microsoft.com/office/drawing/2014/main" id="{3788BC96-AA9E-0C8F-995F-E84CD6D00B8A}"/>
              </a:ext>
            </a:extLst>
          </p:cNvPr>
          <p:cNvSpPr txBox="1"/>
          <p:nvPr/>
        </p:nvSpPr>
        <p:spPr>
          <a:xfrm>
            <a:off x="9017000" y="7150100"/>
            <a:ext cx="7810500" cy="230832"/>
          </a:xfrm>
          <a:prstGeom prst="rect">
            <a:avLst/>
          </a:prstGeom>
          <a:noFill/>
        </p:spPr>
        <p:txBody>
          <a:bodyPr vert="horz" wrap="square" lIns="0" tIns="0" rIns="0" bIns="0" rtlCol="0">
            <a:spAutoFit/>
          </a:bodyPr>
          <a:lstStyle/>
          <a:p>
            <a:r>
              <a:rPr lang="en-US" sz="1500">
                <a:solidFill>
                  <a:srgbClr val="E6F0FA"/>
                </a:solidFill>
                <a:latin typeface="Arial" panose="020B0604020202020204" pitchFamily="34" charset="0"/>
              </a:rPr>
              <a:t>Current &lt; Previous</a:t>
            </a:r>
          </a:p>
        </p:txBody>
      </p:sp>
      <p:sp>
        <p:nvSpPr>
          <p:cNvPr id="34" name="TextBox 33">
            <a:extLst>
              <a:ext uri="{FF2B5EF4-FFF2-40B4-BE49-F238E27FC236}">
                <a16:creationId xmlns:a16="http://schemas.microsoft.com/office/drawing/2014/main" id="{86A03FE7-C225-8482-D04A-69D2CA24159F}"/>
              </a:ext>
            </a:extLst>
          </p:cNvPr>
          <p:cNvSpPr txBox="1"/>
          <p:nvPr/>
        </p:nvSpPr>
        <p:spPr>
          <a:xfrm>
            <a:off x="889000" y="8255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Tránh cộng lặp • Xử lý reset máy • Duy trì tính đúng theo kỳ</a:t>
            </a:r>
          </a:p>
        </p:txBody>
      </p:sp>
      <p:sp>
        <p:nvSpPr>
          <p:cNvPr id="35" name="Rectangle 34">
            <a:extLst>
              <a:ext uri="{FF2B5EF4-FFF2-40B4-BE49-F238E27FC236}">
                <a16:creationId xmlns:a16="http://schemas.microsoft.com/office/drawing/2014/main" id="{F96C88AC-771F-C87B-1EB2-02EF10B07130}"/>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3F1FCAC-67CE-DEB9-0CF4-CDEC599ABA2C}"/>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1831266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5F8848E5-321D-56AD-FCB3-7B246211C6E5}"/>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55D08CAC-CEC9-C9AA-39F4-F770449F571E}"/>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FA33E97C-423D-9452-1F26-40B1228E30C6}"/>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9116140F-0E6F-996D-CDE2-500F311040AD}"/>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PIPELINE</a:t>
            </a:r>
          </a:p>
        </p:txBody>
      </p:sp>
      <p:cxnSp>
        <p:nvCxnSpPr>
          <p:cNvPr id="6" name="Straight Connector 5">
            <a:extLst>
              <a:ext uri="{FF2B5EF4-FFF2-40B4-BE49-F238E27FC236}">
                <a16:creationId xmlns:a16="http://schemas.microsoft.com/office/drawing/2014/main" id="{4B54562E-2074-8315-68A3-C4DC194AECCF}"/>
              </a:ext>
            </a:extLst>
          </p:cNvPr>
          <p:cNvCxnSpPr/>
          <p:nvPr/>
        </p:nvCxnSpPr>
        <p:spPr>
          <a:xfrm>
            <a:off x="6057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D5BA915-A351-1B70-B25A-0D3B5C426DC5}"/>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8" name="TextBox 7">
            <a:extLst>
              <a:ext uri="{FF2B5EF4-FFF2-40B4-BE49-F238E27FC236}">
                <a16:creationId xmlns:a16="http://schemas.microsoft.com/office/drawing/2014/main" id="{6896A1D9-DAAE-F655-30F3-555CF5E60F59}"/>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29C95996-CB99-760C-E9C6-E9788E90027A}"/>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7A3323C7-7858-F661-42C2-FABB5B65F43D}"/>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09</a:t>
            </a:r>
          </a:p>
        </p:txBody>
      </p:sp>
      <p:sp>
        <p:nvSpPr>
          <p:cNvPr id="11" name="TextBox 10">
            <a:extLst>
              <a:ext uri="{FF2B5EF4-FFF2-40B4-BE49-F238E27FC236}">
                <a16:creationId xmlns:a16="http://schemas.microsoft.com/office/drawing/2014/main" id="{7BFF51B3-ABF7-750F-0048-703C1FD95E56}"/>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EQUIPMENT-LEVEL DATA</a:t>
            </a:r>
          </a:p>
        </p:txBody>
      </p:sp>
      <p:sp>
        <p:nvSpPr>
          <p:cNvPr id="12" name="TextBox 11">
            <a:extLst>
              <a:ext uri="{FF2B5EF4-FFF2-40B4-BE49-F238E27FC236}">
                <a16:creationId xmlns:a16="http://schemas.microsoft.com/office/drawing/2014/main" id="{5EC97077-5780-D90F-ED56-657A80F45A0F}"/>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Chi tiết thiết bị cũng được tính delta</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416C3FC1-4B74-EC4C-B21B-24216A9869D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2D4C35B-B605-18E5-FEE5-A3E750A69D6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4D0C17F-3587-92ED-31C6-6077745CABA9}"/>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09</a:t>
            </a:r>
          </a:p>
        </p:txBody>
      </p:sp>
      <p:sp>
        <p:nvSpPr>
          <p:cNvPr id="16" name="Rectangle: Rounded Corners 15">
            <a:extLst>
              <a:ext uri="{FF2B5EF4-FFF2-40B4-BE49-F238E27FC236}">
                <a16:creationId xmlns:a16="http://schemas.microsoft.com/office/drawing/2014/main" id="{D2D5A765-2AF8-823D-BD14-7CA656240321}"/>
              </a:ext>
            </a:extLst>
          </p:cNvPr>
          <p:cNvSpPr/>
          <p:nvPr/>
        </p:nvSpPr>
        <p:spPr>
          <a:xfrm>
            <a:off x="889000" y="3111500"/>
            <a:ext cx="7620000" cy="292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2DA0E2A-0EE1-247F-7479-A1D772EA621E}"/>
              </a:ext>
            </a:extLst>
          </p:cNvPr>
          <p:cNvSpPr/>
          <p:nvPr/>
        </p:nvSpPr>
        <p:spPr>
          <a:xfrm>
            <a:off x="889000" y="3111500"/>
            <a:ext cx="101600" cy="2921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0FD9735-7F17-1D96-7194-C6883BC293A4}"/>
              </a:ext>
            </a:extLst>
          </p:cNvPr>
          <p:cNvSpPr/>
          <p:nvPr/>
        </p:nvSpPr>
        <p:spPr>
          <a:xfrm>
            <a:off x="1193800" y="3340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271F86D-7E31-663A-F335-0E2ABCC67626}"/>
              </a:ext>
            </a:extLst>
          </p:cNvPr>
          <p:cNvSpPr txBox="1"/>
          <p:nvPr/>
        </p:nvSpPr>
        <p:spPr>
          <a:xfrm>
            <a:off x="1295400" y="3416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a:t>
            </a:r>
          </a:p>
        </p:txBody>
      </p:sp>
      <p:sp>
        <p:nvSpPr>
          <p:cNvPr id="20" name="TextBox 19">
            <a:extLst>
              <a:ext uri="{FF2B5EF4-FFF2-40B4-BE49-F238E27FC236}">
                <a16:creationId xmlns:a16="http://schemas.microsoft.com/office/drawing/2014/main" id="{E83D805F-0FD7-7C3D-FA36-0DB18413756A}"/>
              </a:ext>
            </a:extLst>
          </p:cNvPr>
          <p:cNvSpPr txBox="1"/>
          <p:nvPr/>
        </p:nvSpPr>
        <p:spPr>
          <a:xfrm>
            <a:off x="1193800" y="3949700"/>
            <a:ext cx="701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Feeder delta</a:t>
            </a:r>
          </a:p>
        </p:txBody>
      </p:sp>
      <p:sp>
        <p:nvSpPr>
          <p:cNvPr id="21" name="TextBox 20">
            <a:extLst>
              <a:ext uri="{FF2B5EF4-FFF2-40B4-BE49-F238E27FC236}">
                <a16:creationId xmlns:a16="http://schemas.microsoft.com/office/drawing/2014/main" id="{E0299647-20BB-4E5C-ABC9-22C367594254}"/>
              </a:ext>
            </a:extLst>
          </p:cNvPr>
          <p:cNvSpPr txBox="1"/>
          <p:nvPr/>
        </p:nvSpPr>
        <p:spPr>
          <a:xfrm>
            <a:off x="1193800" y="4559300"/>
            <a:ext cx="701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Pickup, mount và các nhóm miss theo từng feeder / slot / part.</a:t>
            </a:r>
          </a:p>
        </p:txBody>
      </p:sp>
      <p:sp>
        <p:nvSpPr>
          <p:cNvPr id="22" name="Rectangle: Rounded Corners 21">
            <a:extLst>
              <a:ext uri="{FF2B5EF4-FFF2-40B4-BE49-F238E27FC236}">
                <a16:creationId xmlns:a16="http://schemas.microsoft.com/office/drawing/2014/main" id="{447538B3-5783-1069-B026-65AD8B54A09D}"/>
              </a:ext>
            </a:extLst>
          </p:cNvPr>
          <p:cNvSpPr/>
          <p:nvPr/>
        </p:nvSpPr>
        <p:spPr>
          <a:xfrm>
            <a:off x="9779000" y="3111500"/>
            <a:ext cx="7620000" cy="292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DD0D1A2-565A-B9EE-AC31-E632CE18EE09}"/>
              </a:ext>
            </a:extLst>
          </p:cNvPr>
          <p:cNvSpPr/>
          <p:nvPr/>
        </p:nvSpPr>
        <p:spPr>
          <a:xfrm>
            <a:off x="9779000" y="3111500"/>
            <a:ext cx="101600" cy="2921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B7FF3B55-022E-3B53-5D25-C48670DCF305}"/>
              </a:ext>
            </a:extLst>
          </p:cNvPr>
          <p:cNvSpPr/>
          <p:nvPr/>
        </p:nvSpPr>
        <p:spPr>
          <a:xfrm>
            <a:off x="10083800" y="3340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09A334A-7DC1-4D05-3B61-AF28B1CD9AEB}"/>
              </a:ext>
            </a:extLst>
          </p:cNvPr>
          <p:cNvSpPr txBox="1"/>
          <p:nvPr/>
        </p:nvSpPr>
        <p:spPr>
          <a:xfrm>
            <a:off x="10185400" y="3416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N</a:t>
            </a:r>
          </a:p>
        </p:txBody>
      </p:sp>
      <p:sp>
        <p:nvSpPr>
          <p:cNvPr id="26" name="TextBox 25">
            <a:extLst>
              <a:ext uri="{FF2B5EF4-FFF2-40B4-BE49-F238E27FC236}">
                <a16:creationId xmlns:a16="http://schemas.microsoft.com/office/drawing/2014/main" id="{64FC95F1-9692-AFC7-26A2-1C5FD365D5AC}"/>
              </a:ext>
            </a:extLst>
          </p:cNvPr>
          <p:cNvSpPr txBox="1"/>
          <p:nvPr/>
        </p:nvSpPr>
        <p:spPr>
          <a:xfrm>
            <a:off x="10083800" y="3949700"/>
            <a:ext cx="701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Nozzle delta</a:t>
            </a:r>
          </a:p>
        </p:txBody>
      </p:sp>
      <p:sp>
        <p:nvSpPr>
          <p:cNvPr id="27" name="TextBox 26">
            <a:extLst>
              <a:ext uri="{FF2B5EF4-FFF2-40B4-BE49-F238E27FC236}">
                <a16:creationId xmlns:a16="http://schemas.microsoft.com/office/drawing/2014/main" id="{169BA051-4AD4-92BC-846A-96902B5BE2DE}"/>
              </a:ext>
            </a:extLst>
          </p:cNvPr>
          <p:cNvSpPr txBox="1"/>
          <p:nvPr/>
        </p:nvSpPr>
        <p:spPr>
          <a:xfrm>
            <a:off x="10083800" y="4559300"/>
            <a:ext cx="701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Pickup, mount và các nhóm miss theo từng nozzle / head.</a:t>
            </a:r>
          </a:p>
        </p:txBody>
      </p:sp>
      <p:cxnSp>
        <p:nvCxnSpPr>
          <p:cNvPr id="28" name="Straight Connector 27">
            <a:extLst>
              <a:ext uri="{FF2B5EF4-FFF2-40B4-BE49-F238E27FC236}">
                <a16:creationId xmlns:a16="http://schemas.microsoft.com/office/drawing/2014/main" id="{DBF4AFB4-E6E2-6797-8D32-B7274F0B2A78}"/>
              </a:ext>
            </a:extLst>
          </p:cNvPr>
          <p:cNvCxnSpPr/>
          <p:nvPr/>
        </p:nvCxnSpPr>
        <p:spPr>
          <a:xfrm>
            <a:off x="4572000" y="6477000"/>
            <a:ext cx="0" cy="101600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FE468CD-1B22-6501-433F-13094B3260A4}"/>
              </a:ext>
            </a:extLst>
          </p:cNvPr>
          <p:cNvCxnSpPr/>
          <p:nvPr/>
        </p:nvCxnSpPr>
        <p:spPr>
          <a:xfrm>
            <a:off x="13589000" y="6477000"/>
            <a:ext cx="0" cy="101600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F8AB0FDC-5A16-8517-E432-6A93420DB180}"/>
              </a:ext>
            </a:extLst>
          </p:cNvPr>
          <p:cNvSpPr/>
          <p:nvPr/>
        </p:nvSpPr>
        <p:spPr>
          <a:xfrm>
            <a:off x="3048000" y="7556500"/>
            <a:ext cx="11176000" cy="8890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5F125D3-2732-402D-E81E-D459D40649CF}"/>
              </a:ext>
            </a:extLst>
          </p:cNvPr>
          <p:cNvSpPr txBox="1"/>
          <p:nvPr/>
        </p:nvSpPr>
        <p:spPr>
          <a:xfrm>
            <a:off x="3492500" y="7823200"/>
            <a:ext cx="10287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JSON payload thống nhất → report_data + feeder_data + nozzle_data + raw_state</a:t>
            </a:r>
          </a:p>
        </p:txBody>
      </p:sp>
      <p:sp>
        <p:nvSpPr>
          <p:cNvPr id="32" name="Rectangle 31">
            <a:extLst>
              <a:ext uri="{FF2B5EF4-FFF2-40B4-BE49-F238E27FC236}">
                <a16:creationId xmlns:a16="http://schemas.microsoft.com/office/drawing/2014/main" id="{01B49D48-C323-3BC6-ED03-176E177C6075}"/>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ACC6C9C-9E6C-1818-115A-630BAD4A3DA2}"/>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1128248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965AFB7F-3E39-ECB7-1A8C-6D37ECBCEE51}"/>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3" name="TextBox 2">
            <a:extLst>
              <a:ext uri="{FF2B5EF4-FFF2-40B4-BE49-F238E27FC236}">
                <a16:creationId xmlns:a16="http://schemas.microsoft.com/office/drawing/2014/main" id="{0E36F61C-1FD2-66A6-EAA9-FF6B400180A8}"/>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E9F3B30C-45DA-A1C8-065E-97E270F7BCA3}"/>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BB6C2BEA-BE3E-4083-F942-F72D9B114C43}"/>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PIPELINE</a:t>
            </a:r>
          </a:p>
        </p:txBody>
      </p:sp>
      <p:cxnSp>
        <p:nvCxnSpPr>
          <p:cNvPr id="6" name="Straight Connector 5">
            <a:extLst>
              <a:ext uri="{FF2B5EF4-FFF2-40B4-BE49-F238E27FC236}">
                <a16:creationId xmlns:a16="http://schemas.microsoft.com/office/drawing/2014/main" id="{8524B40C-1027-F67D-7843-68D96B12F66E}"/>
              </a:ext>
            </a:extLst>
          </p:cNvPr>
          <p:cNvCxnSpPr/>
          <p:nvPr/>
        </p:nvCxnSpPr>
        <p:spPr>
          <a:xfrm>
            <a:off x="6057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045A84A-68B3-FA20-4775-EA01B183F106}"/>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8" name="TextBox 7">
            <a:extLst>
              <a:ext uri="{FF2B5EF4-FFF2-40B4-BE49-F238E27FC236}">
                <a16:creationId xmlns:a16="http://schemas.microsoft.com/office/drawing/2014/main" id="{B8746EF8-4A4B-DA1C-12BF-8EB73013D083}"/>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F86258AC-EBA3-BACA-8D92-28F986B7EA9E}"/>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C5614646-D5C6-4D48-F454-A05B1E303CB9}"/>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10</a:t>
            </a:r>
          </a:p>
        </p:txBody>
      </p:sp>
      <p:sp>
        <p:nvSpPr>
          <p:cNvPr id="11" name="TextBox 10">
            <a:extLst>
              <a:ext uri="{FF2B5EF4-FFF2-40B4-BE49-F238E27FC236}">
                <a16:creationId xmlns:a16="http://schemas.microsoft.com/office/drawing/2014/main" id="{5DD352C6-1DB4-302F-D45B-9EBB35001C7C}"/>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STATE RECOVERY</a:t>
            </a:r>
          </a:p>
        </p:txBody>
      </p:sp>
      <p:sp>
        <p:nvSpPr>
          <p:cNvPr id="12" name="TextBox 11">
            <a:extLst>
              <a:ext uri="{FF2B5EF4-FFF2-40B4-BE49-F238E27FC236}">
                <a16:creationId xmlns:a16="http://schemas.microsoft.com/office/drawing/2014/main" id="{51756377-0404-52F5-A3C1-6DA0AA41B558}"/>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Restart không làm mất ngữ cảnh delta</a:t>
            </a:r>
          </a:p>
        </p:txBody>
      </p:sp>
      <p:cxnSp>
        <p:nvCxnSpPr>
          <p:cNvPr id="13" name="Straight Connector 12">
            <a:extLst>
              <a:ext uri="{FF2B5EF4-FFF2-40B4-BE49-F238E27FC236}">
                <a16:creationId xmlns:a16="http://schemas.microsoft.com/office/drawing/2014/main" id="{2DC40E20-132A-535D-A6AD-A70379B79DD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1250648-0A96-1E20-8567-87CC9A30305C}"/>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25D2634D-748A-F145-E522-CA0679E2C5F4}"/>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10</a:t>
            </a:r>
          </a:p>
        </p:txBody>
      </p:sp>
      <p:sp>
        <p:nvSpPr>
          <p:cNvPr id="16" name="Oval 15">
            <a:extLst>
              <a:ext uri="{FF2B5EF4-FFF2-40B4-BE49-F238E27FC236}">
                <a16:creationId xmlns:a16="http://schemas.microsoft.com/office/drawing/2014/main" id="{6FED4F1F-E516-6D47-035C-134F5AE46CE4}"/>
              </a:ext>
            </a:extLst>
          </p:cNvPr>
          <p:cNvSpPr/>
          <p:nvPr/>
        </p:nvSpPr>
        <p:spPr>
          <a:xfrm>
            <a:off x="2476500" y="3683000"/>
            <a:ext cx="1841500" cy="18415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E5D47BA-2008-D458-1EF3-78F512C804FC}"/>
              </a:ext>
            </a:extLst>
          </p:cNvPr>
          <p:cNvSpPr txBox="1"/>
          <p:nvPr/>
        </p:nvSpPr>
        <p:spPr>
          <a:xfrm>
            <a:off x="2921000" y="4318000"/>
            <a:ext cx="952500" cy="369332"/>
          </a:xfrm>
          <a:prstGeom prst="rect">
            <a:avLst/>
          </a:prstGeom>
          <a:noFill/>
        </p:spPr>
        <p:txBody>
          <a:bodyPr vert="horz" wrap="square" lIns="0" tIns="0" rIns="0" bIns="0" rtlCol="0">
            <a:spAutoFit/>
          </a:bodyPr>
          <a:lstStyle/>
          <a:p>
            <a:pPr algn="ctr"/>
            <a:r>
              <a:rPr lang="en-US" sz="2400" b="1">
                <a:solidFill>
                  <a:srgbClr val="FFFFFF"/>
                </a:solidFill>
                <a:latin typeface="Arial" panose="020B0604020202020204" pitchFamily="34" charset="0"/>
              </a:rPr>
              <a:t>RUN</a:t>
            </a:r>
          </a:p>
        </p:txBody>
      </p:sp>
      <p:sp>
        <p:nvSpPr>
          <p:cNvPr id="18" name="Oval 17">
            <a:extLst>
              <a:ext uri="{FF2B5EF4-FFF2-40B4-BE49-F238E27FC236}">
                <a16:creationId xmlns:a16="http://schemas.microsoft.com/office/drawing/2014/main" id="{F3ECF498-5246-0C9D-E105-65B7F3DEDB53}"/>
              </a:ext>
            </a:extLst>
          </p:cNvPr>
          <p:cNvSpPr/>
          <p:nvPr/>
        </p:nvSpPr>
        <p:spPr>
          <a:xfrm>
            <a:off x="8229600" y="3683000"/>
            <a:ext cx="1841500" cy="18415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033DFB4-BA64-711C-BDCE-A64750EA0060}"/>
              </a:ext>
            </a:extLst>
          </p:cNvPr>
          <p:cNvSpPr txBox="1"/>
          <p:nvPr/>
        </p:nvSpPr>
        <p:spPr>
          <a:xfrm>
            <a:off x="8509000" y="4318000"/>
            <a:ext cx="1270000" cy="338554"/>
          </a:xfrm>
          <a:prstGeom prst="rect">
            <a:avLst/>
          </a:prstGeom>
          <a:noFill/>
        </p:spPr>
        <p:txBody>
          <a:bodyPr vert="horz" wrap="square" lIns="0" tIns="0" rIns="0" bIns="0" rtlCol="0">
            <a:spAutoFit/>
          </a:bodyPr>
          <a:lstStyle/>
          <a:p>
            <a:pPr algn="ctr"/>
            <a:r>
              <a:rPr lang="en-US" sz="2200" b="1">
                <a:solidFill>
                  <a:srgbClr val="00E6F0"/>
                </a:solidFill>
                <a:latin typeface="Arial" panose="020B0604020202020204" pitchFamily="34" charset="0"/>
              </a:rPr>
              <a:t>STATE</a:t>
            </a:r>
          </a:p>
        </p:txBody>
      </p:sp>
      <p:sp>
        <p:nvSpPr>
          <p:cNvPr id="20" name="Oval 19">
            <a:extLst>
              <a:ext uri="{FF2B5EF4-FFF2-40B4-BE49-F238E27FC236}">
                <a16:creationId xmlns:a16="http://schemas.microsoft.com/office/drawing/2014/main" id="{C8350613-EF33-5634-D50C-8CB8688D541A}"/>
              </a:ext>
            </a:extLst>
          </p:cNvPr>
          <p:cNvSpPr/>
          <p:nvPr/>
        </p:nvSpPr>
        <p:spPr>
          <a:xfrm>
            <a:off x="13970000" y="3683000"/>
            <a:ext cx="1841500" cy="18415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AD17165-FAE5-C6EC-B703-94F2B5CEB739}"/>
              </a:ext>
            </a:extLst>
          </p:cNvPr>
          <p:cNvSpPr txBox="1"/>
          <p:nvPr/>
        </p:nvSpPr>
        <p:spPr>
          <a:xfrm>
            <a:off x="14173200" y="4318000"/>
            <a:ext cx="14224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RESTORE</a:t>
            </a:r>
          </a:p>
        </p:txBody>
      </p:sp>
      <p:cxnSp>
        <p:nvCxnSpPr>
          <p:cNvPr id="22" name="Straight Connector 21">
            <a:extLst>
              <a:ext uri="{FF2B5EF4-FFF2-40B4-BE49-F238E27FC236}">
                <a16:creationId xmlns:a16="http://schemas.microsoft.com/office/drawing/2014/main" id="{14CEE4CC-0F9D-1E48-0687-E8A04FEF0D4A}"/>
              </a:ext>
            </a:extLst>
          </p:cNvPr>
          <p:cNvCxnSpPr/>
          <p:nvPr/>
        </p:nvCxnSpPr>
        <p:spPr>
          <a:xfrm>
            <a:off x="4318000" y="4597400"/>
            <a:ext cx="3810000" cy="0"/>
          </a:xfrm>
          <a:prstGeom prst="line">
            <a:avLst/>
          </a:prstGeom>
          <a:ln w="508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905E190-9431-7D9C-075E-4A8576F480E7}"/>
              </a:ext>
            </a:extLst>
          </p:cNvPr>
          <p:cNvCxnSpPr/>
          <p:nvPr/>
        </p:nvCxnSpPr>
        <p:spPr>
          <a:xfrm>
            <a:off x="10071100" y="4597400"/>
            <a:ext cx="3797300" cy="0"/>
          </a:xfrm>
          <a:prstGeom prst="line">
            <a:avLst/>
          </a:prstGeom>
          <a:ln w="508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67AAEB7-7FA6-2CA9-EA64-4D142A06BF94}"/>
              </a:ext>
            </a:extLst>
          </p:cNvPr>
          <p:cNvCxnSpPr/>
          <p:nvPr/>
        </p:nvCxnSpPr>
        <p:spPr>
          <a:xfrm>
            <a:off x="14884400" y="5588000"/>
            <a:ext cx="0" cy="1270000"/>
          </a:xfrm>
          <a:prstGeom prst="line">
            <a:avLst/>
          </a:prstGeom>
          <a:ln w="254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400F8B7-BF89-1D3D-C8F3-F52B8F3FF8F3}"/>
              </a:ext>
            </a:extLst>
          </p:cNvPr>
          <p:cNvCxnSpPr/>
          <p:nvPr/>
        </p:nvCxnSpPr>
        <p:spPr>
          <a:xfrm flipH="1">
            <a:off x="3403600" y="6858000"/>
            <a:ext cx="114808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BB9E58B7-7D4F-FC77-EE64-293251A4F5B8}"/>
              </a:ext>
            </a:extLst>
          </p:cNvPr>
          <p:cNvSpPr txBox="1"/>
          <p:nvPr/>
        </p:nvSpPr>
        <p:spPr>
          <a:xfrm>
            <a:off x="2032000" y="7429500"/>
            <a:ext cx="14224000" cy="307777"/>
          </a:xfrm>
          <a:prstGeom prst="rect">
            <a:avLst/>
          </a:prstGeom>
          <a:noFill/>
        </p:spPr>
        <p:txBody>
          <a:bodyPr vert="horz" wrap="square" lIns="0" tIns="0" rIns="0" bIns="0" rtlCol="0">
            <a:spAutoFit/>
          </a:bodyPr>
          <a:lstStyle/>
          <a:p>
            <a:pPr algn="ctr"/>
            <a:r>
              <a:rPr lang="vi-VN" sz="2000">
                <a:solidFill>
                  <a:srgbClr val="E6F0FA"/>
                </a:solidFill>
                <a:latin typeface="Arial" panose="020B0604020202020204" pitchFamily="34" charset="0"/>
              </a:rPr>
              <a:t>machine_counter_state lưu raw counter gần nhất, feeder_state và nozzle_state JSONB.</a:t>
            </a:r>
            <a:endParaRPr lang="en-US" sz="2000">
              <a:solidFill>
                <a:srgbClr val="E6F0FA"/>
              </a:solidFill>
              <a:latin typeface="Arial" panose="020B0604020202020204" pitchFamily="34" charset="0"/>
            </a:endParaRPr>
          </a:p>
        </p:txBody>
      </p:sp>
      <p:sp>
        <p:nvSpPr>
          <p:cNvPr id="27" name="TextBox 26">
            <a:extLst>
              <a:ext uri="{FF2B5EF4-FFF2-40B4-BE49-F238E27FC236}">
                <a16:creationId xmlns:a16="http://schemas.microsoft.com/office/drawing/2014/main" id="{024D5E3C-7B30-D0CF-3A7A-F7BCB7D63E4A}"/>
              </a:ext>
            </a:extLst>
          </p:cNvPr>
          <p:cNvSpPr txBox="1"/>
          <p:nvPr/>
        </p:nvSpPr>
        <p:spPr>
          <a:xfrm>
            <a:off x="2032000" y="8064500"/>
            <a:ext cx="14224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Node-RED khởi động → nạp state vào flow context → tiếp tục tính delta chính xác.</a:t>
            </a:r>
          </a:p>
        </p:txBody>
      </p:sp>
      <p:sp>
        <p:nvSpPr>
          <p:cNvPr id="28" name="Rectangle 27">
            <a:extLst>
              <a:ext uri="{FF2B5EF4-FFF2-40B4-BE49-F238E27FC236}">
                <a16:creationId xmlns:a16="http://schemas.microsoft.com/office/drawing/2014/main" id="{EBABF7F2-79BA-3D8C-8B33-B5DC78A6837D}"/>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A27EAD5-1493-06CA-65E3-D22FE0F2D008}"/>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3193528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1AF383B2-4983-DB43-C94F-00A7FD0C1D4D}"/>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A3A08D18-9991-79FE-7C27-D032F2EF40A4}"/>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36082334-58EF-78D7-809D-255A49A705E1}"/>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D6476B0A-9236-BD53-BF15-FB234359A9F9}"/>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89867EF9-17E1-CAD9-798E-902D16B32131}"/>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DATABASE</a:t>
            </a:r>
          </a:p>
        </p:txBody>
      </p:sp>
      <p:cxnSp>
        <p:nvCxnSpPr>
          <p:cNvPr id="7" name="Straight Connector 6">
            <a:extLst>
              <a:ext uri="{FF2B5EF4-FFF2-40B4-BE49-F238E27FC236}">
                <a16:creationId xmlns:a16="http://schemas.microsoft.com/office/drawing/2014/main" id="{954F5392-0DB0-AF30-E264-17F12CE30DE3}"/>
              </a:ext>
            </a:extLst>
          </p:cNvPr>
          <p:cNvCxnSpPr/>
          <p:nvPr/>
        </p:nvCxnSpPr>
        <p:spPr>
          <a:xfrm>
            <a:off x="8026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B4752174-09B3-DCAF-F4CF-ACD8AE607CF2}"/>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AB7F5CE7-8102-8A26-709D-0B1355E14E89}"/>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7B162394-5643-B2DA-13D7-349435FC58DA}"/>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11</a:t>
            </a:r>
          </a:p>
        </p:txBody>
      </p:sp>
      <p:sp>
        <p:nvSpPr>
          <p:cNvPr id="11" name="TextBox 10">
            <a:extLst>
              <a:ext uri="{FF2B5EF4-FFF2-40B4-BE49-F238E27FC236}">
                <a16:creationId xmlns:a16="http://schemas.microsoft.com/office/drawing/2014/main" id="{F3B73427-421B-C819-811A-4FE7299DDE77}"/>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EDB40E21-C736-7B36-8A5C-DA60139B9A1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3D40A32-5454-7A72-E302-541A56DC198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F527AB10-ED91-26FE-F039-BC4529A206CE}"/>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11</a:t>
            </a:r>
          </a:p>
        </p:txBody>
      </p:sp>
      <p:sp>
        <p:nvSpPr>
          <p:cNvPr id="15" name="TextBox 14">
            <a:extLst>
              <a:ext uri="{FF2B5EF4-FFF2-40B4-BE49-F238E27FC236}">
                <a16:creationId xmlns:a16="http://schemas.microsoft.com/office/drawing/2014/main" id="{4CE8ED7E-55F0-C4E9-8ED0-8E2012F3D783}"/>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02</a:t>
            </a:r>
          </a:p>
        </p:txBody>
      </p:sp>
      <p:cxnSp>
        <p:nvCxnSpPr>
          <p:cNvPr id="16" name="Straight Connector 15">
            <a:extLst>
              <a:ext uri="{FF2B5EF4-FFF2-40B4-BE49-F238E27FC236}">
                <a16:creationId xmlns:a16="http://schemas.microsoft.com/office/drawing/2014/main" id="{95525029-12EC-706E-3CF8-23173C831473}"/>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F7C000C-10B0-F23B-DC73-907678ACA0A5}"/>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DATA FOUNDATION</a:t>
            </a:r>
          </a:p>
        </p:txBody>
      </p:sp>
      <p:sp>
        <p:nvSpPr>
          <p:cNvPr id="18" name="TextBox 17">
            <a:extLst>
              <a:ext uri="{FF2B5EF4-FFF2-40B4-BE49-F238E27FC236}">
                <a16:creationId xmlns:a16="http://schemas.microsoft.com/office/drawing/2014/main" id="{A6182577-41A4-12D9-53C3-61356E2EBD99}"/>
              </a:ext>
            </a:extLst>
          </p:cNvPr>
          <p:cNvSpPr txBox="1"/>
          <p:nvPr/>
        </p:nvSpPr>
        <p:spPr>
          <a:xfrm>
            <a:off x="5257800" y="4673600"/>
            <a:ext cx="9906000" cy="707886"/>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PostgreSQL kết hợp relational schema và JSONB để vừa nhanh vừa linh hoạt.</a:t>
            </a:r>
          </a:p>
        </p:txBody>
      </p:sp>
      <p:sp>
        <p:nvSpPr>
          <p:cNvPr id="19" name="TextBox 18">
            <a:extLst>
              <a:ext uri="{FF2B5EF4-FFF2-40B4-BE49-F238E27FC236}">
                <a16:creationId xmlns:a16="http://schemas.microsoft.com/office/drawing/2014/main" id="{52D56AB9-1175-C048-8F23-50E255D8C17C}"/>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07EE65DA-2A53-706F-455D-71FC719989EF}"/>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0D93598-F515-7D23-7FF4-4B4331119629}"/>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3BDBF78-D735-C311-AFCA-261595B9D5DB}"/>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9779F39-D5DD-8E94-101E-0ADA0E35ACE5}"/>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D8FED65-D840-8961-53B0-CA10095B7207}"/>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4D4279A-FCAF-B7CE-0F05-897921651B3F}"/>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D8D3B4D-E8E9-86FB-8454-33059CD5D37C}"/>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4210966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1FC43651-BD83-2921-DF14-5539FFFB7F41}"/>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3" name="TextBox 2">
            <a:extLst>
              <a:ext uri="{FF2B5EF4-FFF2-40B4-BE49-F238E27FC236}">
                <a16:creationId xmlns:a16="http://schemas.microsoft.com/office/drawing/2014/main" id="{2CEFB633-2851-822E-946E-3EB73CC73A36}"/>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4C653529-C30B-5466-580A-34C713709C36}"/>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4EC71BD2-CD52-6E76-DE5E-13EC1E2D3DE9}"/>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3C282D3C-88EC-DB69-FDDB-A3849D411C34}"/>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DATABASE</a:t>
            </a:r>
          </a:p>
        </p:txBody>
      </p:sp>
      <p:cxnSp>
        <p:nvCxnSpPr>
          <p:cNvPr id="7" name="Straight Connector 6">
            <a:extLst>
              <a:ext uri="{FF2B5EF4-FFF2-40B4-BE49-F238E27FC236}">
                <a16:creationId xmlns:a16="http://schemas.microsoft.com/office/drawing/2014/main" id="{A432989E-2450-F6B3-321E-BF233C237BC7}"/>
              </a:ext>
            </a:extLst>
          </p:cNvPr>
          <p:cNvCxnSpPr/>
          <p:nvPr/>
        </p:nvCxnSpPr>
        <p:spPr>
          <a:xfrm>
            <a:off x="8026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842EBEBF-967C-4FD8-3F3A-9833BC0C9D46}"/>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4C59193A-48CA-93A3-9B82-00C3A8947976}"/>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7FB7F7CE-8034-6667-AAEE-1FF5A86F2050}"/>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12</a:t>
            </a:r>
          </a:p>
        </p:txBody>
      </p:sp>
      <p:sp>
        <p:nvSpPr>
          <p:cNvPr id="11" name="TextBox 10">
            <a:extLst>
              <a:ext uri="{FF2B5EF4-FFF2-40B4-BE49-F238E27FC236}">
                <a16:creationId xmlns:a16="http://schemas.microsoft.com/office/drawing/2014/main" id="{0042A110-6FC3-CFD2-2EFF-0AB9AB133C0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POSTGRESQL DATA MODEL</a:t>
            </a:r>
          </a:p>
        </p:txBody>
      </p:sp>
      <p:sp>
        <p:nvSpPr>
          <p:cNvPr id="12" name="TextBox 11">
            <a:extLst>
              <a:ext uri="{FF2B5EF4-FFF2-40B4-BE49-F238E27FC236}">
                <a16:creationId xmlns:a16="http://schemas.microsoft.com/office/drawing/2014/main" id="{C84C8274-C9FD-2E7B-2CA3-057ADA83C856}"/>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Bốn bảng tạo xương sống dữ liệu</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FF859A35-D7BB-584D-08FD-B805FDDDFBF1}"/>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00862C3-214D-6963-E86C-32101533CD2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9BCFF275-F396-F471-DF93-EF9B444CDCA5}"/>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12</a:t>
            </a:r>
          </a:p>
        </p:txBody>
      </p:sp>
      <p:sp>
        <p:nvSpPr>
          <p:cNvPr id="16" name="Rectangle: Rounded Corners 15">
            <a:extLst>
              <a:ext uri="{FF2B5EF4-FFF2-40B4-BE49-F238E27FC236}">
                <a16:creationId xmlns:a16="http://schemas.microsoft.com/office/drawing/2014/main" id="{15BB5176-1D84-0741-00C8-0B85E2A055CF}"/>
              </a:ext>
            </a:extLst>
          </p:cNvPr>
          <p:cNvSpPr/>
          <p:nvPr/>
        </p:nvSpPr>
        <p:spPr>
          <a:xfrm>
            <a:off x="889000" y="3937000"/>
            <a:ext cx="3810000" cy="1968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C9265F-5A3E-0BCF-984E-8BE308F2BB5D}"/>
              </a:ext>
            </a:extLst>
          </p:cNvPr>
          <p:cNvSpPr/>
          <p:nvPr/>
        </p:nvSpPr>
        <p:spPr>
          <a:xfrm>
            <a:off x="889000" y="3937000"/>
            <a:ext cx="101600" cy="1968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D87CADF-474A-BD7E-6B14-416DC084D025}"/>
              </a:ext>
            </a:extLst>
          </p:cNvPr>
          <p:cNvSpPr/>
          <p:nvPr/>
        </p:nvSpPr>
        <p:spPr>
          <a:xfrm>
            <a:off x="1193800" y="41656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FF50203-5305-8639-0767-BBF907A50113}"/>
              </a:ext>
            </a:extLst>
          </p:cNvPr>
          <p:cNvSpPr txBox="1"/>
          <p:nvPr/>
        </p:nvSpPr>
        <p:spPr>
          <a:xfrm>
            <a:off x="1295400" y="42418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MASTER</a:t>
            </a:r>
          </a:p>
        </p:txBody>
      </p:sp>
      <p:sp>
        <p:nvSpPr>
          <p:cNvPr id="20" name="TextBox 19">
            <a:extLst>
              <a:ext uri="{FF2B5EF4-FFF2-40B4-BE49-F238E27FC236}">
                <a16:creationId xmlns:a16="http://schemas.microsoft.com/office/drawing/2014/main" id="{3B48AD29-A241-A81F-F314-12E9D8181EC0}"/>
              </a:ext>
            </a:extLst>
          </p:cNvPr>
          <p:cNvSpPr txBox="1"/>
          <p:nvPr/>
        </p:nvSpPr>
        <p:spPr>
          <a:xfrm>
            <a:off x="1193800" y="47752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master_machines</a:t>
            </a:r>
          </a:p>
        </p:txBody>
      </p:sp>
      <p:sp>
        <p:nvSpPr>
          <p:cNvPr id="21" name="TextBox 20">
            <a:extLst>
              <a:ext uri="{FF2B5EF4-FFF2-40B4-BE49-F238E27FC236}">
                <a16:creationId xmlns:a16="http://schemas.microsoft.com/office/drawing/2014/main" id="{8EA050EF-BED2-A5AF-D6A4-A13ED8138314}"/>
              </a:ext>
            </a:extLst>
          </p:cNvPr>
          <p:cNvSpPr txBox="1"/>
          <p:nvPr/>
        </p:nvSpPr>
        <p:spPr>
          <a:xfrm>
            <a:off x="1193800" y="5384800"/>
            <a:ext cx="320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Danh mục máy chuẩn hóa</a:t>
            </a:r>
          </a:p>
        </p:txBody>
      </p:sp>
      <p:sp>
        <p:nvSpPr>
          <p:cNvPr id="22" name="Rectangle: Rounded Corners 21">
            <a:extLst>
              <a:ext uri="{FF2B5EF4-FFF2-40B4-BE49-F238E27FC236}">
                <a16:creationId xmlns:a16="http://schemas.microsoft.com/office/drawing/2014/main" id="{92D605A8-FE99-42B4-B006-AFBAD4BDCA23}"/>
              </a:ext>
            </a:extLst>
          </p:cNvPr>
          <p:cNvSpPr/>
          <p:nvPr/>
        </p:nvSpPr>
        <p:spPr>
          <a:xfrm>
            <a:off x="6921500" y="3175000"/>
            <a:ext cx="4445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09FB976-5DB4-75E2-51CF-EF42B68A59E6}"/>
              </a:ext>
            </a:extLst>
          </p:cNvPr>
          <p:cNvSpPr/>
          <p:nvPr/>
        </p:nvSpPr>
        <p:spPr>
          <a:xfrm>
            <a:off x="6921500" y="31750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CED61FC-D597-47D6-5B9D-214503542BDE}"/>
              </a:ext>
            </a:extLst>
          </p:cNvPr>
          <p:cNvSpPr/>
          <p:nvPr/>
        </p:nvSpPr>
        <p:spPr>
          <a:xfrm>
            <a:off x="7226300" y="3403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F83A2DC-30AE-D3CB-9DED-7A3EE106D792}"/>
              </a:ext>
            </a:extLst>
          </p:cNvPr>
          <p:cNvSpPr txBox="1"/>
          <p:nvPr/>
        </p:nvSpPr>
        <p:spPr>
          <a:xfrm>
            <a:off x="73279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FACT</a:t>
            </a:r>
          </a:p>
        </p:txBody>
      </p:sp>
      <p:sp>
        <p:nvSpPr>
          <p:cNvPr id="26" name="TextBox 25">
            <a:extLst>
              <a:ext uri="{FF2B5EF4-FFF2-40B4-BE49-F238E27FC236}">
                <a16:creationId xmlns:a16="http://schemas.microsoft.com/office/drawing/2014/main" id="{2CD112A2-5786-FB2B-D256-2C2D1FD7D43E}"/>
              </a:ext>
            </a:extLst>
          </p:cNvPr>
          <p:cNvSpPr txBox="1"/>
          <p:nvPr/>
        </p:nvSpPr>
        <p:spPr>
          <a:xfrm>
            <a:off x="7226300" y="4013200"/>
            <a:ext cx="3835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production_reports</a:t>
            </a:r>
          </a:p>
        </p:txBody>
      </p:sp>
      <p:sp>
        <p:nvSpPr>
          <p:cNvPr id="27" name="TextBox 26">
            <a:extLst>
              <a:ext uri="{FF2B5EF4-FFF2-40B4-BE49-F238E27FC236}">
                <a16:creationId xmlns:a16="http://schemas.microsoft.com/office/drawing/2014/main" id="{F6C01B76-3386-D1D1-0C72-5BEBFD45E73D}"/>
              </a:ext>
            </a:extLst>
          </p:cNvPr>
          <p:cNvSpPr txBox="1"/>
          <p:nvPr/>
        </p:nvSpPr>
        <p:spPr>
          <a:xfrm>
            <a:off x="7226300" y="4622800"/>
            <a:ext cx="3835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Lịch sử báo cáo trung tâm</a:t>
            </a:r>
          </a:p>
        </p:txBody>
      </p:sp>
      <p:sp>
        <p:nvSpPr>
          <p:cNvPr id="28" name="Rectangle: Rounded Corners 27">
            <a:extLst>
              <a:ext uri="{FF2B5EF4-FFF2-40B4-BE49-F238E27FC236}">
                <a16:creationId xmlns:a16="http://schemas.microsoft.com/office/drawing/2014/main" id="{93650E36-9478-5597-D6DD-DA1FACE6052E}"/>
              </a:ext>
            </a:extLst>
          </p:cNvPr>
          <p:cNvSpPr/>
          <p:nvPr/>
        </p:nvSpPr>
        <p:spPr>
          <a:xfrm>
            <a:off x="13589000" y="2667000"/>
            <a:ext cx="3810000" cy="1778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E1A3AF8-F8C7-D9AA-2D2B-E0445569595F}"/>
              </a:ext>
            </a:extLst>
          </p:cNvPr>
          <p:cNvSpPr/>
          <p:nvPr/>
        </p:nvSpPr>
        <p:spPr>
          <a:xfrm>
            <a:off x="13589000" y="2667000"/>
            <a:ext cx="101600" cy="1778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D95B4DEF-1481-AD00-DDB5-B629787DB806}"/>
              </a:ext>
            </a:extLst>
          </p:cNvPr>
          <p:cNvSpPr/>
          <p:nvPr/>
        </p:nvSpPr>
        <p:spPr>
          <a:xfrm>
            <a:off x="13893800" y="28956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7A19D31-B75D-D933-B776-76F123D9E1FA}"/>
              </a:ext>
            </a:extLst>
          </p:cNvPr>
          <p:cNvSpPr txBox="1"/>
          <p:nvPr/>
        </p:nvSpPr>
        <p:spPr>
          <a:xfrm>
            <a:off x="13995400" y="29718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DETAIL</a:t>
            </a:r>
          </a:p>
        </p:txBody>
      </p:sp>
      <p:sp>
        <p:nvSpPr>
          <p:cNvPr id="32" name="TextBox 31">
            <a:extLst>
              <a:ext uri="{FF2B5EF4-FFF2-40B4-BE49-F238E27FC236}">
                <a16:creationId xmlns:a16="http://schemas.microsoft.com/office/drawing/2014/main" id="{09C65F83-AAD5-38D1-E3B8-2E23E7ED1270}"/>
              </a:ext>
            </a:extLst>
          </p:cNvPr>
          <p:cNvSpPr txBox="1"/>
          <p:nvPr/>
        </p:nvSpPr>
        <p:spPr>
          <a:xfrm>
            <a:off x="13893800" y="35052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feeder_logs</a:t>
            </a:r>
          </a:p>
        </p:txBody>
      </p:sp>
      <p:sp>
        <p:nvSpPr>
          <p:cNvPr id="33" name="TextBox 32">
            <a:extLst>
              <a:ext uri="{FF2B5EF4-FFF2-40B4-BE49-F238E27FC236}">
                <a16:creationId xmlns:a16="http://schemas.microsoft.com/office/drawing/2014/main" id="{AD7553FD-FBFE-1522-199B-79A50841C91A}"/>
              </a:ext>
            </a:extLst>
          </p:cNvPr>
          <p:cNvSpPr txBox="1"/>
          <p:nvPr/>
        </p:nvSpPr>
        <p:spPr>
          <a:xfrm>
            <a:off x="13893800" y="4114800"/>
            <a:ext cx="320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Chi tiết feeder theo report</a:t>
            </a:r>
          </a:p>
        </p:txBody>
      </p:sp>
      <p:sp>
        <p:nvSpPr>
          <p:cNvPr id="34" name="Rectangle: Rounded Corners 33">
            <a:extLst>
              <a:ext uri="{FF2B5EF4-FFF2-40B4-BE49-F238E27FC236}">
                <a16:creationId xmlns:a16="http://schemas.microsoft.com/office/drawing/2014/main" id="{4C004D22-E1AA-2C9C-8856-8D4C0BF96467}"/>
              </a:ext>
            </a:extLst>
          </p:cNvPr>
          <p:cNvSpPr/>
          <p:nvPr/>
        </p:nvSpPr>
        <p:spPr>
          <a:xfrm>
            <a:off x="13589000" y="5143500"/>
            <a:ext cx="3810000" cy="1778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B31E285-1D6E-D2C9-2886-DF066A468F27}"/>
              </a:ext>
            </a:extLst>
          </p:cNvPr>
          <p:cNvSpPr/>
          <p:nvPr/>
        </p:nvSpPr>
        <p:spPr>
          <a:xfrm>
            <a:off x="13589000" y="5143500"/>
            <a:ext cx="101600" cy="1778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164B5598-D2B9-5A05-915A-00F4250BC594}"/>
              </a:ext>
            </a:extLst>
          </p:cNvPr>
          <p:cNvSpPr/>
          <p:nvPr/>
        </p:nvSpPr>
        <p:spPr>
          <a:xfrm>
            <a:off x="13893800" y="53721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69142E9-71A4-79F2-BCA9-4D01480A8DCC}"/>
              </a:ext>
            </a:extLst>
          </p:cNvPr>
          <p:cNvSpPr txBox="1"/>
          <p:nvPr/>
        </p:nvSpPr>
        <p:spPr>
          <a:xfrm>
            <a:off x="13995400" y="54483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DETAIL</a:t>
            </a:r>
          </a:p>
        </p:txBody>
      </p:sp>
      <p:sp>
        <p:nvSpPr>
          <p:cNvPr id="38" name="TextBox 37">
            <a:extLst>
              <a:ext uri="{FF2B5EF4-FFF2-40B4-BE49-F238E27FC236}">
                <a16:creationId xmlns:a16="http://schemas.microsoft.com/office/drawing/2014/main" id="{5FE4FC4A-E961-CC82-B405-1893E017DFAF}"/>
              </a:ext>
            </a:extLst>
          </p:cNvPr>
          <p:cNvSpPr txBox="1"/>
          <p:nvPr/>
        </p:nvSpPr>
        <p:spPr>
          <a:xfrm>
            <a:off x="13893800" y="59817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nozzle_logs</a:t>
            </a:r>
          </a:p>
        </p:txBody>
      </p:sp>
      <p:sp>
        <p:nvSpPr>
          <p:cNvPr id="39" name="TextBox 38">
            <a:extLst>
              <a:ext uri="{FF2B5EF4-FFF2-40B4-BE49-F238E27FC236}">
                <a16:creationId xmlns:a16="http://schemas.microsoft.com/office/drawing/2014/main" id="{AC1E7591-E1AC-1AFF-7E5C-95FADFD8501D}"/>
              </a:ext>
            </a:extLst>
          </p:cNvPr>
          <p:cNvSpPr txBox="1"/>
          <p:nvPr/>
        </p:nvSpPr>
        <p:spPr>
          <a:xfrm>
            <a:off x="13893800" y="6591300"/>
            <a:ext cx="3200400" cy="246221"/>
          </a:xfrm>
          <a:prstGeom prst="rect">
            <a:avLst/>
          </a:prstGeom>
          <a:noFill/>
        </p:spPr>
        <p:txBody>
          <a:bodyPr vert="horz" wrap="square" lIns="0" tIns="0" rIns="0" bIns="0" rtlCol="0">
            <a:spAutoFit/>
          </a:bodyPr>
          <a:lstStyle/>
          <a:p>
            <a:r>
              <a:rPr lang="it-IT" sz="1600">
                <a:solidFill>
                  <a:srgbClr val="E6F0FA"/>
                </a:solidFill>
                <a:latin typeface="Arial" panose="020B0604020202020204" pitchFamily="34" charset="0"/>
              </a:rPr>
              <a:t>Chi tiết nozzle theo report</a:t>
            </a:r>
            <a:endParaRPr lang="en-US" sz="1600">
              <a:solidFill>
                <a:srgbClr val="E6F0FA"/>
              </a:solidFill>
              <a:latin typeface="Arial" panose="020B0604020202020204" pitchFamily="34" charset="0"/>
            </a:endParaRPr>
          </a:p>
        </p:txBody>
      </p:sp>
      <p:sp>
        <p:nvSpPr>
          <p:cNvPr id="40" name="Rectangle: Rounded Corners 39">
            <a:extLst>
              <a:ext uri="{FF2B5EF4-FFF2-40B4-BE49-F238E27FC236}">
                <a16:creationId xmlns:a16="http://schemas.microsoft.com/office/drawing/2014/main" id="{9BADDFF2-0932-FBD1-FC86-C39FB2562223}"/>
              </a:ext>
            </a:extLst>
          </p:cNvPr>
          <p:cNvSpPr/>
          <p:nvPr/>
        </p:nvSpPr>
        <p:spPr>
          <a:xfrm>
            <a:off x="6921500" y="6604000"/>
            <a:ext cx="4445000" cy="1841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4C6F981-6328-3FC4-63CC-F378C0F6CF4B}"/>
              </a:ext>
            </a:extLst>
          </p:cNvPr>
          <p:cNvSpPr/>
          <p:nvPr/>
        </p:nvSpPr>
        <p:spPr>
          <a:xfrm>
            <a:off x="6921500" y="6604000"/>
            <a:ext cx="101600" cy="1841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C25A59C5-F6ED-DFEA-7E18-24BBCFD1132C}"/>
              </a:ext>
            </a:extLst>
          </p:cNvPr>
          <p:cNvSpPr/>
          <p:nvPr/>
        </p:nvSpPr>
        <p:spPr>
          <a:xfrm>
            <a:off x="7226300" y="6832600"/>
            <a:ext cx="8763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1F9ED1A6-4979-20BD-01EB-3007D87E24A1}"/>
              </a:ext>
            </a:extLst>
          </p:cNvPr>
          <p:cNvSpPr txBox="1"/>
          <p:nvPr/>
        </p:nvSpPr>
        <p:spPr>
          <a:xfrm>
            <a:off x="7327900" y="6908800"/>
            <a:ext cx="6731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STATE</a:t>
            </a:r>
          </a:p>
        </p:txBody>
      </p:sp>
      <p:sp>
        <p:nvSpPr>
          <p:cNvPr id="44" name="TextBox 43">
            <a:extLst>
              <a:ext uri="{FF2B5EF4-FFF2-40B4-BE49-F238E27FC236}">
                <a16:creationId xmlns:a16="http://schemas.microsoft.com/office/drawing/2014/main" id="{9B4F0494-11E5-369A-4B9B-1A69691C40ED}"/>
              </a:ext>
            </a:extLst>
          </p:cNvPr>
          <p:cNvSpPr txBox="1"/>
          <p:nvPr/>
        </p:nvSpPr>
        <p:spPr>
          <a:xfrm>
            <a:off x="7226300" y="7442200"/>
            <a:ext cx="3835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machine_counter_state</a:t>
            </a:r>
          </a:p>
        </p:txBody>
      </p:sp>
      <p:sp>
        <p:nvSpPr>
          <p:cNvPr id="45" name="TextBox 44">
            <a:extLst>
              <a:ext uri="{FF2B5EF4-FFF2-40B4-BE49-F238E27FC236}">
                <a16:creationId xmlns:a16="http://schemas.microsoft.com/office/drawing/2014/main" id="{1246C225-DEC6-5726-7557-268C2234C42A}"/>
              </a:ext>
            </a:extLst>
          </p:cNvPr>
          <p:cNvSpPr txBox="1"/>
          <p:nvPr/>
        </p:nvSpPr>
        <p:spPr>
          <a:xfrm>
            <a:off x="7226300" y="8051800"/>
            <a:ext cx="3835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Raw state gần nhất</a:t>
            </a:r>
          </a:p>
        </p:txBody>
      </p:sp>
      <p:cxnSp>
        <p:nvCxnSpPr>
          <p:cNvPr id="46" name="Straight Connector 45">
            <a:extLst>
              <a:ext uri="{FF2B5EF4-FFF2-40B4-BE49-F238E27FC236}">
                <a16:creationId xmlns:a16="http://schemas.microsoft.com/office/drawing/2014/main" id="{E385BF51-1A04-6094-C195-EE485308A6C1}"/>
              </a:ext>
            </a:extLst>
          </p:cNvPr>
          <p:cNvCxnSpPr/>
          <p:nvPr/>
        </p:nvCxnSpPr>
        <p:spPr>
          <a:xfrm flipV="1">
            <a:off x="4699000" y="4254500"/>
            <a:ext cx="2095500" cy="635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1F7D54D-8202-C138-615B-A94335C47B9F}"/>
              </a:ext>
            </a:extLst>
          </p:cNvPr>
          <p:cNvSpPr txBox="1"/>
          <p:nvPr/>
        </p:nvSpPr>
        <p:spPr>
          <a:xfrm>
            <a:off x="5334000" y="4318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cxnSp>
        <p:nvCxnSpPr>
          <p:cNvPr id="48" name="Straight Connector 47">
            <a:extLst>
              <a:ext uri="{FF2B5EF4-FFF2-40B4-BE49-F238E27FC236}">
                <a16:creationId xmlns:a16="http://schemas.microsoft.com/office/drawing/2014/main" id="{D0631FF9-CB12-36FB-5F30-63A117F0DFB4}"/>
              </a:ext>
            </a:extLst>
          </p:cNvPr>
          <p:cNvCxnSpPr/>
          <p:nvPr/>
        </p:nvCxnSpPr>
        <p:spPr>
          <a:xfrm flipV="1">
            <a:off x="11366500" y="3492500"/>
            <a:ext cx="2095500" cy="635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19B166A2-98DB-0E6F-7A81-F7DB6262007C}"/>
              </a:ext>
            </a:extLst>
          </p:cNvPr>
          <p:cNvCxnSpPr/>
          <p:nvPr/>
        </p:nvCxnSpPr>
        <p:spPr>
          <a:xfrm>
            <a:off x="11366500" y="4381500"/>
            <a:ext cx="2095500" cy="1651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5FBB1529-7028-3046-5CA1-1CB9CC093891}"/>
              </a:ext>
            </a:extLst>
          </p:cNvPr>
          <p:cNvSpPr txBox="1"/>
          <p:nvPr/>
        </p:nvSpPr>
        <p:spPr>
          <a:xfrm>
            <a:off x="12255500" y="3302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sp>
        <p:nvSpPr>
          <p:cNvPr id="51" name="TextBox 50">
            <a:extLst>
              <a:ext uri="{FF2B5EF4-FFF2-40B4-BE49-F238E27FC236}">
                <a16:creationId xmlns:a16="http://schemas.microsoft.com/office/drawing/2014/main" id="{02D476FD-F804-A236-DB06-8819E4490553}"/>
              </a:ext>
            </a:extLst>
          </p:cNvPr>
          <p:cNvSpPr txBox="1"/>
          <p:nvPr/>
        </p:nvSpPr>
        <p:spPr>
          <a:xfrm>
            <a:off x="12255500" y="5588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cxnSp>
        <p:nvCxnSpPr>
          <p:cNvPr id="52" name="Straight Connector 51">
            <a:extLst>
              <a:ext uri="{FF2B5EF4-FFF2-40B4-BE49-F238E27FC236}">
                <a16:creationId xmlns:a16="http://schemas.microsoft.com/office/drawing/2014/main" id="{F9DC4CF1-0C09-DFB3-C3AA-C934D4391285}"/>
              </a:ext>
            </a:extLst>
          </p:cNvPr>
          <p:cNvCxnSpPr/>
          <p:nvPr/>
        </p:nvCxnSpPr>
        <p:spPr>
          <a:xfrm>
            <a:off x="4699000" y="5207000"/>
            <a:ext cx="2095500" cy="228600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5A3029F-912A-C1A7-79E0-BE90AF11C1C2}"/>
              </a:ext>
            </a:extLst>
          </p:cNvPr>
          <p:cNvSpPr txBox="1"/>
          <p:nvPr/>
        </p:nvSpPr>
        <p:spPr>
          <a:xfrm>
            <a:off x="5461000" y="6604000"/>
            <a:ext cx="889000" cy="215444"/>
          </a:xfrm>
          <a:prstGeom prst="rect">
            <a:avLst/>
          </a:prstGeom>
          <a:noFill/>
        </p:spPr>
        <p:txBody>
          <a:bodyPr vert="horz" wrap="square" lIns="0" tIns="0" rIns="0" bIns="0" rtlCol="0">
            <a:spAutoFit/>
          </a:bodyPr>
          <a:lstStyle/>
          <a:p>
            <a:pPr algn="ctr"/>
            <a:r>
              <a:rPr lang="en-US" sz="1400" b="1">
                <a:solidFill>
                  <a:srgbClr val="94A3B8"/>
                </a:solidFill>
                <a:latin typeface="Arial" panose="020B0604020202020204" pitchFamily="34" charset="0"/>
              </a:rPr>
              <a:t>1 : 1</a:t>
            </a:r>
          </a:p>
        </p:txBody>
      </p:sp>
      <p:sp>
        <p:nvSpPr>
          <p:cNvPr id="54" name="Rectangle 53">
            <a:extLst>
              <a:ext uri="{FF2B5EF4-FFF2-40B4-BE49-F238E27FC236}">
                <a16:creationId xmlns:a16="http://schemas.microsoft.com/office/drawing/2014/main" id="{2BAB87CF-8C95-401F-D8C0-000DC6CB4E1C}"/>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3FA39645-2F77-CC5C-E008-FD91BDD1B7A5}"/>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4260564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63A4BAB9-F977-6170-2B71-06ABF27E62B0}"/>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1294CC00-C502-47C7-DBF4-8A909ACEC429}"/>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A297A98C-8D38-5C9A-F799-1ED755D22711}"/>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A1EC2586-3128-4061-7A50-B01F5C400DA0}"/>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0420353C-178B-12E7-CFBB-3CD4E070083C}"/>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DATABASE</a:t>
            </a:r>
          </a:p>
        </p:txBody>
      </p:sp>
      <p:cxnSp>
        <p:nvCxnSpPr>
          <p:cNvPr id="7" name="Straight Connector 6">
            <a:extLst>
              <a:ext uri="{FF2B5EF4-FFF2-40B4-BE49-F238E27FC236}">
                <a16:creationId xmlns:a16="http://schemas.microsoft.com/office/drawing/2014/main" id="{BFF95A1D-473E-0243-779C-4A598B4C6406}"/>
              </a:ext>
            </a:extLst>
          </p:cNvPr>
          <p:cNvCxnSpPr/>
          <p:nvPr/>
        </p:nvCxnSpPr>
        <p:spPr>
          <a:xfrm>
            <a:off x="8026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FDD634A5-F249-5926-8091-0F6F969E22BC}"/>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1BE1B791-FA5F-AC9F-D73C-7CA9C027F207}"/>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12747F07-36C2-1F97-51D9-E6BAFE38D462}"/>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13</a:t>
            </a:r>
          </a:p>
        </p:txBody>
      </p:sp>
      <p:sp>
        <p:nvSpPr>
          <p:cNvPr id="11" name="TextBox 10">
            <a:extLst>
              <a:ext uri="{FF2B5EF4-FFF2-40B4-BE49-F238E27FC236}">
                <a16:creationId xmlns:a16="http://schemas.microsoft.com/office/drawing/2014/main" id="{5278EFC7-F715-D0AC-8CDF-2D87607CB0A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CENTRAL FACT TABLE</a:t>
            </a:r>
          </a:p>
        </p:txBody>
      </p:sp>
      <p:sp>
        <p:nvSpPr>
          <p:cNvPr id="12" name="TextBox 11">
            <a:extLst>
              <a:ext uri="{FF2B5EF4-FFF2-40B4-BE49-F238E27FC236}">
                <a16:creationId xmlns:a16="http://schemas.microsoft.com/office/drawing/2014/main" id="{32C039B5-E919-CCBB-A897-1156E71BE90F}"/>
              </a:ext>
            </a:extLst>
          </p:cNvPr>
          <p:cNvSpPr txBox="1"/>
          <p:nvPr/>
        </p:nvSpPr>
        <p:spPr>
          <a:xfrm>
            <a:off x="889000" y="1917700"/>
            <a:ext cx="16510000" cy="523220"/>
          </a:xfrm>
          <a:prstGeom prst="rect">
            <a:avLst/>
          </a:prstGeom>
          <a:noFill/>
        </p:spPr>
        <p:txBody>
          <a:bodyPr vert="horz" wrap="square" lIns="0" tIns="0" rIns="0" bIns="0" rtlCol="0">
            <a:spAutoFit/>
          </a:bodyPr>
          <a:lstStyle/>
          <a:p>
            <a:r>
              <a:rPr lang="fr-FR" sz="3400" b="1">
                <a:solidFill>
                  <a:srgbClr val="FFFFFF"/>
                </a:solidFill>
                <a:latin typeface="Arial" panose="020B0604020202020204" pitchFamily="34" charset="0"/>
              </a:rPr>
              <a:t>production_reports: dữ liệu lịch sử</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76592411-9C1C-F787-19D9-B578ED806D8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AF3287E-0036-5A87-FCFB-D7269F19ACF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F85F6F55-576A-8BB2-9519-B0542E516C6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13</a:t>
            </a:r>
          </a:p>
        </p:txBody>
      </p:sp>
      <p:sp>
        <p:nvSpPr>
          <p:cNvPr id="16" name="Rectangle: Rounded Corners 15">
            <a:extLst>
              <a:ext uri="{FF2B5EF4-FFF2-40B4-BE49-F238E27FC236}">
                <a16:creationId xmlns:a16="http://schemas.microsoft.com/office/drawing/2014/main" id="{1E4DC53B-9B90-B98E-F66F-BD392EF653BE}"/>
              </a:ext>
            </a:extLst>
          </p:cNvPr>
          <p:cNvSpPr/>
          <p:nvPr/>
        </p:nvSpPr>
        <p:spPr>
          <a:xfrm>
            <a:off x="889000" y="3048000"/>
            <a:ext cx="7747000" cy="20955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6BBAF5D-BE7A-0332-7A89-C21FF707344E}"/>
              </a:ext>
            </a:extLst>
          </p:cNvPr>
          <p:cNvSpPr/>
          <p:nvPr/>
        </p:nvSpPr>
        <p:spPr>
          <a:xfrm>
            <a:off x="1193800" y="3327400"/>
            <a:ext cx="15240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30862C3-8048-2009-2CC3-9FF7585926A4}"/>
              </a:ext>
            </a:extLst>
          </p:cNvPr>
          <p:cNvSpPr txBox="1"/>
          <p:nvPr/>
        </p:nvSpPr>
        <p:spPr>
          <a:xfrm>
            <a:off x="1295400" y="34036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OUTPUT</a:t>
            </a:r>
          </a:p>
        </p:txBody>
      </p:sp>
      <p:sp>
        <p:nvSpPr>
          <p:cNvPr id="19" name="TextBox 18">
            <a:extLst>
              <a:ext uri="{FF2B5EF4-FFF2-40B4-BE49-F238E27FC236}">
                <a16:creationId xmlns:a16="http://schemas.microsoft.com/office/drawing/2014/main" id="{74B4F9FC-053F-F1BE-6D80-1D6DA5EF9036}"/>
              </a:ext>
            </a:extLst>
          </p:cNvPr>
          <p:cNvSpPr txBox="1"/>
          <p:nvPr/>
        </p:nvSpPr>
        <p:spPr>
          <a:xfrm>
            <a:off x="1193800" y="40894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output_qty • board • module • pickup • mount</a:t>
            </a:r>
          </a:p>
        </p:txBody>
      </p:sp>
      <p:sp>
        <p:nvSpPr>
          <p:cNvPr id="20" name="Rectangle: Rounded Corners 19">
            <a:extLst>
              <a:ext uri="{FF2B5EF4-FFF2-40B4-BE49-F238E27FC236}">
                <a16:creationId xmlns:a16="http://schemas.microsoft.com/office/drawing/2014/main" id="{81E3BD02-16C4-B1C0-73AC-2A3022B15A17}"/>
              </a:ext>
            </a:extLst>
          </p:cNvPr>
          <p:cNvSpPr/>
          <p:nvPr/>
        </p:nvSpPr>
        <p:spPr>
          <a:xfrm>
            <a:off x="9144000" y="304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B0CE1A0-2590-26F2-F557-561F0C095533}"/>
              </a:ext>
            </a:extLst>
          </p:cNvPr>
          <p:cNvSpPr/>
          <p:nvPr/>
        </p:nvSpPr>
        <p:spPr>
          <a:xfrm>
            <a:off x="9448800" y="3327400"/>
            <a:ext cx="1524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F632CBD-388D-F3C0-E7D7-141F61070B26}"/>
              </a:ext>
            </a:extLst>
          </p:cNvPr>
          <p:cNvSpPr txBox="1"/>
          <p:nvPr/>
        </p:nvSpPr>
        <p:spPr>
          <a:xfrm>
            <a:off x="9550400" y="34036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TIME</a:t>
            </a:r>
          </a:p>
        </p:txBody>
      </p:sp>
      <p:sp>
        <p:nvSpPr>
          <p:cNvPr id="23" name="TextBox 22">
            <a:extLst>
              <a:ext uri="{FF2B5EF4-FFF2-40B4-BE49-F238E27FC236}">
                <a16:creationId xmlns:a16="http://schemas.microsoft.com/office/drawing/2014/main" id="{2B4B0021-4401-DACC-52D7-C75FE4FEEB30}"/>
              </a:ext>
            </a:extLst>
          </p:cNvPr>
          <p:cNvSpPr txBox="1"/>
          <p:nvPr/>
        </p:nvSpPr>
        <p:spPr>
          <a:xfrm>
            <a:off x="9448800" y="40894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power on • production • stop • wait • error</a:t>
            </a:r>
          </a:p>
        </p:txBody>
      </p:sp>
      <p:sp>
        <p:nvSpPr>
          <p:cNvPr id="24" name="Rectangle: Rounded Corners 23">
            <a:extLst>
              <a:ext uri="{FF2B5EF4-FFF2-40B4-BE49-F238E27FC236}">
                <a16:creationId xmlns:a16="http://schemas.microsoft.com/office/drawing/2014/main" id="{E0FC2854-5CFB-F6CD-D961-B5BDEB79483F}"/>
              </a:ext>
            </a:extLst>
          </p:cNvPr>
          <p:cNvSpPr/>
          <p:nvPr/>
        </p:nvSpPr>
        <p:spPr>
          <a:xfrm>
            <a:off x="889000" y="5651500"/>
            <a:ext cx="7747000" cy="20955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61FCDD17-A00B-35BB-FD93-68C597F53925}"/>
              </a:ext>
            </a:extLst>
          </p:cNvPr>
          <p:cNvSpPr/>
          <p:nvPr/>
        </p:nvSpPr>
        <p:spPr>
          <a:xfrm>
            <a:off x="1193800" y="5930900"/>
            <a:ext cx="15240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1D0A78C-76EC-398F-B0DF-38CCCCF5F542}"/>
              </a:ext>
            </a:extLst>
          </p:cNvPr>
          <p:cNvSpPr txBox="1"/>
          <p:nvPr/>
        </p:nvSpPr>
        <p:spPr>
          <a:xfrm>
            <a:off x="1295400" y="60071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QUALITY</a:t>
            </a:r>
          </a:p>
        </p:txBody>
      </p:sp>
      <p:sp>
        <p:nvSpPr>
          <p:cNvPr id="27" name="TextBox 26">
            <a:extLst>
              <a:ext uri="{FF2B5EF4-FFF2-40B4-BE49-F238E27FC236}">
                <a16:creationId xmlns:a16="http://schemas.microsoft.com/office/drawing/2014/main" id="{39FA1B7A-41ED-F54F-2F96-68643AF11B93}"/>
              </a:ext>
            </a:extLst>
          </p:cNvPr>
          <p:cNvSpPr txBox="1"/>
          <p:nvPr/>
        </p:nvSpPr>
        <p:spPr>
          <a:xfrm>
            <a:off x="1193800" y="66929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miss • mount miss • recognition • trouble</a:t>
            </a:r>
          </a:p>
        </p:txBody>
      </p:sp>
      <p:sp>
        <p:nvSpPr>
          <p:cNvPr id="28" name="Rectangle: Rounded Corners 27">
            <a:extLst>
              <a:ext uri="{FF2B5EF4-FFF2-40B4-BE49-F238E27FC236}">
                <a16:creationId xmlns:a16="http://schemas.microsoft.com/office/drawing/2014/main" id="{385D1A41-60F7-FC59-BC81-57A8AA7F5C7A}"/>
              </a:ext>
            </a:extLst>
          </p:cNvPr>
          <p:cNvSpPr/>
          <p:nvPr/>
        </p:nvSpPr>
        <p:spPr>
          <a:xfrm>
            <a:off x="9144000" y="5651500"/>
            <a:ext cx="7747000" cy="20955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BDE8A2B8-4F46-EF85-C36E-611041990FF0}"/>
              </a:ext>
            </a:extLst>
          </p:cNvPr>
          <p:cNvSpPr/>
          <p:nvPr/>
        </p:nvSpPr>
        <p:spPr>
          <a:xfrm>
            <a:off x="9448800" y="5930900"/>
            <a:ext cx="1524000" cy="431800"/>
          </a:xfrm>
          <a:prstGeom prst="roundRect">
            <a:avLst>
              <a:gd name="adj" fmla="val 25000"/>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993B567-7BA7-16AB-412C-C5A03F7461A6}"/>
              </a:ext>
            </a:extLst>
          </p:cNvPr>
          <p:cNvSpPr txBox="1"/>
          <p:nvPr/>
        </p:nvSpPr>
        <p:spPr>
          <a:xfrm>
            <a:off x="9550400" y="60071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CYCLE</a:t>
            </a:r>
          </a:p>
        </p:txBody>
      </p:sp>
      <p:sp>
        <p:nvSpPr>
          <p:cNvPr id="31" name="TextBox 30">
            <a:extLst>
              <a:ext uri="{FF2B5EF4-FFF2-40B4-BE49-F238E27FC236}">
                <a16:creationId xmlns:a16="http://schemas.microsoft.com/office/drawing/2014/main" id="{99EF7A3B-D080-746C-0E08-E39E6946CA3E}"/>
              </a:ext>
            </a:extLst>
          </p:cNvPr>
          <p:cNvSpPr txBox="1"/>
          <p:nvPr/>
        </p:nvSpPr>
        <p:spPr>
          <a:xfrm>
            <a:off x="9448800" y="66929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cycle_time_1 • cycle_time_2 • cycle_time_3</a:t>
            </a:r>
          </a:p>
        </p:txBody>
      </p:sp>
      <p:sp>
        <p:nvSpPr>
          <p:cNvPr id="32" name="TextBox 31">
            <a:extLst>
              <a:ext uri="{FF2B5EF4-FFF2-40B4-BE49-F238E27FC236}">
                <a16:creationId xmlns:a16="http://schemas.microsoft.com/office/drawing/2014/main" id="{9A1F5B21-22E0-16A5-616F-066A3870094F}"/>
              </a:ext>
            </a:extLst>
          </p:cNvPr>
          <p:cNvSpPr txBox="1"/>
          <p:nvPr/>
        </p:nvSpPr>
        <p:spPr>
          <a:xfrm>
            <a:off x="889000" y="8382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Cấp phân tích: machine • report date • MJS • product • lot • file</a:t>
            </a:r>
          </a:p>
        </p:txBody>
      </p:sp>
      <p:sp>
        <p:nvSpPr>
          <p:cNvPr id="33" name="Rectangle 32">
            <a:extLst>
              <a:ext uri="{FF2B5EF4-FFF2-40B4-BE49-F238E27FC236}">
                <a16:creationId xmlns:a16="http://schemas.microsoft.com/office/drawing/2014/main" id="{A44C585E-8266-9658-9AFD-01B4614D7369}"/>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A13EA3FE-F981-7F52-6081-03CB6A25EB70}"/>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10889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78AC5951-C73A-A82F-0C45-5E2F2BE33133}"/>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54BFC5C9-8829-FB80-E56E-F1CAC633C61A}"/>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08797210-0BD4-70FE-ACE7-1664E1EFF01C}"/>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58B2FFC6-13A9-BC3C-CDE2-A4056BC1BDCB}"/>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EB8A27A4-7594-A793-784A-EF55B75881A5}"/>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DATABASE</a:t>
            </a:r>
          </a:p>
        </p:txBody>
      </p:sp>
      <p:cxnSp>
        <p:nvCxnSpPr>
          <p:cNvPr id="7" name="Straight Connector 6">
            <a:extLst>
              <a:ext uri="{FF2B5EF4-FFF2-40B4-BE49-F238E27FC236}">
                <a16:creationId xmlns:a16="http://schemas.microsoft.com/office/drawing/2014/main" id="{9F902F9B-87DF-8F7A-CB40-BF2BB191A866}"/>
              </a:ext>
            </a:extLst>
          </p:cNvPr>
          <p:cNvCxnSpPr/>
          <p:nvPr/>
        </p:nvCxnSpPr>
        <p:spPr>
          <a:xfrm>
            <a:off x="8026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4C168E7-BD2F-A6D9-DA3A-CF0E09C6E90E}"/>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3E3434F3-4F2A-3129-25A8-E234E12F524E}"/>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5F10B428-1EF9-E307-C5B7-9D8A9FA95BF1}"/>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14</a:t>
            </a:r>
          </a:p>
        </p:txBody>
      </p:sp>
      <p:sp>
        <p:nvSpPr>
          <p:cNvPr id="11" name="TextBox 10">
            <a:extLst>
              <a:ext uri="{FF2B5EF4-FFF2-40B4-BE49-F238E27FC236}">
                <a16:creationId xmlns:a16="http://schemas.microsoft.com/office/drawing/2014/main" id="{B071EA2B-F769-DB3B-12D2-1CAD7C2C21AE}"/>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DETAIL TABLES</a:t>
            </a:r>
          </a:p>
        </p:txBody>
      </p:sp>
      <p:sp>
        <p:nvSpPr>
          <p:cNvPr id="12" name="TextBox 11">
            <a:extLst>
              <a:ext uri="{FF2B5EF4-FFF2-40B4-BE49-F238E27FC236}">
                <a16:creationId xmlns:a16="http://schemas.microsoft.com/office/drawing/2014/main" id="{597F49ED-7C1A-1BDF-42A9-D48BCC24E790}"/>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Feeder và nozzle mở khóa root-cause</a:t>
            </a:r>
          </a:p>
        </p:txBody>
      </p:sp>
      <p:cxnSp>
        <p:nvCxnSpPr>
          <p:cNvPr id="13" name="Straight Connector 12">
            <a:extLst>
              <a:ext uri="{FF2B5EF4-FFF2-40B4-BE49-F238E27FC236}">
                <a16:creationId xmlns:a16="http://schemas.microsoft.com/office/drawing/2014/main" id="{7B432A12-DD24-8BEB-004D-58BDC5BFCFA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E7D8AF4-D9DD-616F-137B-C09E5C677CC9}"/>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3340274A-74CD-5FFF-6EA2-329B4D7E596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14</a:t>
            </a:r>
          </a:p>
        </p:txBody>
      </p:sp>
      <p:sp>
        <p:nvSpPr>
          <p:cNvPr id="16" name="Rectangle: Rounded Corners 15">
            <a:extLst>
              <a:ext uri="{FF2B5EF4-FFF2-40B4-BE49-F238E27FC236}">
                <a16:creationId xmlns:a16="http://schemas.microsoft.com/office/drawing/2014/main" id="{37B6ECA5-2BEE-8FCB-5FC8-6ECAF1AA3382}"/>
              </a:ext>
            </a:extLst>
          </p:cNvPr>
          <p:cNvSpPr/>
          <p:nvPr/>
        </p:nvSpPr>
        <p:spPr>
          <a:xfrm>
            <a:off x="889000" y="2984500"/>
            <a:ext cx="7747000" cy="4889500"/>
          </a:xfrm>
          <a:prstGeom prst="roundRect">
            <a:avLst/>
          </a:prstGeom>
          <a:solidFill>
            <a:srgbClr val="051873"/>
          </a:solidFill>
          <a:ln w="1905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4030746-B5F0-F37A-C650-1779DEF7C7E0}"/>
              </a:ext>
            </a:extLst>
          </p:cNvPr>
          <p:cNvSpPr txBox="1"/>
          <p:nvPr/>
        </p:nvSpPr>
        <p:spPr>
          <a:xfrm>
            <a:off x="1333500" y="3429000"/>
            <a:ext cx="3810000" cy="430887"/>
          </a:xfrm>
          <a:prstGeom prst="rect">
            <a:avLst/>
          </a:prstGeom>
          <a:noFill/>
        </p:spPr>
        <p:txBody>
          <a:bodyPr vert="horz" wrap="square" lIns="0" tIns="0" rIns="0" bIns="0" rtlCol="0">
            <a:spAutoFit/>
          </a:bodyPr>
          <a:lstStyle/>
          <a:p>
            <a:r>
              <a:rPr lang="en-US" sz="2800" b="1">
                <a:solidFill>
                  <a:srgbClr val="00E6F0"/>
                </a:solidFill>
                <a:latin typeface="Arial" panose="020B0604020202020204" pitchFamily="34" charset="0"/>
              </a:rPr>
              <a:t>feeder_logs</a:t>
            </a:r>
          </a:p>
        </p:txBody>
      </p:sp>
      <p:sp>
        <p:nvSpPr>
          <p:cNvPr id="18" name="Oval 17">
            <a:extLst>
              <a:ext uri="{FF2B5EF4-FFF2-40B4-BE49-F238E27FC236}">
                <a16:creationId xmlns:a16="http://schemas.microsoft.com/office/drawing/2014/main" id="{0B98D73D-9C03-703F-A5D2-43408C2AD264}"/>
              </a:ext>
            </a:extLst>
          </p:cNvPr>
          <p:cNvSpPr/>
          <p:nvPr/>
        </p:nvSpPr>
        <p:spPr>
          <a:xfrm>
            <a:off x="1333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67A82E3-BC7E-FBA9-752A-7D7019D9C6FF}"/>
              </a:ext>
            </a:extLst>
          </p:cNvPr>
          <p:cNvSpPr txBox="1"/>
          <p:nvPr/>
        </p:nvSpPr>
        <p:spPr>
          <a:xfrm>
            <a:off x="1638300" y="43180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Block code / serial / part / reel</a:t>
            </a:r>
          </a:p>
        </p:txBody>
      </p:sp>
      <p:sp>
        <p:nvSpPr>
          <p:cNvPr id="20" name="Oval 19">
            <a:extLst>
              <a:ext uri="{FF2B5EF4-FFF2-40B4-BE49-F238E27FC236}">
                <a16:creationId xmlns:a16="http://schemas.microsoft.com/office/drawing/2014/main" id="{2A6955A9-2BEB-8623-D282-B47FD88984AC}"/>
              </a:ext>
            </a:extLst>
          </p:cNvPr>
          <p:cNvSpPr/>
          <p:nvPr/>
        </p:nvSpPr>
        <p:spPr>
          <a:xfrm>
            <a:off x="1333500" y="51562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AB0BE1F-8BBA-CF65-A6B6-DDB1B626759E}"/>
              </a:ext>
            </a:extLst>
          </p:cNvPr>
          <p:cNvSpPr txBox="1"/>
          <p:nvPr/>
        </p:nvSpPr>
        <p:spPr>
          <a:xfrm>
            <a:off x="1638300" y="50546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Feeder &amp; sub-feeder address</a:t>
            </a:r>
          </a:p>
        </p:txBody>
      </p:sp>
      <p:sp>
        <p:nvSpPr>
          <p:cNvPr id="22" name="Oval 21">
            <a:extLst>
              <a:ext uri="{FF2B5EF4-FFF2-40B4-BE49-F238E27FC236}">
                <a16:creationId xmlns:a16="http://schemas.microsoft.com/office/drawing/2014/main" id="{BA20CB2A-301E-1716-D57B-BE53AC59BCA3}"/>
              </a:ext>
            </a:extLst>
          </p:cNvPr>
          <p:cNvSpPr/>
          <p:nvPr/>
        </p:nvSpPr>
        <p:spPr>
          <a:xfrm>
            <a:off x="1333500" y="58928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10F1ABA-4F11-A58C-94A5-D7BB4420BBB7}"/>
              </a:ext>
            </a:extLst>
          </p:cNvPr>
          <p:cNvSpPr txBox="1"/>
          <p:nvPr/>
        </p:nvSpPr>
        <p:spPr>
          <a:xfrm>
            <a:off x="1638300" y="57912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mount và miss counters</a:t>
            </a:r>
          </a:p>
        </p:txBody>
      </p:sp>
      <p:sp>
        <p:nvSpPr>
          <p:cNvPr id="24" name="Oval 23">
            <a:extLst>
              <a:ext uri="{FF2B5EF4-FFF2-40B4-BE49-F238E27FC236}">
                <a16:creationId xmlns:a16="http://schemas.microsoft.com/office/drawing/2014/main" id="{3E8E7642-5296-C294-CC75-801559108B41}"/>
              </a:ext>
            </a:extLst>
          </p:cNvPr>
          <p:cNvSpPr/>
          <p:nvPr/>
        </p:nvSpPr>
        <p:spPr>
          <a:xfrm>
            <a:off x="1333500" y="66294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B908909-4CFB-9F1E-F56A-3F99FB9A7C1A}"/>
              </a:ext>
            </a:extLst>
          </p:cNvPr>
          <p:cNvSpPr txBox="1"/>
          <p:nvPr/>
        </p:nvSpPr>
        <p:spPr>
          <a:xfrm>
            <a:off x="1638300" y="65278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Nhiều feeder trên mỗi report</a:t>
            </a:r>
          </a:p>
        </p:txBody>
      </p:sp>
      <p:sp>
        <p:nvSpPr>
          <p:cNvPr id="26" name="Rectangle: Rounded Corners 25">
            <a:extLst>
              <a:ext uri="{FF2B5EF4-FFF2-40B4-BE49-F238E27FC236}">
                <a16:creationId xmlns:a16="http://schemas.microsoft.com/office/drawing/2014/main" id="{4066D726-22C6-D2F1-803F-D6D83D1A10A7}"/>
              </a:ext>
            </a:extLst>
          </p:cNvPr>
          <p:cNvSpPr/>
          <p:nvPr/>
        </p:nvSpPr>
        <p:spPr>
          <a:xfrm>
            <a:off x="9652000" y="2984500"/>
            <a:ext cx="7747000" cy="4889500"/>
          </a:xfrm>
          <a:prstGeom prst="roundRect">
            <a:avLst/>
          </a:prstGeom>
          <a:solidFill>
            <a:srgbClr val="051873"/>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5FD13A3-90F9-41FB-F507-556A3A4586EA}"/>
              </a:ext>
            </a:extLst>
          </p:cNvPr>
          <p:cNvSpPr txBox="1"/>
          <p:nvPr/>
        </p:nvSpPr>
        <p:spPr>
          <a:xfrm>
            <a:off x="10096500" y="3429000"/>
            <a:ext cx="3810000" cy="430887"/>
          </a:xfrm>
          <a:prstGeom prst="rect">
            <a:avLst/>
          </a:prstGeom>
          <a:noFill/>
        </p:spPr>
        <p:txBody>
          <a:bodyPr vert="horz" wrap="square" lIns="0" tIns="0" rIns="0" bIns="0" rtlCol="0">
            <a:spAutoFit/>
          </a:bodyPr>
          <a:lstStyle/>
          <a:p>
            <a:r>
              <a:rPr lang="en-US" sz="2800" b="1">
                <a:solidFill>
                  <a:srgbClr val="22C55E"/>
                </a:solidFill>
                <a:latin typeface="Arial" panose="020B0604020202020204" pitchFamily="34" charset="0"/>
              </a:rPr>
              <a:t>nozzle_logs</a:t>
            </a:r>
          </a:p>
        </p:txBody>
      </p:sp>
      <p:sp>
        <p:nvSpPr>
          <p:cNvPr id="28" name="Oval 27">
            <a:extLst>
              <a:ext uri="{FF2B5EF4-FFF2-40B4-BE49-F238E27FC236}">
                <a16:creationId xmlns:a16="http://schemas.microsoft.com/office/drawing/2014/main" id="{3730BC0F-6C59-DBD8-92E2-3AAB663B5026}"/>
              </a:ext>
            </a:extLst>
          </p:cNvPr>
          <p:cNvSpPr/>
          <p:nvPr/>
        </p:nvSpPr>
        <p:spPr>
          <a:xfrm>
            <a:off x="10096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EA515ED-5906-00FF-821A-EA6BEF7F61F6}"/>
              </a:ext>
            </a:extLst>
          </p:cNvPr>
          <p:cNvSpPr txBox="1"/>
          <p:nvPr/>
        </p:nvSpPr>
        <p:spPr>
          <a:xfrm>
            <a:off x="10401300" y="43180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Head number / nozzle name</a:t>
            </a:r>
          </a:p>
        </p:txBody>
      </p:sp>
      <p:sp>
        <p:nvSpPr>
          <p:cNvPr id="30" name="Oval 29">
            <a:extLst>
              <a:ext uri="{FF2B5EF4-FFF2-40B4-BE49-F238E27FC236}">
                <a16:creationId xmlns:a16="http://schemas.microsoft.com/office/drawing/2014/main" id="{66C119B6-3B62-9AB4-91A2-80A2517F9AE9}"/>
              </a:ext>
            </a:extLst>
          </p:cNvPr>
          <p:cNvSpPr/>
          <p:nvPr/>
        </p:nvSpPr>
        <p:spPr>
          <a:xfrm>
            <a:off x="10096500" y="51562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9288D28-A8AF-0557-C234-CF1CF304D53B}"/>
              </a:ext>
            </a:extLst>
          </p:cNvPr>
          <p:cNvSpPr txBox="1"/>
          <p:nvPr/>
        </p:nvSpPr>
        <p:spPr>
          <a:xfrm>
            <a:off x="10401300" y="50546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Nozzle &amp; component address</a:t>
            </a:r>
          </a:p>
        </p:txBody>
      </p:sp>
      <p:sp>
        <p:nvSpPr>
          <p:cNvPr id="32" name="Oval 31">
            <a:extLst>
              <a:ext uri="{FF2B5EF4-FFF2-40B4-BE49-F238E27FC236}">
                <a16:creationId xmlns:a16="http://schemas.microsoft.com/office/drawing/2014/main" id="{D8BB5B68-646D-6CD2-DA67-190E78D87403}"/>
              </a:ext>
            </a:extLst>
          </p:cNvPr>
          <p:cNvSpPr/>
          <p:nvPr/>
        </p:nvSpPr>
        <p:spPr>
          <a:xfrm>
            <a:off x="10096500" y="58928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BCFA773-23EC-C7DB-0E41-DA464B6C7AE8}"/>
              </a:ext>
            </a:extLst>
          </p:cNvPr>
          <p:cNvSpPr txBox="1"/>
          <p:nvPr/>
        </p:nvSpPr>
        <p:spPr>
          <a:xfrm>
            <a:off x="10401300" y="57912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mount và miss counters</a:t>
            </a:r>
          </a:p>
        </p:txBody>
      </p:sp>
      <p:sp>
        <p:nvSpPr>
          <p:cNvPr id="34" name="Oval 33">
            <a:extLst>
              <a:ext uri="{FF2B5EF4-FFF2-40B4-BE49-F238E27FC236}">
                <a16:creationId xmlns:a16="http://schemas.microsoft.com/office/drawing/2014/main" id="{DDB2D799-3421-2025-D898-DE822CE60EE5}"/>
              </a:ext>
            </a:extLst>
          </p:cNvPr>
          <p:cNvSpPr/>
          <p:nvPr/>
        </p:nvSpPr>
        <p:spPr>
          <a:xfrm>
            <a:off x="10096500" y="66294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B5FE39E1-E278-8BC9-A5B6-0EC875EEA36F}"/>
              </a:ext>
            </a:extLst>
          </p:cNvPr>
          <p:cNvSpPr txBox="1"/>
          <p:nvPr/>
        </p:nvSpPr>
        <p:spPr>
          <a:xfrm>
            <a:off x="10401300" y="65278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Nhiều nozzle trên mỗi report</a:t>
            </a:r>
          </a:p>
        </p:txBody>
      </p:sp>
      <p:sp>
        <p:nvSpPr>
          <p:cNvPr id="36" name="TextBox 35">
            <a:extLst>
              <a:ext uri="{FF2B5EF4-FFF2-40B4-BE49-F238E27FC236}">
                <a16:creationId xmlns:a16="http://schemas.microsoft.com/office/drawing/2014/main" id="{0E0A0F27-7A90-2B6A-8876-F9F987909133}"/>
              </a:ext>
            </a:extLst>
          </p:cNvPr>
          <p:cNvSpPr txBox="1"/>
          <p:nvPr/>
        </p:nvSpPr>
        <p:spPr>
          <a:xfrm>
            <a:off x="889000" y="8445500"/>
            <a:ext cx="16510000" cy="276999"/>
          </a:xfrm>
          <a:prstGeom prst="rect">
            <a:avLst/>
          </a:prstGeom>
          <a:noFill/>
        </p:spPr>
        <p:txBody>
          <a:bodyPr vert="horz" wrap="square" lIns="0" tIns="0" rIns="0" bIns="0" rtlCol="0">
            <a:spAutoFit/>
          </a:bodyPr>
          <a:lstStyle/>
          <a:p>
            <a:pPr algn="ctr"/>
            <a:r>
              <a:rPr lang="vi-VN" b="1">
                <a:solidFill>
                  <a:srgbClr val="FFFFFF"/>
                </a:solidFill>
                <a:latin typeface="Arial" panose="020B0604020202020204" pitchFamily="34" charset="0"/>
              </a:rPr>
              <a:t>Kết quả: ưu tiên đúng feeder, slot, reel, part, nozzle hoặc head cần kiểm tra.</a:t>
            </a:r>
            <a:endParaRPr lang="en-US" b="1">
              <a:solidFill>
                <a:srgbClr val="FFFFFF"/>
              </a:solidFill>
              <a:latin typeface="Arial" panose="020B0604020202020204" pitchFamily="34" charset="0"/>
            </a:endParaRPr>
          </a:p>
        </p:txBody>
      </p:sp>
      <p:sp>
        <p:nvSpPr>
          <p:cNvPr id="37" name="Rectangle 36">
            <a:extLst>
              <a:ext uri="{FF2B5EF4-FFF2-40B4-BE49-F238E27FC236}">
                <a16:creationId xmlns:a16="http://schemas.microsoft.com/office/drawing/2014/main" id="{E6883039-B043-659E-62AE-0E026AE1E1F3}"/>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8853D927-1CC7-4D11-6F8A-11999F4D34B4}"/>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431114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30CDE1DD-F623-6BF6-EF1C-7B607805D246}"/>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5E83FD92-57F6-0672-4CCC-A032E27E1940}"/>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D29F97F4-D21A-7145-CC84-6B30127FBBE7}"/>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15853838-28B7-3229-2C38-A9A750F954FA}"/>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1282DE97-3671-F9B1-BE3B-E645EAE68BBB}"/>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DATABASE</a:t>
            </a:r>
          </a:p>
        </p:txBody>
      </p:sp>
      <p:cxnSp>
        <p:nvCxnSpPr>
          <p:cNvPr id="7" name="Straight Connector 6">
            <a:extLst>
              <a:ext uri="{FF2B5EF4-FFF2-40B4-BE49-F238E27FC236}">
                <a16:creationId xmlns:a16="http://schemas.microsoft.com/office/drawing/2014/main" id="{A70427C1-A77F-7611-5825-176E037A82DA}"/>
              </a:ext>
            </a:extLst>
          </p:cNvPr>
          <p:cNvCxnSpPr/>
          <p:nvPr/>
        </p:nvCxnSpPr>
        <p:spPr>
          <a:xfrm>
            <a:off x="8026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8C3D440-FEA4-D59C-493F-D915DEE427DE}"/>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C8E97EE9-9E73-1FD8-A963-AA9A836DB6C8}"/>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CAD91EC0-07D7-F252-EA38-A617E4A56903}"/>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15</a:t>
            </a:r>
          </a:p>
        </p:txBody>
      </p:sp>
      <p:sp>
        <p:nvSpPr>
          <p:cNvPr id="11" name="TextBox 10">
            <a:extLst>
              <a:ext uri="{FF2B5EF4-FFF2-40B4-BE49-F238E27FC236}">
                <a16:creationId xmlns:a16="http://schemas.microsoft.com/office/drawing/2014/main" id="{26329FF6-3F0C-B92D-D921-AA18D987B3F4}"/>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HYBRID STORAGE</a:t>
            </a:r>
          </a:p>
        </p:txBody>
      </p:sp>
      <p:sp>
        <p:nvSpPr>
          <p:cNvPr id="12" name="TextBox 11">
            <a:extLst>
              <a:ext uri="{FF2B5EF4-FFF2-40B4-BE49-F238E27FC236}">
                <a16:creationId xmlns:a16="http://schemas.microsoft.com/office/drawing/2014/main" id="{4EB7407D-CDE7-9307-FFE4-A2B3445A50DB}"/>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Relational + JSONB: nhanh và linh hoạt</a:t>
            </a:r>
          </a:p>
        </p:txBody>
      </p:sp>
      <p:cxnSp>
        <p:nvCxnSpPr>
          <p:cNvPr id="13" name="Straight Connector 12">
            <a:extLst>
              <a:ext uri="{FF2B5EF4-FFF2-40B4-BE49-F238E27FC236}">
                <a16:creationId xmlns:a16="http://schemas.microsoft.com/office/drawing/2014/main" id="{B3B306CA-A998-9827-5FBE-10E5EB72C42C}"/>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77B13BE-858C-06A7-150C-EEF5C10F0C26}"/>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5E26EE76-DBFA-E70C-7731-32DF06846F6B}"/>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15</a:t>
            </a:r>
          </a:p>
        </p:txBody>
      </p:sp>
      <p:sp>
        <p:nvSpPr>
          <p:cNvPr id="16" name="Rectangle: Rounded Corners 15">
            <a:extLst>
              <a:ext uri="{FF2B5EF4-FFF2-40B4-BE49-F238E27FC236}">
                <a16:creationId xmlns:a16="http://schemas.microsoft.com/office/drawing/2014/main" id="{D63025C7-F921-5CCC-45C5-E1118372FA80}"/>
              </a:ext>
            </a:extLst>
          </p:cNvPr>
          <p:cNvSpPr/>
          <p:nvPr/>
        </p:nvSpPr>
        <p:spPr>
          <a:xfrm>
            <a:off x="889000" y="3175000"/>
            <a:ext cx="7493000" cy="2794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F82F8C8-52A0-0AF2-5EB0-04102B9017C2}"/>
              </a:ext>
            </a:extLst>
          </p:cNvPr>
          <p:cNvSpPr/>
          <p:nvPr/>
        </p:nvSpPr>
        <p:spPr>
          <a:xfrm>
            <a:off x="889000" y="3175000"/>
            <a:ext cx="101600" cy="2794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BA179CE4-8344-08BF-DC26-B58732590CE7}"/>
              </a:ext>
            </a:extLst>
          </p:cNvPr>
          <p:cNvSpPr/>
          <p:nvPr/>
        </p:nvSpPr>
        <p:spPr>
          <a:xfrm>
            <a:off x="1193800" y="3403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95E5E40-73BB-6936-B949-BA1960CF14DF}"/>
              </a:ext>
            </a:extLst>
          </p:cNvPr>
          <p:cNvSpPr txBox="1"/>
          <p:nvPr/>
        </p:nvSpPr>
        <p:spPr>
          <a:xfrm>
            <a:off x="12954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SQL</a:t>
            </a:r>
          </a:p>
        </p:txBody>
      </p:sp>
      <p:sp>
        <p:nvSpPr>
          <p:cNvPr id="20" name="TextBox 19">
            <a:extLst>
              <a:ext uri="{FF2B5EF4-FFF2-40B4-BE49-F238E27FC236}">
                <a16:creationId xmlns:a16="http://schemas.microsoft.com/office/drawing/2014/main" id="{F9401029-A1BE-0733-07AD-FF5BC15FAE95}"/>
              </a:ext>
            </a:extLst>
          </p:cNvPr>
          <p:cNvSpPr txBox="1"/>
          <p:nvPr/>
        </p:nvSpPr>
        <p:spPr>
          <a:xfrm>
            <a:off x="1193800" y="4013200"/>
            <a:ext cx="688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Relational columns</a:t>
            </a:r>
          </a:p>
        </p:txBody>
      </p:sp>
      <p:sp>
        <p:nvSpPr>
          <p:cNvPr id="21" name="TextBox 20">
            <a:extLst>
              <a:ext uri="{FF2B5EF4-FFF2-40B4-BE49-F238E27FC236}">
                <a16:creationId xmlns:a16="http://schemas.microsoft.com/office/drawing/2014/main" id="{64F65453-3B06-B374-2349-F22332AD7D75}"/>
              </a:ext>
            </a:extLst>
          </p:cNvPr>
          <p:cNvSpPr txBox="1"/>
          <p:nvPr/>
        </p:nvSpPr>
        <p:spPr>
          <a:xfrm>
            <a:off x="1193800" y="4622800"/>
            <a:ext cx="68834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Các trường cốt lõi phục vụ filter, join, index và báo cáo ổn định.</a:t>
            </a:r>
            <a:endParaRPr lang="en-US" sz="1600">
              <a:solidFill>
                <a:srgbClr val="E6F0FA"/>
              </a:solidFill>
              <a:latin typeface="Arial" panose="020B0604020202020204" pitchFamily="34" charset="0"/>
            </a:endParaRPr>
          </a:p>
        </p:txBody>
      </p:sp>
      <p:sp>
        <p:nvSpPr>
          <p:cNvPr id="22" name="Rectangle: Rounded Corners 21">
            <a:extLst>
              <a:ext uri="{FF2B5EF4-FFF2-40B4-BE49-F238E27FC236}">
                <a16:creationId xmlns:a16="http://schemas.microsoft.com/office/drawing/2014/main" id="{FB112946-6F11-9F68-C1EE-4CDCFD22CD74}"/>
              </a:ext>
            </a:extLst>
          </p:cNvPr>
          <p:cNvSpPr/>
          <p:nvPr/>
        </p:nvSpPr>
        <p:spPr>
          <a:xfrm>
            <a:off x="9906000" y="3175000"/>
            <a:ext cx="7493000" cy="2794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0D791B4-2985-5D42-BD97-C3A46AC3D754}"/>
              </a:ext>
            </a:extLst>
          </p:cNvPr>
          <p:cNvSpPr/>
          <p:nvPr/>
        </p:nvSpPr>
        <p:spPr>
          <a:xfrm>
            <a:off x="9906000" y="3175000"/>
            <a:ext cx="101600" cy="27940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44BA338-5E03-F37D-E14F-6D9655F5D798}"/>
              </a:ext>
            </a:extLst>
          </p:cNvPr>
          <p:cNvSpPr/>
          <p:nvPr/>
        </p:nvSpPr>
        <p:spPr>
          <a:xfrm>
            <a:off x="10210800" y="3403600"/>
            <a:ext cx="7874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635E09C-491A-ADB1-3788-A1D4D04F590E}"/>
              </a:ext>
            </a:extLst>
          </p:cNvPr>
          <p:cNvSpPr txBox="1"/>
          <p:nvPr/>
        </p:nvSpPr>
        <p:spPr>
          <a:xfrm>
            <a:off x="103124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JSON</a:t>
            </a:r>
          </a:p>
        </p:txBody>
      </p:sp>
      <p:sp>
        <p:nvSpPr>
          <p:cNvPr id="26" name="TextBox 25">
            <a:extLst>
              <a:ext uri="{FF2B5EF4-FFF2-40B4-BE49-F238E27FC236}">
                <a16:creationId xmlns:a16="http://schemas.microsoft.com/office/drawing/2014/main" id="{06F8DF41-9B68-EC4F-1BCE-DDEA37F14259}"/>
              </a:ext>
            </a:extLst>
          </p:cNvPr>
          <p:cNvSpPr txBox="1"/>
          <p:nvPr/>
        </p:nvSpPr>
        <p:spPr>
          <a:xfrm>
            <a:off x="10210800" y="4013200"/>
            <a:ext cx="688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JSONB fields</a:t>
            </a:r>
          </a:p>
        </p:txBody>
      </p:sp>
      <p:sp>
        <p:nvSpPr>
          <p:cNvPr id="27" name="TextBox 26">
            <a:extLst>
              <a:ext uri="{FF2B5EF4-FFF2-40B4-BE49-F238E27FC236}">
                <a16:creationId xmlns:a16="http://schemas.microsoft.com/office/drawing/2014/main" id="{B05D77F7-CD3E-B057-8A26-14CF609DBC30}"/>
              </a:ext>
            </a:extLst>
          </p:cNvPr>
          <p:cNvSpPr txBox="1"/>
          <p:nvPr/>
        </p:nvSpPr>
        <p:spPr>
          <a:xfrm>
            <a:off x="10210800" y="4622800"/>
            <a:ext cx="688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Rare time stats, count stats, feeder state và nozzle state linh hoạt.</a:t>
            </a:r>
          </a:p>
        </p:txBody>
      </p:sp>
      <p:cxnSp>
        <p:nvCxnSpPr>
          <p:cNvPr id="28" name="Straight Connector 27">
            <a:extLst>
              <a:ext uri="{FF2B5EF4-FFF2-40B4-BE49-F238E27FC236}">
                <a16:creationId xmlns:a16="http://schemas.microsoft.com/office/drawing/2014/main" id="{BED19DF3-31DD-638C-53C7-5C6C2E28B5EF}"/>
              </a:ext>
            </a:extLst>
          </p:cNvPr>
          <p:cNvCxnSpPr/>
          <p:nvPr/>
        </p:nvCxnSpPr>
        <p:spPr>
          <a:xfrm>
            <a:off x="8382000" y="4572000"/>
            <a:ext cx="152400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3BF77727-A604-2C5A-F147-C16C1E3C01BC}"/>
              </a:ext>
            </a:extLst>
          </p:cNvPr>
          <p:cNvSpPr/>
          <p:nvPr/>
        </p:nvSpPr>
        <p:spPr>
          <a:xfrm>
            <a:off x="8940800" y="4127500"/>
            <a:ext cx="914400" cy="9144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C2774B0-89A9-9450-3838-25AC299DB93B}"/>
              </a:ext>
            </a:extLst>
          </p:cNvPr>
          <p:cNvSpPr txBox="1"/>
          <p:nvPr/>
        </p:nvSpPr>
        <p:spPr>
          <a:xfrm>
            <a:off x="9194800" y="4318000"/>
            <a:ext cx="406400" cy="430887"/>
          </a:xfrm>
          <a:prstGeom prst="rect">
            <a:avLst/>
          </a:prstGeom>
          <a:noFill/>
        </p:spPr>
        <p:txBody>
          <a:bodyPr vert="horz" wrap="square" lIns="0" tIns="0" rIns="0" bIns="0" rtlCol="0">
            <a:spAutoFit/>
          </a:bodyPr>
          <a:lstStyle/>
          <a:p>
            <a:pPr algn="ctr"/>
            <a:r>
              <a:rPr lang="en-US" sz="2800" b="1">
                <a:solidFill>
                  <a:srgbClr val="FFFFFF"/>
                </a:solidFill>
                <a:latin typeface="Arial" panose="020B0604020202020204" pitchFamily="34" charset="0"/>
              </a:rPr>
              <a:t>+</a:t>
            </a:r>
          </a:p>
        </p:txBody>
      </p:sp>
      <p:sp>
        <p:nvSpPr>
          <p:cNvPr id="31" name="Oval 30">
            <a:extLst>
              <a:ext uri="{FF2B5EF4-FFF2-40B4-BE49-F238E27FC236}">
                <a16:creationId xmlns:a16="http://schemas.microsoft.com/office/drawing/2014/main" id="{330AD067-202B-FF86-2CBB-BFAF4F3FA91E}"/>
              </a:ext>
            </a:extLst>
          </p:cNvPr>
          <p:cNvSpPr/>
          <p:nvPr/>
        </p:nvSpPr>
        <p:spPr>
          <a:xfrm>
            <a:off x="3111500" y="7023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6EC42C9E-26D0-FA7A-6E46-CB487CCBCE20}"/>
              </a:ext>
            </a:extLst>
          </p:cNvPr>
          <p:cNvSpPr txBox="1"/>
          <p:nvPr/>
        </p:nvSpPr>
        <p:spPr>
          <a:xfrm>
            <a:off x="3416300" y="69215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Foreign keys bảo toàn quan hệ</a:t>
            </a:r>
          </a:p>
        </p:txBody>
      </p:sp>
      <p:sp>
        <p:nvSpPr>
          <p:cNvPr id="33" name="Oval 32">
            <a:extLst>
              <a:ext uri="{FF2B5EF4-FFF2-40B4-BE49-F238E27FC236}">
                <a16:creationId xmlns:a16="http://schemas.microsoft.com/office/drawing/2014/main" id="{25866D9F-BF9C-4589-9AF0-BE0E867701B0}"/>
              </a:ext>
            </a:extLst>
          </p:cNvPr>
          <p:cNvSpPr/>
          <p:nvPr/>
        </p:nvSpPr>
        <p:spPr>
          <a:xfrm>
            <a:off x="3111500" y="76835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21D8042-0D09-46FD-E82B-EC9B6026C725}"/>
              </a:ext>
            </a:extLst>
          </p:cNvPr>
          <p:cNvSpPr txBox="1"/>
          <p:nvPr/>
        </p:nvSpPr>
        <p:spPr>
          <a:xfrm>
            <a:off x="3416300" y="75819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ON DELETE CASCADE cho detail</a:t>
            </a:r>
          </a:p>
        </p:txBody>
      </p:sp>
      <p:sp>
        <p:nvSpPr>
          <p:cNvPr id="35" name="Oval 34">
            <a:extLst>
              <a:ext uri="{FF2B5EF4-FFF2-40B4-BE49-F238E27FC236}">
                <a16:creationId xmlns:a16="http://schemas.microsoft.com/office/drawing/2014/main" id="{EE100C3D-9FC9-B633-9311-00146BFDF9A6}"/>
              </a:ext>
            </a:extLst>
          </p:cNvPr>
          <p:cNvSpPr/>
          <p:nvPr/>
        </p:nvSpPr>
        <p:spPr>
          <a:xfrm>
            <a:off x="3111500" y="83439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FAB6E5D-B809-9E78-E070-E7AD2AF441F7}"/>
              </a:ext>
            </a:extLst>
          </p:cNvPr>
          <p:cNvSpPr txBox="1"/>
          <p:nvPr/>
        </p:nvSpPr>
        <p:spPr>
          <a:xfrm>
            <a:off x="3416300" y="82423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Index theo date, machine, MJS, lot, report và address</a:t>
            </a:r>
          </a:p>
        </p:txBody>
      </p:sp>
      <p:sp>
        <p:nvSpPr>
          <p:cNvPr id="37" name="Rectangle 36">
            <a:extLst>
              <a:ext uri="{FF2B5EF4-FFF2-40B4-BE49-F238E27FC236}">
                <a16:creationId xmlns:a16="http://schemas.microsoft.com/office/drawing/2014/main" id="{42D7C186-1507-3782-EDAA-205E895045F2}"/>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5BB15F8A-9480-B2AB-CA32-B525DEE1AAAC}"/>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3807264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32840F71-0BAA-91FC-59DE-6BA9F2CE056B}"/>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3" name="TextBox 2">
            <a:extLst>
              <a:ext uri="{FF2B5EF4-FFF2-40B4-BE49-F238E27FC236}">
                <a16:creationId xmlns:a16="http://schemas.microsoft.com/office/drawing/2014/main" id="{FF965B40-F246-7050-5CA9-BA73558C3596}"/>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A67BF4C5-159D-BC8B-148A-E1E38E5CC98E}"/>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2F825B56-D178-AA65-ACB3-1354E7283475}"/>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69DE4406-27A4-C6FC-59A8-CDFBB24FB50C}"/>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DATABASE</a:t>
            </a:r>
          </a:p>
        </p:txBody>
      </p:sp>
      <p:cxnSp>
        <p:nvCxnSpPr>
          <p:cNvPr id="7" name="Straight Connector 6">
            <a:extLst>
              <a:ext uri="{FF2B5EF4-FFF2-40B4-BE49-F238E27FC236}">
                <a16:creationId xmlns:a16="http://schemas.microsoft.com/office/drawing/2014/main" id="{5CB4B7F4-1718-4CD2-FE70-C95099D497D2}"/>
              </a:ext>
            </a:extLst>
          </p:cNvPr>
          <p:cNvCxnSpPr/>
          <p:nvPr/>
        </p:nvCxnSpPr>
        <p:spPr>
          <a:xfrm>
            <a:off x="8026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85A8FD65-1A4F-E2DE-D8CB-E305B736DCC7}"/>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9" name="TextBox 8">
            <a:extLst>
              <a:ext uri="{FF2B5EF4-FFF2-40B4-BE49-F238E27FC236}">
                <a16:creationId xmlns:a16="http://schemas.microsoft.com/office/drawing/2014/main" id="{6B833362-2468-5FB8-E3AB-160BE0513E37}"/>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AEADDF04-CEC4-46AA-6AA9-523BA742FBEE}"/>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16</a:t>
            </a:r>
          </a:p>
        </p:txBody>
      </p:sp>
      <p:sp>
        <p:nvSpPr>
          <p:cNvPr id="11" name="TextBox 10">
            <a:extLst>
              <a:ext uri="{FF2B5EF4-FFF2-40B4-BE49-F238E27FC236}">
                <a16:creationId xmlns:a16="http://schemas.microsoft.com/office/drawing/2014/main" id="{D89DCCB3-9750-4491-36FF-386F4694247B}"/>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STORED PROCEDURE</a:t>
            </a:r>
          </a:p>
        </p:txBody>
      </p:sp>
      <p:sp>
        <p:nvSpPr>
          <p:cNvPr id="12" name="TextBox 11">
            <a:extLst>
              <a:ext uri="{FF2B5EF4-FFF2-40B4-BE49-F238E27FC236}">
                <a16:creationId xmlns:a16="http://schemas.microsoft.com/office/drawing/2014/main" id="{52ADDAE5-B91A-C7F1-3FF4-A1CDFB78E304}"/>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Một điểm ghi dữ liệu duy nhất</a:t>
            </a:r>
          </a:p>
        </p:txBody>
      </p:sp>
      <p:cxnSp>
        <p:nvCxnSpPr>
          <p:cNvPr id="13" name="Straight Connector 12">
            <a:extLst>
              <a:ext uri="{FF2B5EF4-FFF2-40B4-BE49-F238E27FC236}">
                <a16:creationId xmlns:a16="http://schemas.microsoft.com/office/drawing/2014/main" id="{C408F4AE-FD88-59F9-7227-EDB7FB2B8D4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D346E9C-E896-CA27-FD2D-5738092B3778}"/>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9DED75F6-8FC8-8F98-61C5-8DD088A61633}"/>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16</a:t>
            </a:r>
          </a:p>
        </p:txBody>
      </p:sp>
      <p:sp>
        <p:nvSpPr>
          <p:cNvPr id="16" name="Rectangle: Rounded Corners 15">
            <a:extLst>
              <a:ext uri="{FF2B5EF4-FFF2-40B4-BE49-F238E27FC236}">
                <a16:creationId xmlns:a16="http://schemas.microsoft.com/office/drawing/2014/main" id="{F07B6238-8DBF-E634-7596-322BBAF61DC5}"/>
              </a:ext>
            </a:extLst>
          </p:cNvPr>
          <p:cNvSpPr/>
          <p:nvPr/>
        </p:nvSpPr>
        <p:spPr>
          <a:xfrm>
            <a:off x="889000" y="3022600"/>
            <a:ext cx="1143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F83D9E7-C166-49A7-39FC-DFC3B4CE7BDC}"/>
              </a:ext>
            </a:extLst>
          </p:cNvPr>
          <p:cNvSpPr txBox="1"/>
          <p:nvPr/>
        </p:nvSpPr>
        <p:spPr>
          <a:xfrm>
            <a:off x="990600" y="3098800"/>
            <a:ext cx="939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CALL</a:t>
            </a:r>
          </a:p>
        </p:txBody>
      </p:sp>
      <p:sp>
        <p:nvSpPr>
          <p:cNvPr id="18" name="TextBox 17">
            <a:extLst>
              <a:ext uri="{FF2B5EF4-FFF2-40B4-BE49-F238E27FC236}">
                <a16:creationId xmlns:a16="http://schemas.microsoft.com/office/drawing/2014/main" id="{368A8E8A-4C40-0FD5-A1EE-D7948092F3B7}"/>
              </a:ext>
            </a:extLst>
          </p:cNvPr>
          <p:cNvSpPr txBox="1"/>
          <p:nvPr/>
        </p:nvSpPr>
        <p:spPr>
          <a:xfrm>
            <a:off x="2286000" y="3022600"/>
            <a:ext cx="8890000" cy="369332"/>
          </a:xfrm>
          <a:prstGeom prst="rect">
            <a:avLst/>
          </a:prstGeom>
          <a:noFill/>
        </p:spPr>
        <p:txBody>
          <a:bodyPr vert="horz" wrap="square" lIns="0" tIns="0" rIns="0" bIns="0" rtlCol="0">
            <a:spAutoFit/>
          </a:bodyPr>
          <a:lstStyle/>
          <a:p>
            <a:r>
              <a:rPr lang="en-US" sz="2400" b="1">
                <a:solidFill>
                  <a:srgbClr val="FFFFFF"/>
                </a:solidFill>
                <a:latin typeface="Arial" panose="020B0604020202020204" pitchFamily="34" charset="0"/>
              </a:rPr>
              <a:t>insert_full_production_report(payload JSONB)</a:t>
            </a:r>
          </a:p>
        </p:txBody>
      </p:sp>
      <p:sp>
        <p:nvSpPr>
          <p:cNvPr id="19" name="Oval 18">
            <a:extLst>
              <a:ext uri="{FF2B5EF4-FFF2-40B4-BE49-F238E27FC236}">
                <a16:creationId xmlns:a16="http://schemas.microsoft.com/office/drawing/2014/main" id="{5AD50609-66ED-DBA2-41E9-8D3C627567D0}"/>
              </a:ext>
            </a:extLst>
          </p:cNvPr>
          <p:cNvSpPr/>
          <p:nvPr/>
        </p:nvSpPr>
        <p:spPr>
          <a:xfrm>
            <a:off x="1714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F033CD8-6620-FD53-99F4-4A9F1E339979}"/>
              </a:ext>
            </a:extLst>
          </p:cNvPr>
          <p:cNvSpPr txBox="1"/>
          <p:nvPr/>
        </p:nvSpPr>
        <p:spPr>
          <a:xfrm>
            <a:off x="1930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21" name="TextBox 20">
            <a:extLst>
              <a:ext uri="{FF2B5EF4-FFF2-40B4-BE49-F238E27FC236}">
                <a16:creationId xmlns:a16="http://schemas.microsoft.com/office/drawing/2014/main" id="{88DA2B39-FDDC-319F-61EA-B6444D46D74E}"/>
              </a:ext>
            </a:extLst>
          </p:cNvPr>
          <p:cNvSpPr txBox="1"/>
          <p:nvPr/>
        </p:nvSpPr>
        <p:spPr>
          <a:xfrm>
            <a:off x="889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Upsert máy</a:t>
            </a:r>
          </a:p>
        </p:txBody>
      </p:sp>
      <p:cxnSp>
        <p:nvCxnSpPr>
          <p:cNvPr id="22" name="Straight Connector 21">
            <a:extLst>
              <a:ext uri="{FF2B5EF4-FFF2-40B4-BE49-F238E27FC236}">
                <a16:creationId xmlns:a16="http://schemas.microsoft.com/office/drawing/2014/main" id="{7EE327F0-4B7A-4F7B-226E-E67B169AC131}"/>
              </a:ext>
            </a:extLst>
          </p:cNvPr>
          <p:cNvCxnSpPr/>
          <p:nvPr/>
        </p:nvCxnSpPr>
        <p:spPr>
          <a:xfrm>
            <a:off x="2667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FA15386F-05A2-6D4F-A496-F334234904A7}"/>
              </a:ext>
            </a:extLst>
          </p:cNvPr>
          <p:cNvSpPr/>
          <p:nvPr/>
        </p:nvSpPr>
        <p:spPr>
          <a:xfrm>
            <a:off x="5016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C5E0E12-0E1F-CD6B-12DB-0D0137DAA896}"/>
              </a:ext>
            </a:extLst>
          </p:cNvPr>
          <p:cNvSpPr txBox="1"/>
          <p:nvPr/>
        </p:nvSpPr>
        <p:spPr>
          <a:xfrm>
            <a:off x="5232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5F45DC14-7629-E0E7-515C-4A121FEDB47B}"/>
              </a:ext>
            </a:extLst>
          </p:cNvPr>
          <p:cNvSpPr txBox="1"/>
          <p:nvPr/>
        </p:nvSpPr>
        <p:spPr>
          <a:xfrm>
            <a:off x="4191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report</a:t>
            </a:r>
          </a:p>
        </p:txBody>
      </p:sp>
      <p:cxnSp>
        <p:nvCxnSpPr>
          <p:cNvPr id="26" name="Straight Connector 25">
            <a:extLst>
              <a:ext uri="{FF2B5EF4-FFF2-40B4-BE49-F238E27FC236}">
                <a16:creationId xmlns:a16="http://schemas.microsoft.com/office/drawing/2014/main" id="{EB21EE7A-D0CB-C5B1-21F4-620AB174E966}"/>
              </a:ext>
            </a:extLst>
          </p:cNvPr>
          <p:cNvCxnSpPr/>
          <p:nvPr/>
        </p:nvCxnSpPr>
        <p:spPr>
          <a:xfrm>
            <a:off x="5969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C54A3138-FBE3-0E2E-207C-07E0646DC7F5}"/>
              </a:ext>
            </a:extLst>
          </p:cNvPr>
          <p:cNvSpPr/>
          <p:nvPr/>
        </p:nvSpPr>
        <p:spPr>
          <a:xfrm>
            <a:off x="8318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D8E492F-8A7A-0F21-0734-8AD2C8E13500}"/>
              </a:ext>
            </a:extLst>
          </p:cNvPr>
          <p:cNvSpPr txBox="1"/>
          <p:nvPr/>
        </p:nvSpPr>
        <p:spPr>
          <a:xfrm>
            <a:off x="8534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9" name="TextBox 28">
            <a:extLst>
              <a:ext uri="{FF2B5EF4-FFF2-40B4-BE49-F238E27FC236}">
                <a16:creationId xmlns:a16="http://schemas.microsoft.com/office/drawing/2014/main" id="{FBA8572F-9E6F-4E87-52AB-11A12BE25D36}"/>
              </a:ext>
            </a:extLst>
          </p:cNvPr>
          <p:cNvSpPr txBox="1"/>
          <p:nvPr/>
        </p:nvSpPr>
        <p:spPr>
          <a:xfrm>
            <a:off x="7493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feeders</a:t>
            </a:r>
          </a:p>
        </p:txBody>
      </p:sp>
      <p:cxnSp>
        <p:nvCxnSpPr>
          <p:cNvPr id="30" name="Straight Connector 29">
            <a:extLst>
              <a:ext uri="{FF2B5EF4-FFF2-40B4-BE49-F238E27FC236}">
                <a16:creationId xmlns:a16="http://schemas.microsoft.com/office/drawing/2014/main" id="{2ADC7831-BAEF-915C-975A-1E7FAF50E693}"/>
              </a:ext>
            </a:extLst>
          </p:cNvPr>
          <p:cNvCxnSpPr/>
          <p:nvPr/>
        </p:nvCxnSpPr>
        <p:spPr>
          <a:xfrm>
            <a:off x="9271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01428EB3-7CBF-0A22-AE73-240E147094A0}"/>
              </a:ext>
            </a:extLst>
          </p:cNvPr>
          <p:cNvSpPr/>
          <p:nvPr/>
        </p:nvSpPr>
        <p:spPr>
          <a:xfrm>
            <a:off x="11620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760EB05-C0ED-B078-8D08-2F6F743EF299}"/>
              </a:ext>
            </a:extLst>
          </p:cNvPr>
          <p:cNvSpPr txBox="1"/>
          <p:nvPr/>
        </p:nvSpPr>
        <p:spPr>
          <a:xfrm>
            <a:off x="11836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3" name="TextBox 32">
            <a:extLst>
              <a:ext uri="{FF2B5EF4-FFF2-40B4-BE49-F238E27FC236}">
                <a16:creationId xmlns:a16="http://schemas.microsoft.com/office/drawing/2014/main" id="{DEA72E8C-2194-A5C5-E20F-C011C7895759}"/>
              </a:ext>
            </a:extLst>
          </p:cNvPr>
          <p:cNvSpPr txBox="1"/>
          <p:nvPr/>
        </p:nvSpPr>
        <p:spPr>
          <a:xfrm>
            <a:off x="10795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nozzles</a:t>
            </a:r>
          </a:p>
        </p:txBody>
      </p:sp>
      <p:cxnSp>
        <p:nvCxnSpPr>
          <p:cNvPr id="34" name="Straight Connector 33">
            <a:extLst>
              <a:ext uri="{FF2B5EF4-FFF2-40B4-BE49-F238E27FC236}">
                <a16:creationId xmlns:a16="http://schemas.microsoft.com/office/drawing/2014/main" id="{339AB58B-9D13-6360-35D4-7FCC1AA12F57}"/>
              </a:ext>
            </a:extLst>
          </p:cNvPr>
          <p:cNvCxnSpPr/>
          <p:nvPr/>
        </p:nvCxnSpPr>
        <p:spPr>
          <a:xfrm>
            <a:off x="12573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A0A32D9C-1F3B-6958-7F60-D451E45A0FDC}"/>
              </a:ext>
            </a:extLst>
          </p:cNvPr>
          <p:cNvSpPr/>
          <p:nvPr/>
        </p:nvSpPr>
        <p:spPr>
          <a:xfrm>
            <a:off x="14922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AFC963BC-5F95-FFBF-D808-F392C4C9C43F}"/>
              </a:ext>
            </a:extLst>
          </p:cNvPr>
          <p:cNvSpPr txBox="1"/>
          <p:nvPr/>
        </p:nvSpPr>
        <p:spPr>
          <a:xfrm>
            <a:off x="15138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7" name="TextBox 36">
            <a:extLst>
              <a:ext uri="{FF2B5EF4-FFF2-40B4-BE49-F238E27FC236}">
                <a16:creationId xmlns:a16="http://schemas.microsoft.com/office/drawing/2014/main" id="{62FA3D83-CF80-CA15-9402-76CD473A975B}"/>
              </a:ext>
            </a:extLst>
          </p:cNvPr>
          <p:cNvSpPr txBox="1"/>
          <p:nvPr/>
        </p:nvSpPr>
        <p:spPr>
          <a:xfrm>
            <a:off x="14097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Update counter state</a:t>
            </a:r>
          </a:p>
        </p:txBody>
      </p:sp>
      <p:sp>
        <p:nvSpPr>
          <p:cNvPr id="38" name="Rectangle: Rounded Corners 37">
            <a:extLst>
              <a:ext uri="{FF2B5EF4-FFF2-40B4-BE49-F238E27FC236}">
                <a16:creationId xmlns:a16="http://schemas.microsoft.com/office/drawing/2014/main" id="{58D2F634-616D-086E-B7C2-B18DC800AB67}"/>
              </a:ext>
            </a:extLst>
          </p:cNvPr>
          <p:cNvSpPr/>
          <p:nvPr/>
        </p:nvSpPr>
        <p:spPr>
          <a:xfrm>
            <a:off x="889000" y="7175500"/>
            <a:ext cx="16510000" cy="9398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4DA04F17-5939-1659-BD2D-2755DD3CE78A}"/>
              </a:ext>
            </a:extLst>
          </p:cNvPr>
          <p:cNvSpPr txBox="1"/>
          <p:nvPr/>
        </p:nvSpPr>
        <p:spPr>
          <a:xfrm>
            <a:off x="1397000" y="7442200"/>
            <a:ext cx="15494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Node-RED chuẩn hóa dữ liệu; PostgreSQL đảm nhiệm liên kết, ghi và cập nhật state.</a:t>
            </a:r>
          </a:p>
        </p:txBody>
      </p:sp>
      <p:sp>
        <p:nvSpPr>
          <p:cNvPr id="40" name="Rectangle 39">
            <a:extLst>
              <a:ext uri="{FF2B5EF4-FFF2-40B4-BE49-F238E27FC236}">
                <a16:creationId xmlns:a16="http://schemas.microsoft.com/office/drawing/2014/main" id="{D6220137-2A60-D8C7-D57D-74D9AB2B3297}"/>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8D6EC15D-AB76-74D1-260F-A3536A8FB5D9}"/>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2727447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3A22F8F1-08E2-332D-7763-51BD023F42DC}"/>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945E6EA6-48E8-AB93-4FF5-7F6F36E85965}"/>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F524406C-A28E-61A3-7ECE-F17626D3CE86}"/>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D1D634C8-73F6-9630-5413-88C3FA6EAFD5}"/>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474EBBF1-31F2-6C3C-6294-1CCFDD1EFFD6}"/>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32744AEF-450E-4C9C-3A13-DA98A9B40A58}"/>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8" name="Straight Connector 7">
            <a:extLst>
              <a:ext uri="{FF2B5EF4-FFF2-40B4-BE49-F238E27FC236}">
                <a16:creationId xmlns:a16="http://schemas.microsoft.com/office/drawing/2014/main" id="{C55A01E9-6083-FAEA-2790-7EE493D127E0}"/>
              </a:ext>
            </a:extLst>
          </p:cNvPr>
          <p:cNvCxnSpPr/>
          <p:nvPr/>
        </p:nvCxnSpPr>
        <p:spPr>
          <a:xfrm>
            <a:off x="10121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F0BB3BE-CD35-4086-D4E3-8C04E6EB0547}"/>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693D013D-62E8-BDF5-6285-4FBF49D43085}"/>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17</a:t>
            </a:r>
          </a:p>
        </p:txBody>
      </p:sp>
      <p:sp>
        <p:nvSpPr>
          <p:cNvPr id="11" name="TextBox 10">
            <a:extLst>
              <a:ext uri="{FF2B5EF4-FFF2-40B4-BE49-F238E27FC236}">
                <a16:creationId xmlns:a16="http://schemas.microsoft.com/office/drawing/2014/main" id="{0915E737-2BD9-F3A1-92E0-AC1F6448A47E}"/>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7FCE975E-5695-73B1-B6F0-1A87C933E2C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ACBA316-EECA-3FB4-AF9C-9C10A31C864B}"/>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5D7269D5-8595-BF0D-FB5B-4675C69B5F5A}"/>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17</a:t>
            </a:r>
          </a:p>
        </p:txBody>
      </p:sp>
      <p:sp>
        <p:nvSpPr>
          <p:cNvPr id="15" name="TextBox 14">
            <a:extLst>
              <a:ext uri="{FF2B5EF4-FFF2-40B4-BE49-F238E27FC236}">
                <a16:creationId xmlns:a16="http://schemas.microsoft.com/office/drawing/2014/main" id="{C214AB92-0BD2-6073-2B49-1AD18D8BB74A}"/>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03</a:t>
            </a:r>
          </a:p>
        </p:txBody>
      </p:sp>
      <p:cxnSp>
        <p:nvCxnSpPr>
          <p:cNvPr id="16" name="Straight Connector 15">
            <a:extLst>
              <a:ext uri="{FF2B5EF4-FFF2-40B4-BE49-F238E27FC236}">
                <a16:creationId xmlns:a16="http://schemas.microsoft.com/office/drawing/2014/main" id="{7F1806BC-CC98-989C-C565-170EE177097C}"/>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7CE40C3-D566-85AF-6316-CB3614D4C95B}"/>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REPORTING APP</a:t>
            </a:r>
          </a:p>
        </p:txBody>
      </p:sp>
      <p:sp>
        <p:nvSpPr>
          <p:cNvPr id="18" name="TextBox 17">
            <a:extLst>
              <a:ext uri="{FF2B5EF4-FFF2-40B4-BE49-F238E27FC236}">
                <a16:creationId xmlns:a16="http://schemas.microsoft.com/office/drawing/2014/main" id="{279A33D3-BF7B-ED18-C91B-CCF81ECEEF74}"/>
              </a:ext>
            </a:extLst>
          </p:cNvPr>
          <p:cNvSpPr txBox="1"/>
          <p:nvPr/>
        </p:nvSpPr>
        <p:spPr>
          <a:xfrm>
            <a:off x="5257800" y="4673600"/>
            <a:ext cx="9906000" cy="353943"/>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Ứng dụng biến dữ liệu PostgreSQL thành dashboard, drill-down và export.</a:t>
            </a:r>
          </a:p>
        </p:txBody>
      </p:sp>
      <p:sp>
        <p:nvSpPr>
          <p:cNvPr id="19" name="TextBox 18">
            <a:extLst>
              <a:ext uri="{FF2B5EF4-FFF2-40B4-BE49-F238E27FC236}">
                <a16:creationId xmlns:a16="http://schemas.microsoft.com/office/drawing/2014/main" id="{10A3EC80-0F80-FB60-269A-15549764C6B1}"/>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50239FC3-1965-1FDF-D262-54D65925F4DC}"/>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D0218F-9AF6-FB1B-4A47-218D438302F3}"/>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D84B13F-4A31-C0FE-BD79-E52663B06C62}"/>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45A7093-6453-CA85-F94A-94BB67C3B3D8}"/>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F141F41-CF79-AB7C-AC65-735C7DE45517}"/>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E37D8DE-A4F9-7D1E-C477-13DC7AB8ED32}"/>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C20E114-58A3-609D-8376-13F4602A9D81}"/>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3132774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86F8D57B-2123-EE43-D5AC-9908C54A342D}"/>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4DE2FA76-20AF-7AD6-C2F0-DF2A55D46971}"/>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9A7DDDAC-976D-B917-55A4-1EF6CC15984A}"/>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FACCD15D-9F11-03C5-3809-C4724321EF4C}"/>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46E32E3F-8775-C7FA-E6B2-42D376FF403D}"/>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D06DCAF9-FEFE-7916-C4EC-EB2C091F4113}"/>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8" name="Straight Connector 7">
            <a:extLst>
              <a:ext uri="{FF2B5EF4-FFF2-40B4-BE49-F238E27FC236}">
                <a16:creationId xmlns:a16="http://schemas.microsoft.com/office/drawing/2014/main" id="{CDD2D312-F9B0-FC7D-3F78-AF96EDA1A9EF}"/>
              </a:ext>
            </a:extLst>
          </p:cNvPr>
          <p:cNvCxnSpPr/>
          <p:nvPr/>
        </p:nvCxnSpPr>
        <p:spPr>
          <a:xfrm>
            <a:off x="10121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24B4B6A-AB9A-E1D6-7BD9-DCF950F3CC94}"/>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A5719040-5D43-8876-7816-035EF3115243}"/>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18</a:t>
            </a:r>
          </a:p>
        </p:txBody>
      </p:sp>
      <p:sp>
        <p:nvSpPr>
          <p:cNvPr id="11" name="TextBox 10">
            <a:extLst>
              <a:ext uri="{FF2B5EF4-FFF2-40B4-BE49-F238E27FC236}">
                <a16:creationId xmlns:a16="http://schemas.microsoft.com/office/drawing/2014/main" id="{818C983B-06F7-4BAA-8384-3590CA4FB3A5}"/>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APPLICATION ARCHITECTURE</a:t>
            </a:r>
          </a:p>
        </p:txBody>
      </p:sp>
      <p:sp>
        <p:nvSpPr>
          <p:cNvPr id="12" name="TextBox 11">
            <a:extLst>
              <a:ext uri="{FF2B5EF4-FFF2-40B4-BE49-F238E27FC236}">
                <a16:creationId xmlns:a16="http://schemas.microsoft.com/office/drawing/2014/main" id="{0662E4DD-9C6E-32F3-D56D-E631F53A3DCE}"/>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Tech stack tối ưu cho báo cáo web</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FB62BA2B-880D-A2D3-5A80-EE0CB0FC080C}"/>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201E390-58D5-0275-72C2-79C326B971F2}"/>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4BF34E32-191A-3425-2820-E05BE0431C9D}"/>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18</a:t>
            </a:r>
          </a:p>
        </p:txBody>
      </p:sp>
      <p:sp>
        <p:nvSpPr>
          <p:cNvPr id="16" name="Rectangle: Rounded Corners 15">
            <a:extLst>
              <a:ext uri="{FF2B5EF4-FFF2-40B4-BE49-F238E27FC236}">
                <a16:creationId xmlns:a16="http://schemas.microsoft.com/office/drawing/2014/main" id="{0196AB7A-B88D-B5BE-12F0-774006CF81A7}"/>
              </a:ext>
            </a:extLst>
          </p:cNvPr>
          <p:cNvSpPr/>
          <p:nvPr/>
        </p:nvSpPr>
        <p:spPr>
          <a:xfrm>
            <a:off x="889000" y="3048000"/>
            <a:ext cx="4953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963C5822-AAB5-3A07-7455-1ED280D3E663}"/>
              </a:ext>
            </a:extLst>
          </p:cNvPr>
          <p:cNvSpPr/>
          <p:nvPr/>
        </p:nvSpPr>
        <p:spPr>
          <a:xfrm>
            <a:off x="1168400" y="3302000"/>
            <a:ext cx="13335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2FFA8A2-4D94-0812-20DF-26190F51F705}"/>
              </a:ext>
            </a:extLst>
          </p:cNvPr>
          <p:cNvSpPr txBox="1"/>
          <p:nvPr/>
        </p:nvSpPr>
        <p:spPr>
          <a:xfrm>
            <a:off x="12700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COLLECT</a:t>
            </a:r>
          </a:p>
        </p:txBody>
      </p:sp>
      <p:sp>
        <p:nvSpPr>
          <p:cNvPr id="19" name="TextBox 18">
            <a:extLst>
              <a:ext uri="{FF2B5EF4-FFF2-40B4-BE49-F238E27FC236}">
                <a16:creationId xmlns:a16="http://schemas.microsoft.com/office/drawing/2014/main" id="{5AED7486-32C8-F78E-B002-1A1F1856F2F0}"/>
              </a:ext>
            </a:extLst>
          </p:cNvPr>
          <p:cNvSpPr txBox="1"/>
          <p:nvPr/>
        </p:nvSpPr>
        <p:spPr>
          <a:xfrm>
            <a:off x="1168400" y="4038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SFTP + Node-RED</a:t>
            </a:r>
          </a:p>
        </p:txBody>
      </p:sp>
      <p:sp>
        <p:nvSpPr>
          <p:cNvPr id="20" name="Rectangle: Rounded Corners 19">
            <a:extLst>
              <a:ext uri="{FF2B5EF4-FFF2-40B4-BE49-F238E27FC236}">
                <a16:creationId xmlns:a16="http://schemas.microsoft.com/office/drawing/2014/main" id="{48B44B56-206D-F320-1510-0CCF772029AE}"/>
              </a:ext>
            </a:extLst>
          </p:cNvPr>
          <p:cNvSpPr/>
          <p:nvPr/>
        </p:nvSpPr>
        <p:spPr>
          <a:xfrm>
            <a:off x="6413500" y="3048000"/>
            <a:ext cx="4953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717C8AFC-208E-6A85-3A70-E7F5216DDB08}"/>
              </a:ext>
            </a:extLst>
          </p:cNvPr>
          <p:cNvSpPr/>
          <p:nvPr/>
        </p:nvSpPr>
        <p:spPr>
          <a:xfrm>
            <a:off x="6692900" y="3302000"/>
            <a:ext cx="13335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CB64BE7-FD74-8FC1-BF61-AD89BCEE7981}"/>
              </a:ext>
            </a:extLst>
          </p:cNvPr>
          <p:cNvSpPr txBox="1"/>
          <p:nvPr/>
        </p:nvSpPr>
        <p:spPr>
          <a:xfrm>
            <a:off x="67945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STORE</a:t>
            </a:r>
          </a:p>
        </p:txBody>
      </p:sp>
      <p:sp>
        <p:nvSpPr>
          <p:cNvPr id="23" name="TextBox 22">
            <a:extLst>
              <a:ext uri="{FF2B5EF4-FFF2-40B4-BE49-F238E27FC236}">
                <a16:creationId xmlns:a16="http://schemas.microsoft.com/office/drawing/2014/main" id="{D3FBB836-907A-F0D8-561A-BFABE8A6A765}"/>
              </a:ext>
            </a:extLst>
          </p:cNvPr>
          <p:cNvSpPr txBox="1"/>
          <p:nvPr/>
        </p:nvSpPr>
        <p:spPr>
          <a:xfrm>
            <a:off x="6692900" y="4038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PostgreSQL</a:t>
            </a:r>
          </a:p>
        </p:txBody>
      </p:sp>
      <p:sp>
        <p:nvSpPr>
          <p:cNvPr id="24" name="Rectangle: Rounded Corners 23">
            <a:extLst>
              <a:ext uri="{FF2B5EF4-FFF2-40B4-BE49-F238E27FC236}">
                <a16:creationId xmlns:a16="http://schemas.microsoft.com/office/drawing/2014/main" id="{AD09895B-3830-09C0-E3C2-8B6A3B3D430F}"/>
              </a:ext>
            </a:extLst>
          </p:cNvPr>
          <p:cNvSpPr/>
          <p:nvPr/>
        </p:nvSpPr>
        <p:spPr>
          <a:xfrm>
            <a:off x="11938000" y="3048000"/>
            <a:ext cx="4953000" cy="19050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E37205A2-1E7E-2A2F-D9D6-C3F9FCF393F3}"/>
              </a:ext>
            </a:extLst>
          </p:cNvPr>
          <p:cNvSpPr/>
          <p:nvPr/>
        </p:nvSpPr>
        <p:spPr>
          <a:xfrm>
            <a:off x="12217400" y="3302000"/>
            <a:ext cx="1333500" cy="431800"/>
          </a:xfrm>
          <a:prstGeom prst="roundRect">
            <a:avLst>
              <a:gd name="adj" fmla="val 25000"/>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15575BD-EC1A-3EC6-DBC7-A8CE704F3313}"/>
              </a:ext>
            </a:extLst>
          </p:cNvPr>
          <p:cNvSpPr txBox="1"/>
          <p:nvPr/>
        </p:nvSpPr>
        <p:spPr>
          <a:xfrm>
            <a:off x="123190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BACKEND</a:t>
            </a:r>
          </a:p>
        </p:txBody>
      </p:sp>
      <p:sp>
        <p:nvSpPr>
          <p:cNvPr id="27" name="TextBox 26">
            <a:extLst>
              <a:ext uri="{FF2B5EF4-FFF2-40B4-BE49-F238E27FC236}">
                <a16:creationId xmlns:a16="http://schemas.microsoft.com/office/drawing/2014/main" id="{2F52A7E8-9C7C-5907-4F40-E4BD7828907E}"/>
              </a:ext>
            </a:extLst>
          </p:cNvPr>
          <p:cNvSpPr txBox="1"/>
          <p:nvPr/>
        </p:nvSpPr>
        <p:spPr>
          <a:xfrm>
            <a:off x="12217400" y="4038600"/>
            <a:ext cx="4381500" cy="292388"/>
          </a:xfrm>
          <a:prstGeom prst="rect">
            <a:avLst/>
          </a:prstGeom>
          <a:noFill/>
        </p:spPr>
        <p:txBody>
          <a:bodyPr vert="horz" wrap="square" lIns="0" tIns="0" rIns="0" bIns="0" rtlCol="0">
            <a:spAutoFit/>
          </a:bodyPr>
          <a:lstStyle/>
          <a:p>
            <a:r>
              <a:rPr lang="nl-NL" sz="1900" b="1">
                <a:solidFill>
                  <a:srgbClr val="FFFFFF"/>
                </a:solidFill>
                <a:latin typeface="Arial" panose="020B0604020202020204" pitchFamily="34" charset="0"/>
              </a:rPr>
              <a:t>.NET 9 + ASP.NET Core MVC</a:t>
            </a:r>
            <a:endParaRPr lang="en-US" sz="1900" b="1">
              <a:solidFill>
                <a:srgbClr val="FFFFFF"/>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5BB3A9DF-8FD4-5DE4-B858-93AE12F6DC6D}"/>
              </a:ext>
            </a:extLst>
          </p:cNvPr>
          <p:cNvSpPr/>
          <p:nvPr/>
        </p:nvSpPr>
        <p:spPr>
          <a:xfrm>
            <a:off x="889000" y="5461000"/>
            <a:ext cx="4953000" cy="1905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7BC26C94-A5CE-FA20-EB0B-F590368330BC}"/>
              </a:ext>
            </a:extLst>
          </p:cNvPr>
          <p:cNvSpPr/>
          <p:nvPr/>
        </p:nvSpPr>
        <p:spPr>
          <a:xfrm>
            <a:off x="1168400" y="5715000"/>
            <a:ext cx="13335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496C477-177E-38FF-DA81-AB8EB17F17D4}"/>
              </a:ext>
            </a:extLst>
          </p:cNvPr>
          <p:cNvSpPr txBox="1"/>
          <p:nvPr/>
        </p:nvSpPr>
        <p:spPr>
          <a:xfrm>
            <a:off x="12700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DATA</a:t>
            </a:r>
          </a:p>
        </p:txBody>
      </p:sp>
      <p:sp>
        <p:nvSpPr>
          <p:cNvPr id="31" name="TextBox 30">
            <a:extLst>
              <a:ext uri="{FF2B5EF4-FFF2-40B4-BE49-F238E27FC236}">
                <a16:creationId xmlns:a16="http://schemas.microsoft.com/office/drawing/2014/main" id="{C27E2912-52EB-3912-EDF0-21E64B98EFA6}"/>
              </a:ext>
            </a:extLst>
          </p:cNvPr>
          <p:cNvSpPr txBox="1"/>
          <p:nvPr/>
        </p:nvSpPr>
        <p:spPr>
          <a:xfrm>
            <a:off x="11684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EF Core + Npgsql</a:t>
            </a:r>
          </a:p>
        </p:txBody>
      </p:sp>
      <p:sp>
        <p:nvSpPr>
          <p:cNvPr id="32" name="Rectangle: Rounded Corners 31">
            <a:extLst>
              <a:ext uri="{FF2B5EF4-FFF2-40B4-BE49-F238E27FC236}">
                <a16:creationId xmlns:a16="http://schemas.microsoft.com/office/drawing/2014/main" id="{6725B5F4-49E4-EE8A-68CF-39D53AFE23B7}"/>
              </a:ext>
            </a:extLst>
          </p:cNvPr>
          <p:cNvSpPr/>
          <p:nvPr/>
        </p:nvSpPr>
        <p:spPr>
          <a:xfrm>
            <a:off x="6413500" y="5461000"/>
            <a:ext cx="4953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C3584D3A-7C1C-9276-605C-8DCB21D7D8D2}"/>
              </a:ext>
            </a:extLst>
          </p:cNvPr>
          <p:cNvSpPr/>
          <p:nvPr/>
        </p:nvSpPr>
        <p:spPr>
          <a:xfrm>
            <a:off x="6692900" y="5715000"/>
            <a:ext cx="13335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99B8797-C8CE-36B1-CA1C-B9EB8B0D1BEB}"/>
              </a:ext>
            </a:extLst>
          </p:cNvPr>
          <p:cNvSpPr txBox="1"/>
          <p:nvPr/>
        </p:nvSpPr>
        <p:spPr>
          <a:xfrm>
            <a:off x="67945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FRONTEND</a:t>
            </a:r>
          </a:p>
        </p:txBody>
      </p:sp>
      <p:sp>
        <p:nvSpPr>
          <p:cNvPr id="35" name="TextBox 34">
            <a:extLst>
              <a:ext uri="{FF2B5EF4-FFF2-40B4-BE49-F238E27FC236}">
                <a16:creationId xmlns:a16="http://schemas.microsoft.com/office/drawing/2014/main" id="{2455E852-18D4-E3F8-B510-7F11F114C3AC}"/>
              </a:ext>
            </a:extLst>
          </p:cNvPr>
          <p:cNvSpPr txBox="1"/>
          <p:nvPr/>
        </p:nvSpPr>
        <p:spPr>
          <a:xfrm>
            <a:off x="66929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Razor + Bootstrap + Chart.js</a:t>
            </a:r>
          </a:p>
        </p:txBody>
      </p:sp>
      <p:sp>
        <p:nvSpPr>
          <p:cNvPr id="36" name="Rectangle: Rounded Corners 35">
            <a:extLst>
              <a:ext uri="{FF2B5EF4-FFF2-40B4-BE49-F238E27FC236}">
                <a16:creationId xmlns:a16="http://schemas.microsoft.com/office/drawing/2014/main" id="{71C827FF-45FB-51CF-3E81-20FF2911AE91}"/>
              </a:ext>
            </a:extLst>
          </p:cNvPr>
          <p:cNvSpPr/>
          <p:nvPr/>
        </p:nvSpPr>
        <p:spPr>
          <a:xfrm>
            <a:off x="11938000" y="5461000"/>
            <a:ext cx="4953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C331D6B5-A69C-7657-67D5-E613C093772C}"/>
              </a:ext>
            </a:extLst>
          </p:cNvPr>
          <p:cNvSpPr/>
          <p:nvPr/>
        </p:nvSpPr>
        <p:spPr>
          <a:xfrm>
            <a:off x="12217400" y="5715000"/>
            <a:ext cx="13335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9CBD06FA-0D5F-C5DC-DA90-619A22893246}"/>
              </a:ext>
            </a:extLst>
          </p:cNvPr>
          <p:cNvSpPr txBox="1"/>
          <p:nvPr/>
        </p:nvSpPr>
        <p:spPr>
          <a:xfrm>
            <a:off x="123190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DEPLOY</a:t>
            </a:r>
          </a:p>
        </p:txBody>
      </p:sp>
      <p:sp>
        <p:nvSpPr>
          <p:cNvPr id="39" name="TextBox 38">
            <a:extLst>
              <a:ext uri="{FF2B5EF4-FFF2-40B4-BE49-F238E27FC236}">
                <a16:creationId xmlns:a16="http://schemas.microsoft.com/office/drawing/2014/main" id="{8B9511FF-8835-3972-3DE4-11130AECCECE}"/>
              </a:ext>
            </a:extLst>
          </p:cNvPr>
          <p:cNvSpPr txBox="1"/>
          <p:nvPr/>
        </p:nvSpPr>
        <p:spPr>
          <a:xfrm>
            <a:off x="122174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Docker containers</a:t>
            </a:r>
          </a:p>
        </p:txBody>
      </p:sp>
      <p:sp>
        <p:nvSpPr>
          <p:cNvPr id="40" name="TextBox 39">
            <a:extLst>
              <a:ext uri="{FF2B5EF4-FFF2-40B4-BE49-F238E27FC236}">
                <a16:creationId xmlns:a16="http://schemas.microsoft.com/office/drawing/2014/main" id="{5596C8E1-DB67-36FD-27B4-3E40D75F0149}"/>
              </a:ext>
            </a:extLst>
          </p:cNvPr>
          <p:cNvSpPr txBox="1"/>
          <p:nvPr/>
        </p:nvSpPr>
        <p:spPr>
          <a:xfrm>
            <a:off x="889000" y="8382000"/>
            <a:ext cx="16510000" cy="261610"/>
          </a:xfrm>
          <a:prstGeom prst="rect">
            <a:avLst/>
          </a:prstGeom>
          <a:noFill/>
        </p:spPr>
        <p:txBody>
          <a:bodyPr vert="horz" wrap="square" lIns="0" tIns="0" rIns="0" bIns="0" rtlCol="0">
            <a:spAutoFit/>
          </a:bodyPr>
          <a:lstStyle/>
          <a:p>
            <a:pPr algn="ctr"/>
            <a:r>
              <a:rPr lang="en-US" sz="1700">
                <a:solidFill>
                  <a:srgbClr val="E6F0FA"/>
                </a:solidFill>
                <a:latin typeface="Arial" panose="020B0604020202020204" pitchFamily="34" charset="0"/>
              </a:rPr>
              <a:t>PostgreSQL → report services → MVC controllers → Razor pages → dashboard / table / export</a:t>
            </a:r>
          </a:p>
        </p:txBody>
      </p:sp>
      <p:sp>
        <p:nvSpPr>
          <p:cNvPr id="41" name="Rectangle 40">
            <a:extLst>
              <a:ext uri="{FF2B5EF4-FFF2-40B4-BE49-F238E27FC236}">
                <a16:creationId xmlns:a16="http://schemas.microsoft.com/office/drawing/2014/main" id="{7FC92B20-FF8A-A86B-C6FD-B976E46A0D65}"/>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86288124-EEF0-3999-2393-DDC23534CEC6}"/>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2379939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FAA983F8-0F9F-DDB3-654D-3D41178F53C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B6182F4E-6BF8-33FF-02A1-671964246032}"/>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E43757AB-EE96-A9D3-1DE3-01A2E286BE20}"/>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99C27065-4A5B-F995-806E-2300DB33A4A5}"/>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0C63647D-376F-6146-D0DA-DE9B69539F64}"/>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8A8F528C-4638-F184-38A0-EBEB45666A86}"/>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8" name="Straight Connector 7">
            <a:extLst>
              <a:ext uri="{FF2B5EF4-FFF2-40B4-BE49-F238E27FC236}">
                <a16:creationId xmlns:a16="http://schemas.microsoft.com/office/drawing/2014/main" id="{6795534A-7C6C-B4B4-2DCF-5C842250AD7C}"/>
              </a:ext>
            </a:extLst>
          </p:cNvPr>
          <p:cNvCxnSpPr/>
          <p:nvPr/>
        </p:nvCxnSpPr>
        <p:spPr>
          <a:xfrm>
            <a:off x="10121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CE0E045-6A77-0A39-16F2-C31844F7898A}"/>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E07E4309-179E-FFD9-A803-A0AE7281D75A}"/>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19</a:t>
            </a:r>
          </a:p>
        </p:txBody>
      </p:sp>
      <p:sp>
        <p:nvSpPr>
          <p:cNvPr id="11" name="TextBox 10">
            <a:extLst>
              <a:ext uri="{FF2B5EF4-FFF2-40B4-BE49-F238E27FC236}">
                <a16:creationId xmlns:a16="http://schemas.microsoft.com/office/drawing/2014/main" id="{8B477522-4E4F-3A1A-80EC-CD35621607AD}"/>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REPORT PORTFOLIO</a:t>
            </a:r>
          </a:p>
        </p:txBody>
      </p:sp>
      <p:sp>
        <p:nvSpPr>
          <p:cNvPr id="12" name="TextBox 11">
            <a:extLst>
              <a:ext uri="{FF2B5EF4-FFF2-40B4-BE49-F238E27FC236}">
                <a16:creationId xmlns:a16="http://schemas.microsoft.com/office/drawing/2014/main" id="{4BB8FE09-B6A6-C824-E2DC-8FCB3540073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Chín góc nhìn trên cùng một dữ liệu</a:t>
            </a:r>
          </a:p>
        </p:txBody>
      </p:sp>
      <p:cxnSp>
        <p:nvCxnSpPr>
          <p:cNvPr id="13" name="Straight Connector 12">
            <a:extLst>
              <a:ext uri="{FF2B5EF4-FFF2-40B4-BE49-F238E27FC236}">
                <a16:creationId xmlns:a16="http://schemas.microsoft.com/office/drawing/2014/main" id="{A31D5D39-C750-311A-E191-333ADB3824B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789EE05-A47D-91CC-8B53-E99D0A9A614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7273B31-C42F-E68E-7215-916BCC322F0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19</a:t>
            </a:r>
          </a:p>
        </p:txBody>
      </p:sp>
      <p:sp>
        <p:nvSpPr>
          <p:cNvPr id="16" name="Rectangle: Rounded Corners 15">
            <a:extLst>
              <a:ext uri="{FF2B5EF4-FFF2-40B4-BE49-F238E27FC236}">
                <a16:creationId xmlns:a16="http://schemas.microsoft.com/office/drawing/2014/main" id="{4DFD61E5-595D-5346-8FA5-ACD251D499BD}"/>
              </a:ext>
            </a:extLst>
          </p:cNvPr>
          <p:cNvSpPr/>
          <p:nvPr/>
        </p:nvSpPr>
        <p:spPr>
          <a:xfrm>
            <a:off x="8890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0081178-EB9A-B35D-04ED-1CFB3B52524A}"/>
              </a:ext>
            </a:extLst>
          </p:cNvPr>
          <p:cNvSpPr/>
          <p:nvPr/>
        </p:nvSpPr>
        <p:spPr>
          <a:xfrm>
            <a:off x="11938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F236976-D852-49F9-EAD7-C7B7783C321F}"/>
              </a:ext>
            </a:extLst>
          </p:cNvPr>
          <p:cNvSpPr txBox="1"/>
          <p:nvPr/>
        </p:nvSpPr>
        <p:spPr>
          <a:xfrm>
            <a:off x="12827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01</a:t>
            </a:r>
          </a:p>
        </p:txBody>
      </p:sp>
      <p:sp>
        <p:nvSpPr>
          <p:cNvPr id="19" name="TextBox 18">
            <a:extLst>
              <a:ext uri="{FF2B5EF4-FFF2-40B4-BE49-F238E27FC236}">
                <a16:creationId xmlns:a16="http://schemas.microsoft.com/office/drawing/2014/main" id="{8C9C45B2-A5D2-8D7C-A92D-93134D0BF8B0}"/>
              </a:ext>
            </a:extLst>
          </p:cNvPr>
          <p:cNvSpPr txBox="1"/>
          <p:nvPr/>
        </p:nvSpPr>
        <p:spPr>
          <a:xfrm>
            <a:off x="20320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Overall Dashboard</a:t>
            </a:r>
          </a:p>
        </p:txBody>
      </p:sp>
      <p:sp>
        <p:nvSpPr>
          <p:cNvPr id="20" name="Rectangle: Rounded Corners 19">
            <a:extLst>
              <a:ext uri="{FF2B5EF4-FFF2-40B4-BE49-F238E27FC236}">
                <a16:creationId xmlns:a16="http://schemas.microsoft.com/office/drawing/2014/main" id="{73643BDE-FB33-BE82-1766-2D23E1D2880D}"/>
              </a:ext>
            </a:extLst>
          </p:cNvPr>
          <p:cNvSpPr/>
          <p:nvPr/>
        </p:nvSpPr>
        <p:spPr>
          <a:xfrm>
            <a:off x="64135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59A076B-B339-843A-C3D1-CB51E306CFF2}"/>
              </a:ext>
            </a:extLst>
          </p:cNvPr>
          <p:cNvSpPr/>
          <p:nvPr/>
        </p:nvSpPr>
        <p:spPr>
          <a:xfrm>
            <a:off x="67183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52BC5E9-80AB-0095-C7DE-1698CCD7631B}"/>
              </a:ext>
            </a:extLst>
          </p:cNvPr>
          <p:cNvSpPr txBox="1"/>
          <p:nvPr/>
        </p:nvSpPr>
        <p:spPr>
          <a:xfrm>
            <a:off x="68072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02</a:t>
            </a:r>
          </a:p>
        </p:txBody>
      </p:sp>
      <p:sp>
        <p:nvSpPr>
          <p:cNvPr id="23" name="TextBox 22">
            <a:extLst>
              <a:ext uri="{FF2B5EF4-FFF2-40B4-BE49-F238E27FC236}">
                <a16:creationId xmlns:a16="http://schemas.microsoft.com/office/drawing/2014/main" id="{2A152EE5-34AF-B050-8FDD-537D72001893}"/>
              </a:ext>
            </a:extLst>
          </p:cNvPr>
          <p:cNvSpPr txBox="1"/>
          <p:nvPr/>
        </p:nvSpPr>
        <p:spPr>
          <a:xfrm>
            <a:off x="75565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Board Count</a:t>
            </a:r>
          </a:p>
        </p:txBody>
      </p:sp>
      <p:sp>
        <p:nvSpPr>
          <p:cNvPr id="24" name="Rectangle: Rounded Corners 23">
            <a:extLst>
              <a:ext uri="{FF2B5EF4-FFF2-40B4-BE49-F238E27FC236}">
                <a16:creationId xmlns:a16="http://schemas.microsoft.com/office/drawing/2014/main" id="{00C837D7-B989-FA09-7FA4-A3CC69F43663}"/>
              </a:ext>
            </a:extLst>
          </p:cNvPr>
          <p:cNvSpPr/>
          <p:nvPr/>
        </p:nvSpPr>
        <p:spPr>
          <a:xfrm>
            <a:off x="119380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5C9AF1B-DD75-5EFD-BDA4-82F29BA4A448}"/>
              </a:ext>
            </a:extLst>
          </p:cNvPr>
          <p:cNvSpPr/>
          <p:nvPr/>
        </p:nvSpPr>
        <p:spPr>
          <a:xfrm>
            <a:off x="122428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D131E22-B868-992B-7D9B-74183B725D15}"/>
              </a:ext>
            </a:extLst>
          </p:cNvPr>
          <p:cNvSpPr txBox="1"/>
          <p:nvPr/>
        </p:nvSpPr>
        <p:spPr>
          <a:xfrm>
            <a:off x="123317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03</a:t>
            </a:r>
          </a:p>
        </p:txBody>
      </p:sp>
      <p:sp>
        <p:nvSpPr>
          <p:cNvPr id="27" name="TextBox 26">
            <a:extLst>
              <a:ext uri="{FF2B5EF4-FFF2-40B4-BE49-F238E27FC236}">
                <a16:creationId xmlns:a16="http://schemas.microsoft.com/office/drawing/2014/main" id="{B773DE7E-A1BE-3FCD-7629-C3D024D20131}"/>
              </a:ext>
            </a:extLst>
          </p:cNvPr>
          <p:cNvSpPr txBox="1"/>
          <p:nvPr/>
        </p:nvSpPr>
        <p:spPr>
          <a:xfrm>
            <a:off x="130810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Production Report</a:t>
            </a:r>
          </a:p>
        </p:txBody>
      </p:sp>
      <p:sp>
        <p:nvSpPr>
          <p:cNvPr id="28" name="Rectangle: Rounded Corners 27">
            <a:extLst>
              <a:ext uri="{FF2B5EF4-FFF2-40B4-BE49-F238E27FC236}">
                <a16:creationId xmlns:a16="http://schemas.microsoft.com/office/drawing/2014/main" id="{D153AF69-D411-933E-3A80-E5DE5A639D10}"/>
              </a:ext>
            </a:extLst>
          </p:cNvPr>
          <p:cNvSpPr/>
          <p:nvPr/>
        </p:nvSpPr>
        <p:spPr>
          <a:xfrm>
            <a:off x="8890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21E508C-1B02-3863-3DB3-EDC729A83968}"/>
              </a:ext>
            </a:extLst>
          </p:cNvPr>
          <p:cNvSpPr/>
          <p:nvPr/>
        </p:nvSpPr>
        <p:spPr>
          <a:xfrm>
            <a:off x="11938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167F40F-D701-718B-CABA-ACE28B4D7BD4}"/>
              </a:ext>
            </a:extLst>
          </p:cNvPr>
          <p:cNvSpPr txBox="1"/>
          <p:nvPr/>
        </p:nvSpPr>
        <p:spPr>
          <a:xfrm>
            <a:off x="12827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04</a:t>
            </a:r>
          </a:p>
        </p:txBody>
      </p:sp>
      <p:sp>
        <p:nvSpPr>
          <p:cNvPr id="31" name="TextBox 30">
            <a:extLst>
              <a:ext uri="{FF2B5EF4-FFF2-40B4-BE49-F238E27FC236}">
                <a16:creationId xmlns:a16="http://schemas.microsoft.com/office/drawing/2014/main" id="{1FBC0BFD-0300-1AF0-0AD9-943D8694D925}"/>
              </a:ext>
            </a:extLst>
          </p:cNvPr>
          <p:cNvSpPr txBox="1"/>
          <p:nvPr/>
        </p:nvSpPr>
        <p:spPr>
          <a:xfrm>
            <a:off x="20320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Part</a:t>
            </a:r>
          </a:p>
        </p:txBody>
      </p:sp>
      <p:sp>
        <p:nvSpPr>
          <p:cNvPr id="32" name="Rectangle: Rounded Corners 31">
            <a:extLst>
              <a:ext uri="{FF2B5EF4-FFF2-40B4-BE49-F238E27FC236}">
                <a16:creationId xmlns:a16="http://schemas.microsoft.com/office/drawing/2014/main" id="{7478743C-95A0-28EA-5AAD-F3B6C8ACAD0B}"/>
              </a:ext>
            </a:extLst>
          </p:cNvPr>
          <p:cNvSpPr/>
          <p:nvPr/>
        </p:nvSpPr>
        <p:spPr>
          <a:xfrm>
            <a:off x="64135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2669E85-6275-E8D0-87B5-5000DDE2D604}"/>
              </a:ext>
            </a:extLst>
          </p:cNvPr>
          <p:cNvSpPr/>
          <p:nvPr/>
        </p:nvSpPr>
        <p:spPr>
          <a:xfrm>
            <a:off x="67183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E3B4759-13C4-2A75-743A-8532D9D611D3}"/>
              </a:ext>
            </a:extLst>
          </p:cNvPr>
          <p:cNvSpPr txBox="1"/>
          <p:nvPr/>
        </p:nvSpPr>
        <p:spPr>
          <a:xfrm>
            <a:off x="68072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05</a:t>
            </a:r>
          </a:p>
        </p:txBody>
      </p:sp>
      <p:sp>
        <p:nvSpPr>
          <p:cNvPr id="35" name="TextBox 34">
            <a:extLst>
              <a:ext uri="{FF2B5EF4-FFF2-40B4-BE49-F238E27FC236}">
                <a16:creationId xmlns:a16="http://schemas.microsoft.com/office/drawing/2014/main" id="{76C92C87-0727-1B9F-C2E3-BD045C63BCEC}"/>
              </a:ext>
            </a:extLst>
          </p:cNvPr>
          <p:cNvSpPr txBox="1"/>
          <p:nvPr/>
        </p:nvSpPr>
        <p:spPr>
          <a:xfrm>
            <a:off x="75565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Feeder</a:t>
            </a:r>
          </a:p>
        </p:txBody>
      </p:sp>
      <p:sp>
        <p:nvSpPr>
          <p:cNvPr id="36" name="Rectangle: Rounded Corners 35">
            <a:extLst>
              <a:ext uri="{FF2B5EF4-FFF2-40B4-BE49-F238E27FC236}">
                <a16:creationId xmlns:a16="http://schemas.microsoft.com/office/drawing/2014/main" id="{5A4249DC-EC20-4181-8ADE-652BE95002AB}"/>
              </a:ext>
            </a:extLst>
          </p:cNvPr>
          <p:cNvSpPr/>
          <p:nvPr/>
        </p:nvSpPr>
        <p:spPr>
          <a:xfrm>
            <a:off x="119380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4C3B5F19-AB3C-16FC-2003-83B710CA3242}"/>
              </a:ext>
            </a:extLst>
          </p:cNvPr>
          <p:cNvSpPr/>
          <p:nvPr/>
        </p:nvSpPr>
        <p:spPr>
          <a:xfrm>
            <a:off x="122428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8391FACA-2CCD-E507-3787-6B97E90BE9F5}"/>
              </a:ext>
            </a:extLst>
          </p:cNvPr>
          <p:cNvSpPr txBox="1"/>
          <p:nvPr/>
        </p:nvSpPr>
        <p:spPr>
          <a:xfrm>
            <a:off x="123317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06</a:t>
            </a:r>
          </a:p>
        </p:txBody>
      </p:sp>
      <p:sp>
        <p:nvSpPr>
          <p:cNvPr id="39" name="TextBox 38">
            <a:extLst>
              <a:ext uri="{FF2B5EF4-FFF2-40B4-BE49-F238E27FC236}">
                <a16:creationId xmlns:a16="http://schemas.microsoft.com/office/drawing/2014/main" id="{F0232717-7D7E-287B-F56C-7BEC42C52B70}"/>
              </a:ext>
            </a:extLst>
          </p:cNvPr>
          <p:cNvSpPr txBox="1"/>
          <p:nvPr/>
        </p:nvSpPr>
        <p:spPr>
          <a:xfrm>
            <a:off x="130810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Nozzle</a:t>
            </a:r>
          </a:p>
        </p:txBody>
      </p:sp>
      <p:sp>
        <p:nvSpPr>
          <p:cNvPr id="40" name="Rectangle: Rounded Corners 39">
            <a:extLst>
              <a:ext uri="{FF2B5EF4-FFF2-40B4-BE49-F238E27FC236}">
                <a16:creationId xmlns:a16="http://schemas.microsoft.com/office/drawing/2014/main" id="{F563EB4B-3680-EA0E-23E0-EDC087DC71B2}"/>
              </a:ext>
            </a:extLst>
          </p:cNvPr>
          <p:cNvSpPr/>
          <p:nvPr/>
        </p:nvSpPr>
        <p:spPr>
          <a:xfrm>
            <a:off x="8890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23FF3EE-CBFA-3E4C-210A-59E2ED36F907}"/>
              </a:ext>
            </a:extLst>
          </p:cNvPr>
          <p:cNvSpPr/>
          <p:nvPr/>
        </p:nvSpPr>
        <p:spPr>
          <a:xfrm>
            <a:off x="11938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7E446F4-97EF-5E13-4403-2EA091B1CCCE}"/>
              </a:ext>
            </a:extLst>
          </p:cNvPr>
          <p:cNvSpPr txBox="1"/>
          <p:nvPr/>
        </p:nvSpPr>
        <p:spPr>
          <a:xfrm>
            <a:off x="12827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07</a:t>
            </a:r>
          </a:p>
        </p:txBody>
      </p:sp>
      <p:sp>
        <p:nvSpPr>
          <p:cNvPr id="43" name="TextBox 42">
            <a:extLst>
              <a:ext uri="{FF2B5EF4-FFF2-40B4-BE49-F238E27FC236}">
                <a16:creationId xmlns:a16="http://schemas.microsoft.com/office/drawing/2014/main" id="{EA89E661-7068-5A1A-D4C6-B48971E06666}"/>
              </a:ext>
            </a:extLst>
          </p:cNvPr>
          <p:cNvSpPr txBox="1"/>
          <p:nvPr/>
        </p:nvSpPr>
        <p:spPr>
          <a:xfrm>
            <a:off x="20320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Cycle Time</a:t>
            </a:r>
          </a:p>
        </p:txBody>
      </p:sp>
      <p:sp>
        <p:nvSpPr>
          <p:cNvPr id="44" name="Rectangle: Rounded Corners 43">
            <a:extLst>
              <a:ext uri="{FF2B5EF4-FFF2-40B4-BE49-F238E27FC236}">
                <a16:creationId xmlns:a16="http://schemas.microsoft.com/office/drawing/2014/main" id="{8A79A74D-E36E-198D-47DD-60FB1765D6AA}"/>
              </a:ext>
            </a:extLst>
          </p:cNvPr>
          <p:cNvSpPr/>
          <p:nvPr/>
        </p:nvSpPr>
        <p:spPr>
          <a:xfrm>
            <a:off x="64135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F7A55DDC-D50E-3A8F-4B93-A9EAFA449223}"/>
              </a:ext>
            </a:extLst>
          </p:cNvPr>
          <p:cNvSpPr/>
          <p:nvPr/>
        </p:nvSpPr>
        <p:spPr>
          <a:xfrm>
            <a:off x="67183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92783170-B21D-89B8-DD92-A52335733556}"/>
              </a:ext>
            </a:extLst>
          </p:cNvPr>
          <p:cNvSpPr txBox="1"/>
          <p:nvPr/>
        </p:nvSpPr>
        <p:spPr>
          <a:xfrm>
            <a:off x="68072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08</a:t>
            </a:r>
          </a:p>
        </p:txBody>
      </p:sp>
      <p:sp>
        <p:nvSpPr>
          <p:cNvPr id="47" name="TextBox 46">
            <a:extLst>
              <a:ext uri="{FF2B5EF4-FFF2-40B4-BE49-F238E27FC236}">
                <a16:creationId xmlns:a16="http://schemas.microsoft.com/office/drawing/2014/main" id="{B62489C6-E7E1-F648-A5FE-42A957610A73}"/>
              </a:ext>
            </a:extLst>
          </p:cNvPr>
          <p:cNvSpPr txBox="1"/>
          <p:nvPr/>
        </p:nvSpPr>
        <p:spPr>
          <a:xfrm>
            <a:off x="75565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Downtime</a:t>
            </a:r>
          </a:p>
        </p:txBody>
      </p:sp>
      <p:sp>
        <p:nvSpPr>
          <p:cNvPr id="48" name="Rectangle: Rounded Corners 47">
            <a:extLst>
              <a:ext uri="{FF2B5EF4-FFF2-40B4-BE49-F238E27FC236}">
                <a16:creationId xmlns:a16="http://schemas.microsoft.com/office/drawing/2014/main" id="{042CE474-2C85-9C4B-822B-F6B6E07480D2}"/>
              </a:ext>
            </a:extLst>
          </p:cNvPr>
          <p:cNvSpPr/>
          <p:nvPr/>
        </p:nvSpPr>
        <p:spPr>
          <a:xfrm>
            <a:off x="119380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EC8A79F-F6C4-B1BA-679C-28E11F8F7531}"/>
              </a:ext>
            </a:extLst>
          </p:cNvPr>
          <p:cNvSpPr/>
          <p:nvPr/>
        </p:nvSpPr>
        <p:spPr>
          <a:xfrm>
            <a:off x="122428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E13337F-6CA5-EB3B-33A8-51AA896723BA}"/>
              </a:ext>
            </a:extLst>
          </p:cNvPr>
          <p:cNvSpPr txBox="1"/>
          <p:nvPr/>
        </p:nvSpPr>
        <p:spPr>
          <a:xfrm>
            <a:off x="123317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09</a:t>
            </a:r>
          </a:p>
        </p:txBody>
      </p:sp>
      <p:sp>
        <p:nvSpPr>
          <p:cNvPr id="51" name="TextBox 50">
            <a:extLst>
              <a:ext uri="{FF2B5EF4-FFF2-40B4-BE49-F238E27FC236}">
                <a16:creationId xmlns:a16="http://schemas.microsoft.com/office/drawing/2014/main" id="{10F2A95A-1701-91D1-1126-DAD33E0436EF}"/>
              </a:ext>
            </a:extLst>
          </p:cNvPr>
          <p:cNvSpPr txBox="1"/>
          <p:nvPr/>
        </p:nvSpPr>
        <p:spPr>
          <a:xfrm>
            <a:off x="130810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Total Pickup / Placement</a:t>
            </a:r>
          </a:p>
        </p:txBody>
      </p:sp>
      <p:sp>
        <p:nvSpPr>
          <p:cNvPr id="52" name="TextBox 51">
            <a:extLst>
              <a:ext uri="{FF2B5EF4-FFF2-40B4-BE49-F238E27FC236}">
                <a16:creationId xmlns:a16="http://schemas.microsoft.com/office/drawing/2014/main" id="{6C0D230C-1B19-E77D-77F5-1E12B4963C3A}"/>
              </a:ext>
            </a:extLst>
          </p:cNvPr>
          <p:cNvSpPr txBox="1"/>
          <p:nvPr/>
        </p:nvSpPr>
        <p:spPr>
          <a:xfrm>
            <a:off x="889000" y="8572500"/>
            <a:ext cx="16510000" cy="276999"/>
          </a:xfrm>
          <a:prstGeom prst="rect">
            <a:avLst/>
          </a:prstGeom>
          <a:noFill/>
        </p:spPr>
        <p:txBody>
          <a:bodyPr vert="horz" wrap="square" lIns="0" tIns="0" rIns="0" bIns="0" rtlCol="0">
            <a:spAutoFit/>
          </a:bodyPr>
          <a:lstStyle/>
          <a:p>
            <a:pPr algn="ctr"/>
            <a:r>
              <a:rPr lang="vi-VN" b="1">
                <a:solidFill>
                  <a:srgbClr val="00E6F0"/>
                </a:solidFill>
                <a:latin typeface="Arial" panose="020B0604020202020204" pitchFamily="34" charset="0"/>
              </a:rPr>
              <a:t>Dashboard để định hướng → report chi tiết để chứng minh và hành động.</a:t>
            </a:r>
            <a:endParaRPr lang="en-US" b="1">
              <a:solidFill>
                <a:srgbClr val="00E6F0"/>
              </a:solidFill>
              <a:latin typeface="Arial" panose="020B0604020202020204" pitchFamily="34" charset="0"/>
            </a:endParaRPr>
          </a:p>
        </p:txBody>
      </p:sp>
      <p:sp>
        <p:nvSpPr>
          <p:cNvPr id="53" name="Rectangle 52">
            <a:extLst>
              <a:ext uri="{FF2B5EF4-FFF2-40B4-BE49-F238E27FC236}">
                <a16:creationId xmlns:a16="http://schemas.microsoft.com/office/drawing/2014/main" id="{B22DA19C-2C0C-F1ED-9315-F31293A08218}"/>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E2085B55-0800-BCDB-F8BE-9469656B9B18}"/>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1319544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BFAA696E-A00D-65DD-9508-730526C29947}"/>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3" name="TextBox 2">
            <a:extLst>
              <a:ext uri="{FF2B5EF4-FFF2-40B4-BE49-F238E27FC236}">
                <a16:creationId xmlns:a16="http://schemas.microsoft.com/office/drawing/2014/main" id="{107EA99C-C11C-A4CC-B263-F751BA4B103F}"/>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1DD0ED90-6582-0D00-293B-6F1B12137B7A}"/>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C82876B8-6046-309A-3825-FE0DEA0A5AA0}"/>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07AB5C27-D6B0-C6F5-DE49-D0B8A9ACB3AA}"/>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862D0F3D-80CF-7429-BECB-FC880AD48585}"/>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8" name="Straight Connector 7">
            <a:extLst>
              <a:ext uri="{FF2B5EF4-FFF2-40B4-BE49-F238E27FC236}">
                <a16:creationId xmlns:a16="http://schemas.microsoft.com/office/drawing/2014/main" id="{E2A3679B-EBCA-7C9A-A7DB-074443EF2CDD}"/>
              </a:ext>
            </a:extLst>
          </p:cNvPr>
          <p:cNvCxnSpPr/>
          <p:nvPr/>
        </p:nvCxnSpPr>
        <p:spPr>
          <a:xfrm>
            <a:off x="10121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1D5424D-A0F7-3232-9F38-DF2986C1A6A6}"/>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B4E4F9AC-A0A4-338B-627C-B9777BF817A9}"/>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20</a:t>
            </a:r>
          </a:p>
        </p:txBody>
      </p:sp>
      <p:sp>
        <p:nvSpPr>
          <p:cNvPr id="11" name="TextBox 10">
            <a:extLst>
              <a:ext uri="{FF2B5EF4-FFF2-40B4-BE49-F238E27FC236}">
                <a16:creationId xmlns:a16="http://schemas.microsoft.com/office/drawing/2014/main" id="{3F6599FD-A272-D553-90E1-FCE2CB3A152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OVERALL DASHBOARD</a:t>
            </a:r>
          </a:p>
        </p:txBody>
      </p:sp>
      <p:sp>
        <p:nvSpPr>
          <p:cNvPr id="12" name="TextBox 11">
            <a:extLst>
              <a:ext uri="{FF2B5EF4-FFF2-40B4-BE49-F238E27FC236}">
                <a16:creationId xmlns:a16="http://schemas.microsoft.com/office/drawing/2014/main" id="{95739EDD-B9C3-4443-E4C7-C46973C11521}"/>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Dashboard ưu tiên điều cần chú ý</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2BB25FFB-2703-6BBA-BDF9-43CCC87859E9}"/>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2224948-2A6D-8458-3608-37E8F3B2BBF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2DE4EB8-4146-D04A-E117-0786EC6717AC}"/>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20</a:t>
            </a:r>
          </a:p>
        </p:txBody>
      </p:sp>
      <p:sp>
        <p:nvSpPr>
          <p:cNvPr id="16" name="Rectangle: Rounded Corners 15">
            <a:extLst>
              <a:ext uri="{FF2B5EF4-FFF2-40B4-BE49-F238E27FC236}">
                <a16:creationId xmlns:a16="http://schemas.microsoft.com/office/drawing/2014/main" id="{07197B67-1042-9016-1F95-B4CCB3E4DA9C}"/>
              </a:ext>
            </a:extLst>
          </p:cNvPr>
          <p:cNvSpPr/>
          <p:nvPr/>
        </p:nvSpPr>
        <p:spPr>
          <a:xfrm>
            <a:off x="889000" y="3048000"/>
            <a:ext cx="3175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65DA656-6088-D9B4-6B2E-4B5852904DC5}"/>
              </a:ext>
            </a:extLst>
          </p:cNvPr>
          <p:cNvSpPr txBox="1"/>
          <p:nvPr/>
        </p:nvSpPr>
        <p:spPr>
          <a:xfrm>
            <a:off x="1193800" y="3378200"/>
            <a:ext cx="2565400" cy="615553"/>
          </a:xfrm>
          <a:prstGeom prst="rect">
            <a:avLst/>
          </a:prstGeom>
          <a:noFill/>
        </p:spPr>
        <p:txBody>
          <a:bodyPr vert="horz" wrap="square" lIns="0" tIns="0" rIns="0" bIns="0" rtlCol="0">
            <a:spAutoFit/>
          </a:bodyPr>
          <a:lstStyle/>
          <a:p>
            <a:pPr algn="ctr"/>
            <a:r>
              <a:rPr lang="en-US" sz="4000" b="1">
                <a:solidFill>
                  <a:srgbClr val="22C55E"/>
                </a:solidFill>
                <a:latin typeface="Arial" panose="020B0604020202020204" pitchFamily="34" charset="0"/>
              </a:rPr>
              <a:t>—</a:t>
            </a:r>
          </a:p>
        </p:txBody>
      </p:sp>
      <p:sp>
        <p:nvSpPr>
          <p:cNvPr id="18" name="TextBox 17">
            <a:extLst>
              <a:ext uri="{FF2B5EF4-FFF2-40B4-BE49-F238E27FC236}">
                <a16:creationId xmlns:a16="http://schemas.microsoft.com/office/drawing/2014/main" id="{53F9AC46-56B9-683C-8BBD-080D78313879}"/>
              </a:ext>
            </a:extLst>
          </p:cNvPr>
          <p:cNvSpPr txBox="1"/>
          <p:nvPr/>
        </p:nvSpPr>
        <p:spPr>
          <a:xfrm>
            <a:off x="1193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BOARD PRODUCED</a:t>
            </a:r>
          </a:p>
        </p:txBody>
      </p:sp>
      <p:sp>
        <p:nvSpPr>
          <p:cNvPr id="19" name="TextBox 18">
            <a:extLst>
              <a:ext uri="{FF2B5EF4-FFF2-40B4-BE49-F238E27FC236}">
                <a16:creationId xmlns:a16="http://schemas.microsoft.com/office/drawing/2014/main" id="{6A2A7FF5-C781-CE9A-B0A5-A95B250E9254}"/>
              </a:ext>
            </a:extLst>
          </p:cNvPr>
          <p:cNvSpPr txBox="1"/>
          <p:nvPr/>
        </p:nvSpPr>
        <p:spPr>
          <a:xfrm>
            <a:off x="1193800" y="4470400"/>
            <a:ext cx="25654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Output theo line</a:t>
            </a:r>
          </a:p>
        </p:txBody>
      </p:sp>
      <p:sp>
        <p:nvSpPr>
          <p:cNvPr id="20" name="Rectangle: Rounded Corners 19">
            <a:extLst>
              <a:ext uri="{FF2B5EF4-FFF2-40B4-BE49-F238E27FC236}">
                <a16:creationId xmlns:a16="http://schemas.microsoft.com/office/drawing/2014/main" id="{A22EBFA8-63B4-2B0E-D1BE-BD4B5C3047EF}"/>
              </a:ext>
            </a:extLst>
          </p:cNvPr>
          <p:cNvSpPr/>
          <p:nvPr/>
        </p:nvSpPr>
        <p:spPr>
          <a:xfrm>
            <a:off x="4572000" y="3048000"/>
            <a:ext cx="3175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048A693-BEFD-D3B1-6F6F-30C8289F16EE}"/>
              </a:ext>
            </a:extLst>
          </p:cNvPr>
          <p:cNvSpPr txBox="1"/>
          <p:nvPr/>
        </p:nvSpPr>
        <p:spPr>
          <a:xfrm>
            <a:off x="4876800" y="3378200"/>
            <a:ext cx="2565400" cy="615553"/>
          </a:xfrm>
          <a:prstGeom prst="rect">
            <a:avLst/>
          </a:prstGeom>
          <a:noFill/>
        </p:spPr>
        <p:txBody>
          <a:bodyPr vert="horz" wrap="square" lIns="0" tIns="0" rIns="0" bIns="0" rtlCol="0">
            <a:spAutoFit/>
          </a:bodyPr>
          <a:lstStyle/>
          <a:p>
            <a:pPr algn="ctr"/>
            <a:r>
              <a:rPr lang="en-US" sz="4000" b="1">
                <a:solidFill>
                  <a:srgbClr val="00E6F0"/>
                </a:solidFill>
                <a:latin typeface="Arial" panose="020B0604020202020204" pitchFamily="34" charset="0"/>
              </a:rPr>
              <a:t>—</a:t>
            </a:r>
          </a:p>
        </p:txBody>
      </p:sp>
      <p:sp>
        <p:nvSpPr>
          <p:cNvPr id="22" name="TextBox 21">
            <a:extLst>
              <a:ext uri="{FF2B5EF4-FFF2-40B4-BE49-F238E27FC236}">
                <a16:creationId xmlns:a16="http://schemas.microsoft.com/office/drawing/2014/main" id="{4ECEBF72-3946-1B99-B69F-24925B17C82C}"/>
              </a:ext>
            </a:extLst>
          </p:cNvPr>
          <p:cNvSpPr txBox="1"/>
          <p:nvPr/>
        </p:nvSpPr>
        <p:spPr>
          <a:xfrm>
            <a:off x="4876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PPM</a:t>
            </a:r>
          </a:p>
        </p:txBody>
      </p:sp>
      <p:sp>
        <p:nvSpPr>
          <p:cNvPr id="23" name="TextBox 22">
            <a:extLst>
              <a:ext uri="{FF2B5EF4-FFF2-40B4-BE49-F238E27FC236}">
                <a16:creationId xmlns:a16="http://schemas.microsoft.com/office/drawing/2014/main" id="{A76AF912-1DCF-9919-7A84-66E286A653C7}"/>
              </a:ext>
            </a:extLst>
          </p:cNvPr>
          <p:cNvSpPr txBox="1"/>
          <p:nvPr/>
        </p:nvSpPr>
        <p:spPr>
          <a:xfrm>
            <a:off x="4876800" y="4470400"/>
            <a:ext cx="2565400" cy="200055"/>
          </a:xfrm>
          <a:prstGeom prst="rect">
            <a:avLst/>
          </a:prstGeom>
          <a:noFill/>
        </p:spPr>
        <p:txBody>
          <a:bodyPr vert="horz" wrap="square" lIns="0" tIns="0" rIns="0" bIns="0" rtlCol="0">
            <a:spAutoFit/>
          </a:bodyPr>
          <a:lstStyle/>
          <a:p>
            <a:pPr algn="ctr"/>
            <a:r>
              <a:rPr lang="vi-VN" sz="1300">
                <a:solidFill>
                  <a:srgbClr val="94A3B8"/>
                </a:solidFill>
                <a:latin typeface="Arial" panose="020B0604020202020204" pitchFamily="34" charset="0"/>
              </a:rPr>
              <a:t>Chất lượng tương đối</a:t>
            </a:r>
            <a:endParaRPr lang="en-US" sz="1300">
              <a:solidFill>
                <a:srgbClr val="94A3B8"/>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6825CD6E-5A26-945D-D0A1-B728E8287084}"/>
              </a:ext>
            </a:extLst>
          </p:cNvPr>
          <p:cNvSpPr/>
          <p:nvPr/>
        </p:nvSpPr>
        <p:spPr>
          <a:xfrm>
            <a:off x="8255000" y="3048000"/>
            <a:ext cx="3175000" cy="1905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F7E002F-1A43-7879-0531-A3F410FEC137}"/>
              </a:ext>
            </a:extLst>
          </p:cNvPr>
          <p:cNvSpPr txBox="1"/>
          <p:nvPr/>
        </p:nvSpPr>
        <p:spPr>
          <a:xfrm>
            <a:off x="8559800" y="3378200"/>
            <a:ext cx="2565400" cy="615553"/>
          </a:xfrm>
          <a:prstGeom prst="rect">
            <a:avLst/>
          </a:prstGeom>
          <a:noFill/>
        </p:spPr>
        <p:txBody>
          <a:bodyPr vert="horz" wrap="square" lIns="0" tIns="0" rIns="0" bIns="0" rtlCol="0">
            <a:spAutoFit/>
          </a:bodyPr>
          <a:lstStyle/>
          <a:p>
            <a:pPr algn="ctr"/>
            <a:r>
              <a:rPr lang="en-US" sz="4000" b="1">
                <a:solidFill>
                  <a:srgbClr val="F59E0B"/>
                </a:solidFill>
                <a:latin typeface="Arial" panose="020B0604020202020204" pitchFamily="34" charset="0"/>
              </a:rPr>
              <a:t>—</a:t>
            </a:r>
          </a:p>
        </p:txBody>
      </p:sp>
      <p:sp>
        <p:nvSpPr>
          <p:cNvPr id="26" name="TextBox 25">
            <a:extLst>
              <a:ext uri="{FF2B5EF4-FFF2-40B4-BE49-F238E27FC236}">
                <a16:creationId xmlns:a16="http://schemas.microsoft.com/office/drawing/2014/main" id="{DD56331A-54B1-2FEA-349B-9BA9E6FC3B84}"/>
              </a:ext>
            </a:extLst>
          </p:cNvPr>
          <p:cNvSpPr txBox="1"/>
          <p:nvPr/>
        </p:nvSpPr>
        <p:spPr>
          <a:xfrm>
            <a:off x="8559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ERROR STOP</a:t>
            </a:r>
          </a:p>
        </p:txBody>
      </p:sp>
      <p:sp>
        <p:nvSpPr>
          <p:cNvPr id="27" name="TextBox 26">
            <a:extLst>
              <a:ext uri="{FF2B5EF4-FFF2-40B4-BE49-F238E27FC236}">
                <a16:creationId xmlns:a16="http://schemas.microsoft.com/office/drawing/2014/main" id="{A1B27D20-ECDB-602B-C60A-0517D19FFD21}"/>
              </a:ext>
            </a:extLst>
          </p:cNvPr>
          <p:cNvSpPr txBox="1"/>
          <p:nvPr/>
        </p:nvSpPr>
        <p:spPr>
          <a:xfrm>
            <a:off x="8559800" y="4470400"/>
            <a:ext cx="25654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Thời gian dừng lỗi</a:t>
            </a:r>
          </a:p>
        </p:txBody>
      </p:sp>
      <p:sp>
        <p:nvSpPr>
          <p:cNvPr id="28" name="Rectangle: Rounded Corners 27">
            <a:extLst>
              <a:ext uri="{FF2B5EF4-FFF2-40B4-BE49-F238E27FC236}">
                <a16:creationId xmlns:a16="http://schemas.microsoft.com/office/drawing/2014/main" id="{083B9427-5A4D-6059-B2F5-533D8DEECB4A}"/>
              </a:ext>
            </a:extLst>
          </p:cNvPr>
          <p:cNvSpPr/>
          <p:nvPr/>
        </p:nvSpPr>
        <p:spPr>
          <a:xfrm>
            <a:off x="12192000" y="3048000"/>
            <a:ext cx="5207000" cy="419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3808C77-41DC-84DF-8AA6-17E10DEBE00F}"/>
              </a:ext>
            </a:extLst>
          </p:cNvPr>
          <p:cNvSpPr txBox="1"/>
          <p:nvPr/>
        </p:nvSpPr>
        <p:spPr>
          <a:xfrm>
            <a:off x="12636500" y="3429000"/>
            <a:ext cx="4191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ACTION LISTS</a:t>
            </a:r>
          </a:p>
        </p:txBody>
      </p:sp>
      <p:sp>
        <p:nvSpPr>
          <p:cNvPr id="30" name="TextBox 29">
            <a:extLst>
              <a:ext uri="{FF2B5EF4-FFF2-40B4-BE49-F238E27FC236}">
                <a16:creationId xmlns:a16="http://schemas.microsoft.com/office/drawing/2014/main" id="{4BEA78B3-4D02-F651-59DB-A372FC51997E}"/>
              </a:ext>
            </a:extLst>
          </p:cNvPr>
          <p:cNvSpPr txBox="1"/>
          <p:nvPr/>
        </p:nvSpPr>
        <p:spPr>
          <a:xfrm>
            <a:off x="12636500" y="41275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Worst feeder</a:t>
            </a:r>
          </a:p>
        </p:txBody>
      </p:sp>
      <p:sp>
        <p:nvSpPr>
          <p:cNvPr id="31" name="Rectangle 30">
            <a:extLst>
              <a:ext uri="{FF2B5EF4-FFF2-40B4-BE49-F238E27FC236}">
                <a16:creationId xmlns:a16="http://schemas.microsoft.com/office/drawing/2014/main" id="{64FAD928-881D-C777-522C-D1E63307D78C}"/>
              </a:ext>
            </a:extLst>
          </p:cNvPr>
          <p:cNvSpPr/>
          <p:nvPr/>
        </p:nvSpPr>
        <p:spPr>
          <a:xfrm>
            <a:off x="14605000" y="41656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9DB6FD0-80B7-9F28-5262-B45F97B07199}"/>
              </a:ext>
            </a:extLst>
          </p:cNvPr>
          <p:cNvSpPr/>
          <p:nvPr/>
        </p:nvSpPr>
        <p:spPr>
          <a:xfrm>
            <a:off x="14605000" y="4165600"/>
            <a:ext cx="1770380" cy="1651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065BBA42-3C67-74D4-5F2A-2A447D66DB25}"/>
              </a:ext>
            </a:extLst>
          </p:cNvPr>
          <p:cNvSpPr txBox="1"/>
          <p:nvPr/>
        </p:nvSpPr>
        <p:spPr>
          <a:xfrm>
            <a:off x="12636500" y="48260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Worst nozzle</a:t>
            </a:r>
          </a:p>
        </p:txBody>
      </p:sp>
      <p:sp>
        <p:nvSpPr>
          <p:cNvPr id="34" name="Rectangle 33">
            <a:extLst>
              <a:ext uri="{FF2B5EF4-FFF2-40B4-BE49-F238E27FC236}">
                <a16:creationId xmlns:a16="http://schemas.microsoft.com/office/drawing/2014/main" id="{5E8A7790-59A4-C64E-5ED6-852F11F0EB0A}"/>
              </a:ext>
            </a:extLst>
          </p:cNvPr>
          <p:cNvSpPr/>
          <p:nvPr/>
        </p:nvSpPr>
        <p:spPr>
          <a:xfrm>
            <a:off x="14605000" y="48641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7D37DBD-09E5-0571-DCD3-EADB613B7E01}"/>
              </a:ext>
            </a:extLst>
          </p:cNvPr>
          <p:cNvSpPr/>
          <p:nvPr/>
        </p:nvSpPr>
        <p:spPr>
          <a:xfrm>
            <a:off x="14605000" y="4864100"/>
            <a:ext cx="1424939" cy="1651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6F4E90F5-E693-BD03-B089-5365E2972A2A}"/>
              </a:ext>
            </a:extLst>
          </p:cNvPr>
          <p:cNvSpPr txBox="1"/>
          <p:nvPr/>
        </p:nvSpPr>
        <p:spPr>
          <a:xfrm>
            <a:off x="12636500" y="55245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Pickup / Placement</a:t>
            </a:r>
          </a:p>
        </p:txBody>
      </p:sp>
      <p:sp>
        <p:nvSpPr>
          <p:cNvPr id="37" name="Rectangle 36">
            <a:extLst>
              <a:ext uri="{FF2B5EF4-FFF2-40B4-BE49-F238E27FC236}">
                <a16:creationId xmlns:a16="http://schemas.microsoft.com/office/drawing/2014/main" id="{1640817E-06DB-D5C8-FDFA-9D0644AD1B48}"/>
              </a:ext>
            </a:extLst>
          </p:cNvPr>
          <p:cNvSpPr/>
          <p:nvPr/>
        </p:nvSpPr>
        <p:spPr>
          <a:xfrm>
            <a:off x="14605000" y="55626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76A43F3-96EA-0CE9-AFD5-881D17C7F2BB}"/>
              </a:ext>
            </a:extLst>
          </p:cNvPr>
          <p:cNvSpPr/>
          <p:nvPr/>
        </p:nvSpPr>
        <p:spPr>
          <a:xfrm>
            <a:off x="14605000" y="5562600"/>
            <a:ext cx="1964689" cy="1651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31CC2B0-21FE-6CE1-B44D-D73D35708388}"/>
              </a:ext>
            </a:extLst>
          </p:cNvPr>
          <p:cNvSpPr txBox="1"/>
          <p:nvPr/>
        </p:nvSpPr>
        <p:spPr>
          <a:xfrm>
            <a:off x="12636500" y="62230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Stop category</a:t>
            </a:r>
          </a:p>
        </p:txBody>
      </p:sp>
      <p:sp>
        <p:nvSpPr>
          <p:cNvPr id="40" name="Rectangle 39">
            <a:extLst>
              <a:ext uri="{FF2B5EF4-FFF2-40B4-BE49-F238E27FC236}">
                <a16:creationId xmlns:a16="http://schemas.microsoft.com/office/drawing/2014/main" id="{E7ED7CBB-7615-DCF0-4BB9-2682737C3602}"/>
              </a:ext>
            </a:extLst>
          </p:cNvPr>
          <p:cNvSpPr/>
          <p:nvPr/>
        </p:nvSpPr>
        <p:spPr>
          <a:xfrm>
            <a:off x="14605000" y="62611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3457356-E99A-FE28-62E1-2AB18428904E}"/>
              </a:ext>
            </a:extLst>
          </p:cNvPr>
          <p:cNvSpPr/>
          <p:nvPr/>
        </p:nvSpPr>
        <p:spPr>
          <a:xfrm>
            <a:off x="14605000" y="6261100"/>
            <a:ext cx="1187450" cy="1651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F2F6087-D65B-8F00-418F-9F7182512268}"/>
              </a:ext>
            </a:extLst>
          </p:cNvPr>
          <p:cNvSpPr/>
          <p:nvPr/>
        </p:nvSpPr>
        <p:spPr>
          <a:xfrm>
            <a:off x="889000" y="5880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EB443C0-9FD9-EB5C-D037-3E8CE7307362}"/>
              </a:ext>
            </a:extLst>
          </p:cNvPr>
          <p:cNvSpPr txBox="1"/>
          <p:nvPr/>
        </p:nvSpPr>
        <p:spPr>
          <a:xfrm>
            <a:off x="1193800" y="57785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So sánh theo line và khoảng thời gian</a:t>
            </a:r>
          </a:p>
        </p:txBody>
      </p:sp>
      <p:sp>
        <p:nvSpPr>
          <p:cNvPr id="44" name="Oval 43">
            <a:extLst>
              <a:ext uri="{FF2B5EF4-FFF2-40B4-BE49-F238E27FC236}">
                <a16:creationId xmlns:a16="http://schemas.microsoft.com/office/drawing/2014/main" id="{1D60767F-5FB6-9CC3-6624-695C5F5259C7}"/>
              </a:ext>
            </a:extLst>
          </p:cNvPr>
          <p:cNvSpPr/>
          <p:nvPr/>
        </p:nvSpPr>
        <p:spPr>
          <a:xfrm>
            <a:off x="889000" y="66167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BD0E057-2621-928E-129E-A1FD843999B1}"/>
              </a:ext>
            </a:extLst>
          </p:cNvPr>
          <p:cNvSpPr txBox="1"/>
          <p:nvPr/>
        </p:nvSpPr>
        <p:spPr>
          <a:xfrm>
            <a:off x="1193800" y="65151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Tập trung vào top worst feeder / nozzle</a:t>
            </a:r>
          </a:p>
        </p:txBody>
      </p:sp>
      <p:sp>
        <p:nvSpPr>
          <p:cNvPr id="46" name="Oval 45">
            <a:extLst>
              <a:ext uri="{FF2B5EF4-FFF2-40B4-BE49-F238E27FC236}">
                <a16:creationId xmlns:a16="http://schemas.microsoft.com/office/drawing/2014/main" id="{78194E77-0CF8-5359-C295-5986E46C7663}"/>
              </a:ext>
            </a:extLst>
          </p:cNvPr>
          <p:cNvSpPr/>
          <p:nvPr/>
        </p:nvSpPr>
        <p:spPr>
          <a:xfrm>
            <a:off x="889000" y="73533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CAAF62B-33D2-B288-05A4-46BECABD59A6}"/>
              </a:ext>
            </a:extLst>
          </p:cNvPr>
          <p:cNvSpPr txBox="1"/>
          <p:nvPr/>
        </p:nvSpPr>
        <p:spPr>
          <a:xfrm>
            <a:off x="1193800" y="72517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Theo dõi pickup, placement, PPM và stop time</a:t>
            </a:r>
          </a:p>
        </p:txBody>
      </p:sp>
      <p:sp>
        <p:nvSpPr>
          <p:cNvPr id="48" name="TextBox 47">
            <a:extLst>
              <a:ext uri="{FF2B5EF4-FFF2-40B4-BE49-F238E27FC236}">
                <a16:creationId xmlns:a16="http://schemas.microsoft.com/office/drawing/2014/main" id="{0C715AB1-59EF-BCAD-BA59-5F9530858D2F}"/>
              </a:ext>
            </a:extLst>
          </p:cNvPr>
          <p:cNvSpPr txBox="1"/>
          <p:nvPr/>
        </p:nvSpPr>
        <p:spPr>
          <a:xfrm>
            <a:off x="12192000" y="7556500"/>
            <a:ext cx="5207000" cy="184666"/>
          </a:xfrm>
          <a:prstGeom prst="rect">
            <a:avLst/>
          </a:prstGeom>
          <a:noFill/>
        </p:spPr>
        <p:txBody>
          <a:bodyPr vert="horz" wrap="square" lIns="0" tIns="0" rIns="0" bIns="0" rtlCol="0">
            <a:spAutoFit/>
          </a:bodyPr>
          <a:lstStyle/>
          <a:p>
            <a:pPr algn="ctr"/>
            <a:r>
              <a:rPr lang="en-US" sz="1200">
                <a:solidFill>
                  <a:srgbClr val="94A3B8"/>
                </a:solidFill>
                <a:latin typeface="Arial" panose="020B0604020202020204" pitchFamily="34" charset="0"/>
              </a:rPr>
              <a:t>KPI placeholder — giá trị thực phụ thuộc bộ lọc.</a:t>
            </a:r>
          </a:p>
        </p:txBody>
      </p:sp>
      <p:sp>
        <p:nvSpPr>
          <p:cNvPr id="49" name="Rectangle 48">
            <a:extLst>
              <a:ext uri="{FF2B5EF4-FFF2-40B4-BE49-F238E27FC236}">
                <a16:creationId xmlns:a16="http://schemas.microsoft.com/office/drawing/2014/main" id="{A5BDE288-D9C4-F5E4-DA9C-3FD74FA208C2}"/>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76B030D1-0B13-28F5-D612-D2ED583D5803}"/>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2289727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50985694-57C9-F840-F9AF-F39FBCB702E2}"/>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0365D9B2-D270-AD31-2923-0825C490EBA1}"/>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4707C5C0-C218-62CE-CD3A-A741C1F9A545}"/>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2639C3B4-4E92-54F9-7CBD-B61F0FB79A0C}"/>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267E6E35-1FEE-6F22-77B9-15F4327CC857}"/>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3A2F3682-3E9B-3B6A-1616-1FFF3912793F}"/>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8" name="Straight Connector 7">
            <a:extLst>
              <a:ext uri="{FF2B5EF4-FFF2-40B4-BE49-F238E27FC236}">
                <a16:creationId xmlns:a16="http://schemas.microsoft.com/office/drawing/2014/main" id="{77015760-44BC-1691-5D8A-0698390B965A}"/>
              </a:ext>
            </a:extLst>
          </p:cNvPr>
          <p:cNvCxnSpPr/>
          <p:nvPr/>
        </p:nvCxnSpPr>
        <p:spPr>
          <a:xfrm>
            <a:off x="10121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B905751-6B57-7949-19AC-7F75C5E27A89}"/>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CECA9E02-5243-6236-AC2E-5FF9F9CF336F}"/>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21</a:t>
            </a:r>
          </a:p>
        </p:txBody>
      </p:sp>
      <p:sp>
        <p:nvSpPr>
          <p:cNvPr id="11" name="TextBox 10">
            <a:extLst>
              <a:ext uri="{FF2B5EF4-FFF2-40B4-BE49-F238E27FC236}">
                <a16:creationId xmlns:a16="http://schemas.microsoft.com/office/drawing/2014/main" id="{BABD8F67-DA9A-C9B3-782B-656FB67AA532}"/>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PRODUCTION ANALYTICS</a:t>
            </a:r>
          </a:p>
        </p:txBody>
      </p:sp>
      <p:sp>
        <p:nvSpPr>
          <p:cNvPr id="12" name="TextBox 11">
            <a:extLst>
              <a:ext uri="{FF2B5EF4-FFF2-40B4-BE49-F238E27FC236}">
                <a16:creationId xmlns:a16="http://schemas.microsoft.com/office/drawing/2014/main" id="{0658A6F9-A4AE-E33A-8A64-BE0DA7C0E68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Ba báo cáo theo dõi năng suất</a:t>
            </a:r>
          </a:p>
        </p:txBody>
      </p:sp>
      <p:cxnSp>
        <p:nvCxnSpPr>
          <p:cNvPr id="13" name="Straight Connector 12">
            <a:extLst>
              <a:ext uri="{FF2B5EF4-FFF2-40B4-BE49-F238E27FC236}">
                <a16:creationId xmlns:a16="http://schemas.microsoft.com/office/drawing/2014/main" id="{6C23BC95-2FBC-A72D-7B90-3921BFBE5BD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ED7813E-C4F8-91D8-4853-03A079E5D9B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B25C3597-7EF1-5F99-0E17-03C6D54E33BB}"/>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21</a:t>
            </a:r>
          </a:p>
        </p:txBody>
      </p:sp>
      <p:sp>
        <p:nvSpPr>
          <p:cNvPr id="16" name="Rectangle: Rounded Corners 15">
            <a:extLst>
              <a:ext uri="{FF2B5EF4-FFF2-40B4-BE49-F238E27FC236}">
                <a16:creationId xmlns:a16="http://schemas.microsoft.com/office/drawing/2014/main" id="{A73E1431-FC13-E3A2-E9A9-F035A56F426C}"/>
              </a:ext>
            </a:extLst>
          </p:cNvPr>
          <p:cNvSpPr/>
          <p:nvPr/>
        </p:nvSpPr>
        <p:spPr>
          <a:xfrm>
            <a:off x="889000" y="2984500"/>
            <a:ext cx="4953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4BC11B-22C9-3BE7-A136-0B75F2B408A0}"/>
              </a:ext>
            </a:extLst>
          </p:cNvPr>
          <p:cNvSpPr/>
          <p:nvPr/>
        </p:nvSpPr>
        <p:spPr>
          <a:xfrm>
            <a:off x="889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29811BBC-CC9F-2F98-5E18-3F22E93EF639}"/>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D8A6BE0-B1CE-41C2-D7EF-92522F4D9A35}"/>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C28D2A1B-7F27-CEB6-FC5E-03DD149DF544}"/>
              </a:ext>
            </a:extLst>
          </p:cNvPr>
          <p:cNvSpPr txBox="1"/>
          <p:nvPr/>
        </p:nvSpPr>
        <p:spPr>
          <a:xfrm>
            <a:off x="1193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Board Count</a:t>
            </a:r>
          </a:p>
        </p:txBody>
      </p:sp>
      <p:sp>
        <p:nvSpPr>
          <p:cNvPr id="21" name="TextBox 20">
            <a:extLst>
              <a:ext uri="{FF2B5EF4-FFF2-40B4-BE49-F238E27FC236}">
                <a16:creationId xmlns:a16="http://schemas.microsoft.com/office/drawing/2014/main" id="{49011DFE-EB06-C195-FAE0-05B587246393}"/>
              </a:ext>
            </a:extLst>
          </p:cNvPr>
          <p:cNvSpPr txBox="1"/>
          <p:nvPr/>
        </p:nvSpPr>
        <p:spPr>
          <a:xfrm>
            <a:off x="1193800" y="4432300"/>
            <a:ext cx="4343400" cy="492443"/>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Xu hướng output theo line, lane, thời gian và model.</a:t>
            </a:r>
            <a:endParaRPr lang="en-US" sz="1600">
              <a:solidFill>
                <a:srgbClr val="E6F0FA"/>
              </a:solidFill>
              <a:latin typeface="Arial" panose="020B0604020202020204" pitchFamily="34" charset="0"/>
            </a:endParaRPr>
          </a:p>
        </p:txBody>
      </p:sp>
      <p:sp>
        <p:nvSpPr>
          <p:cNvPr id="22" name="Rectangle: Rounded Corners 21">
            <a:extLst>
              <a:ext uri="{FF2B5EF4-FFF2-40B4-BE49-F238E27FC236}">
                <a16:creationId xmlns:a16="http://schemas.microsoft.com/office/drawing/2014/main" id="{8575EA69-8FC2-D22D-F999-EBBD80E069CB}"/>
              </a:ext>
            </a:extLst>
          </p:cNvPr>
          <p:cNvSpPr/>
          <p:nvPr/>
        </p:nvSpPr>
        <p:spPr>
          <a:xfrm>
            <a:off x="6667500" y="2984500"/>
            <a:ext cx="4953000" cy="20955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5C77284-AD5C-07AF-19F3-EBD88E358A7D}"/>
              </a:ext>
            </a:extLst>
          </p:cNvPr>
          <p:cNvSpPr/>
          <p:nvPr/>
        </p:nvSpPr>
        <p:spPr>
          <a:xfrm>
            <a:off x="6667500" y="2984500"/>
            <a:ext cx="101600" cy="20955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E316A303-C0FD-6627-BAED-0952E0F815C4}"/>
              </a:ext>
            </a:extLst>
          </p:cNvPr>
          <p:cNvSpPr/>
          <p:nvPr/>
        </p:nvSpPr>
        <p:spPr>
          <a:xfrm>
            <a:off x="6972300" y="3213100"/>
            <a:ext cx="7874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BFC4287-D33B-8436-2999-16A93E6FA904}"/>
              </a:ext>
            </a:extLst>
          </p:cNvPr>
          <p:cNvSpPr txBox="1"/>
          <p:nvPr/>
        </p:nvSpPr>
        <p:spPr>
          <a:xfrm>
            <a:off x="70739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873F7EA7-7FE0-460E-74DC-0B51546A3BA8}"/>
              </a:ext>
            </a:extLst>
          </p:cNvPr>
          <p:cNvSpPr txBox="1"/>
          <p:nvPr/>
        </p:nvSpPr>
        <p:spPr>
          <a:xfrm>
            <a:off x="69723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 Report</a:t>
            </a:r>
          </a:p>
        </p:txBody>
      </p:sp>
      <p:sp>
        <p:nvSpPr>
          <p:cNvPr id="27" name="TextBox 26">
            <a:extLst>
              <a:ext uri="{FF2B5EF4-FFF2-40B4-BE49-F238E27FC236}">
                <a16:creationId xmlns:a16="http://schemas.microsoft.com/office/drawing/2014/main" id="{5D3E26F9-63F3-7418-856D-657BD7B42A6F}"/>
              </a:ext>
            </a:extLst>
          </p:cNvPr>
          <p:cNvSpPr txBox="1"/>
          <p:nvPr/>
        </p:nvSpPr>
        <p:spPr>
          <a:xfrm>
            <a:off x="69723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Sản lượng panel / pattern theo line, lane, model và group.</a:t>
            </a:r>
          </a:p>
        </p:txBody>
      </p:sp>
      <p:sp>
        <p:nvSpPr>
          <p:cNvPr id="28" name="Rectangle: Rounded Corners 27">
            <a:extLst>
              <a:ext uri="{FF2B5EF4-FFF2-40B4-BE49-F238E27FC236}">
                <a16:creationId xmlns:a16="http://schemas.microsoft.com/office/drawing/2014/main" id="{FA4115EE-625C-F557-506F-01E735A6D20F}"/>
              </a:ext>
            </a:extLst>
          </p:cNvPr>
          <p:cNvSpPr/>
          <p:nvPr/>
        </p:nvSpPr>
        <p:spPr>
          <a:xfrm>
            <a:off x="12446000" y="2984500"/>
            <a:ext cx="4953000" cy="20955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68F5372-FE04-1EF1-CCB8-6C74B948FD12}"/>
              </a:ext>
            </a:extLst>
          </p:cNvPr>
          <p:cNvSpPr/>
          <p:nvPr/>
        </p:nvSpPr>
        <p:spPr>
          <a:xfrm>
            <a:off x="12446000" y="2984500"/>
            <a:ext cx="101600" cy="20955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64C7C736-A1A2-DDC3-D0A6-D6F983E7665F}"/>
              </a:ext>
            </a:extLst>
          </p:cNvPr>
          <p:cNvSpPr/>
          <p:nvPr/>
        </p:nvSpPr>
        <p:spPr>
          <a:xfrm>
            <a:off x="12750800" y="3213100"/>
            <a:ext cx="7874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AF2B04E-2F5A-553E-C615-2E8BEE1307E4}"/>
              </a:ext>
            </a:extLst>
          </p:cNvPr>
          <p:cNvSpPr txBox="1"/>
          <p:nvPr/>
        </p:nvSpPr>
        <p:spPr>
          <a:xfrm>
            <a:off x="12852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A5BFFD92-29A1-5CED-375A-9C214C79CF22}"/>
              </a:ext>
            </a:extLst>
          </p:cNvPr>
          <p:cNvSpPr txBox="1"/>
          <p:nvPr/>
        </p:nvSpPr>
        <p:spPr>
          <a:xfrm>
            <a:off x="12750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Cycle Time</a:t>
            </a:r>
          </a:p>
        </p:txBody>
      </p:sp>
      <p:sp>
        <p:nvSpPr>
          <p:cNvPr id="33" name="TextBox 32">
            <a:extLst>
              <a:ext uri="{FF2B5EF4-FFF2-40B4-BE49-F238E27FC236}">
                <a16:creationId xmlns:a16="http://schemas.microsoft.com/office/drawing/2014/main" id="{BD3636B1-32F5-1332-1C82-B61DA98BEF98}"/>
              </a:ext>
            </a:extLst>
          </p:cNvPr>
          <p:cNvSpPr txBox="1"/>
          <p:nvPr/>
        </p:nvSpPr>
        <p:spPr>
          <a:xfrm>
            <a:off x="127508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Đánh giá hiệu suất chu trình theo line, model và group.</a:t>
            </a:r>
          </a:p>
        </p:txBody>
      </p:sp>
      <p:cxnSp>
        <p:nvCxnSpPr>
          <p:cNvPr id="34" name="Straight Connector 33">
            <a:extLst>
              <a:ext uri="{FF2B5EF4-FFF2-40B4-BE49-F238E27FC236}">
                <a16:creationId xmlns:a16="http://schemas.microsoft.com/office/drawing/2014/main" id="{FA14866A-8A0B-8D7F-B8B9-21301B3EADC3}"/>
              </a:ext>
            </a:extLst>
          </p:cNvPr>
          <p:cNvCxnSpPr/>
          <p:nvPr/>
        </p:nvCxnSpPr>
        <p:spPr>
          <a:xfrm>
            <a:off x="1270000" y="7493000"/>
            <a:ext cx="40005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E0EA0B9-E162-6749-DBBD-6E0EF504196C}"/>
              </a:ext>
            </a:extLst>
          </p:cNvPr>
          <p:cNvCxnSpPr/>
          <p:nvPr/>
        </p:nvCxnSpPr>
        <p:spPr>
          <a:xfrm flipV="1">
            <a:off x="1270000" y="5778500"/>
            <a:ext cx="0" cy="171450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C7E914CB-9F8F-FE4B-8053-30A0ADE487AC}"/>
              </a:ext>
            </a:extLst>
          </p:cNvPr>
          <p:cNvCxnSpPr/>
          <p:nvPr/>
        </p:nvCxnSpPr>
        <p:spPr>
          <a:xfrm flipV="1">
            <a:off x="1333500" y="6921500"/>
            <a:ext cx="825500" cy="317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44655F2-8F6F-CFC2-2560-F73B909A6FCB}"/>
              </a:ext>
            </a:extLst>
          </p:cNvPr>
          <p:cNvCxnSpPr/>
          <p:nvPr/>
        </p:nvCxnSpPr>
        <p:spPr>
          <a:xfrm>
            <a:off x="2159000" y="6921500"/>
            <a:ext cx="825500" cy="1270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D8E25AAE-B3F7-0BEA-D162-1E010FBE098E}"/>
              </a:ext>
            </a:extLst>
          </p:cNvPr>
          <p:cNvCxnSpPr/>
          <p:nvPr/>
        </p:nvCxnSpPr>
        <p:spPr>
          <a:xfrm flipV="1">
            <a:off x="2984500" y="6350000"/>
            <a:ext cx="825500" cy="698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B1325C5-84D6-D45A-B848-AD3F00EB5F8E}"/>
              </a:ext>
            </a:extLst>
          </p:cNvPr>
          <p:cNvCxnSpPr/>
          <p:nvPr/>
        </p:nvCxnSpPr>
        <p:spPr>
          <a:xfrm flipV="1">
            <a:off x="3810000" y="6032500"/>
            <a:ext cx="889000" cy="317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21E32C69-55CA-1455-0AB6-16C270BB2A96}"/>
              </a:ext>
            </a:extLst>
          </p:cNvPr>
          <p:cNvSpPr/>
          <p:nvPr/>
        </p:nvSpPr>
        <p:spPr>
          <a:xfrm>
            <a:off x="7175500" y="6985000"/>
            <a:ext cx="533400" cy="5080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CB063B6-6E2B-4FF8-BB19-FE0D93F9FF25}"/>
              </a:ext>
            </a:extLst>
          </p:cNvPr>
          <p:cNvSpPr/>
          <p:nvPr/>
        </p:nvSpPr>
        <p:spPr>
          <a:xfrm>
            <a:off x="8128000" y="6705600"/>
            <a:ext cx="533400" cy="7874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E8598AA-04AF-1134-8D1A-92586FC99FA4}"/>
              </a:ext>
            </a:extLst>
          </p:cNvPr>
          <p:cNvSpPr/>
          <p:nvPr/>
        </p:nvSpPr>
        <p:spPr>
          <a:xfrm>
            <a:off x="9080500" y="6426200"/>
            <a:ext cx="533400" cy="10668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D2A7CBA-DC40-669F-1E36-A106B9527871}"/>
              </a:ext>
            </a:extLst>
          </p:cNvPr>
          <p:cNvSpPr/>
          <p:nvPr/>
        </p:nvSpPr>
        <p:spPr>
          <a:xfrm>
            <a:off x="10033000" y="6146800"/>
            <a:ext cx="533400" cy="13462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8538A708-40D0-53D0-5673-6585785FE7EA}"/>
              </a:ext>
            </a:extLst>
          </p:cNvPr>
          <p:cNvSpPr/>
          <p:nvPr/>
        </p:nvSpPr>
        <p:spPr>
          <a:xfrm>
            <a:off x="13271500" y="6350000"/>
            <a:ext cx="939800" cy="9398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EF4A0D4-16F8-E8AB-8AE6-48DFF6F7AF1D}"/>
              </a:ext>
            </a:extLst>
          </p:cNvPr>
          <p:cNvSpPr/>
          <p:nvPr/>
        </p:nvSpPr>
        <p:spPr>
          <a:xfrm>
            <a:off x="14439900" y="6032500"/>
            <a:ext cx="1066800" cy="10668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E1C09136-2B8A-4584-CA33-62479FC8D33A}"/>
              </a:ext>
            </a:extLst>
          </p:cNvPr>
          <p:cNvSpPr/>
          <p:nvPr/>
        </p:nvSpPr>
        <p:spPr>
          <a:xfrm>
            <a:off x="15608300" y="5715000"/>
            <a:ext cx="1193800" cy="1193800"/>
          </a:xfrm>
          <a:prstGeom prst="ellipse">
            <a:avLst/>
          </a:prstGeom>
          <a:solidFill>
            <a:srgbClr val="F59E0B"/>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1FB38518-90A1-F379-9AF9-66E0832811D6}"/>
              </a:ext>
            </a:extLst>
          </p:cNvPr>
          <p:cNvSpPr txBox="1"/>
          <p:nvPr/>
        </p:nvSpPr>
        <p:spPr>
          <a:xfrm>
            <a:off x="1270000" y="7810500"/>
            <a:ext cx="4000500" cy="200055"/>
          </a:xfrm>
          <a:prstGeom prst="rect">
            <a:avLst/>
          </a:prstGeom>
          <a:noFill/>
        </p:spPr>
        <p:txBody>
          <a:bodyPr vert="horz" wrap="square" lIns="0" tIns="0" rIns="0" bIns="0" rtlCol="0">
            <a:spAutoFit/>
          </a:bodyPr>
          <a:lstStyle/>
          <a:p>
            <a:pPr algn="ctr"/>
            <a:r>
              <a:rPr lang="vi-VN" sz="1300">
                <a:solidFill>
                  <a:srgbClr val="94A3B8"/>
                </a:solidFill>
                <a:latin typeface="Arial" panose="020B0604020202020204" pitchFamily="34" charset="0"/>
              </a:rPr>
              <a:t>Xu hướng</a:t>
            </a:r>
            <a:endParaRPr lang="en-US" sz="1300">
              <a:solidFill>
                <a:srgbClr val="94A3B8"/>
              </a:solidFill>
              <a:latin typeface="Arial" panose="020B0604020202020204" pitchFamily="34" charset="0"/>
            </a:endParaRPr>
          </a:p>
        </p:txBody>
      </p:sp>
      <p:sp>
        <p:nvSpPr>
          <p:cNvPr id="48" name="TextBox 47">
            <a:extLst>
              <a:ext uri="{FF2B5EF4-FFF2-40B4-BE49-F238E27FC236}">
                <a16:creationId xmlns:a16="http://schemas.microsoft.com/office/drawing/2014/main" id="{B76D1B8A-4C93-4F39-438D-E88715303BA5}"/>
              </a:ext>
            </a:extLst>
          </p:cNvPr>
          <p:cNvSpPr txBox="1"/>
          <p:nvPr/>
        </p:nvSpPr>
        <p:spPr>
          <a:xfrm>
            <a:off x="6985000" y="7810500"/>
            <a:ext cx="43180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So sánh output</a:t>
            </a:r>
          </a:p>
        </p:txBody>
      </p:sp>
      <p:sp>
        <p:nvSpPr>
          <p:cNvPr id="49" name="TextBox 48">
            <a:extLst>
              <a:ext uri="{FF2B5EF4-FFF2-40B4-BE49-F238E27FC236}">
                <a16:creationId xmlns:a16="http://schemas.microsoft.com/office/drawing/2014/main" id="{CA3A0E0B-4812-D2EA-E0A9-095240C2AEBF}"/>
              </a:ext>
            </a:extLst>
          </p:cNvPr>
          <p:cNvSpPr txBox="1"/>
          <p:nvPr/>
        </p:nvSpPr>
        <p:spPr>
          <a:xfrm>
            <a:off x="12827000" y="7810500"/>
            <a:ext cx="40640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Cycle distribution</a:t>
            </a:r>
          </a:p>
        </p:txBody>
      </p:sp>
      <p:sp>
        <p:nvSpPr>
          <p:cNvPr id="50" name="Rectangle 49">
            <a:extLst>
              <a:ext uri="{FF2B5EF4-FFF2-40B4-BE49-F238E27FC236}">
                <a16:creationId xmlns:a16="http://schemas.microsoft.com/office/drawing/2014/main" id="{50DF8281-4D46-3973-760D-4E4DCAFC71A4}"/>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E9E2121E-FDD2-7D89-FD91-8F95B671C7BD}"/>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372288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35D1E682-C6E8-82D3-2359-F2F9ED38DD96}"/>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9A4FC4BE-FC1F-7CB4-0E57-A36219D368E5}"/>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E46724B4-CB03-C894-1EF9-738AD4A16DF0}"/>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45B1D09E-9955-F673-9A9B-E01331690B8E}"/>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7B4D9253-BD3A-D8E7-5B64-37FF83B4CDE4}"/>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D1C3DC25-7EF3-CE84-9F36-FD1910A6F45E}"/>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8" name="Straight Connector 7">
            <a:extLst>
              <a:ext uri="{FF2B5EF4-FFF2-40B4-BE49-F238E27FC236}">
                <a16:creationId xmlns:a16="http://schemas.microsoft.com/office/drawing/2014/main" id="{363208BA-AB44-984D-F106-130BDC15EE00}"/>
              </a:ext>
            </a:extLst>
          </p:cNvPr>
          <p:cNvCxnSpPr/>
          <p:nvPr/>
        </p:nvCxnSpPr>
        <p:spPr>
          <a:xfrm>
            <a:off x="10121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CC2FB76-FB78-2B73-A820-12CC0A2FE06D}"/>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F38C2627-71D9-C79D-DF0C-B91EABB688A4}"/>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22</a:t>
            </a:r>
          </a:p>
        </p:txBody>
      </p:sp>
      <p:sp>
        <p:nvSpPr>
          <p:cNvPr id="11" name="TextBox 10">
            <a:extLst>
              <a:ext uri="{FF2B5EF4-FFF2-40B4-BE49-F238E27FC236}">
                <a16:creationId xmlns:a16="http://schemas.microsoft.com/office/drawing/2014/main" id="{816E105C-7261-697B-DD65-775E48A94F65}"/>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QUALITY ROOT-CAUSE</a:t>
            </a:r>
          </a:p>
        </p:txBody>
      </p:sp>
      <p:sp>
        <p:nvSpPr>
          <p:cNvPr id="12" name="TextBox 11">
            <a:extLst>
              <a:ext uri="{FF2B5EF4-FFF2-40B4-BE49-F238E27FC236}">
                <a16:creationId xmlns:a16="http://schemas.microsoft.com/office/drawing/2014/main" id="{4BBD382C-F147-54F6-3E80-CB01CD02191C}"/>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Từ triệu chứng đến đối tượng</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212D985C-59B7-F843-15E7-D4600A5F716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DC8C997-C97B-DD7B-15E7-0B11EAE842E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85B3957-CD53-159E-D33A-013363DBD53F}"/>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22</a:t>
            </a:r>
          </a:p>
        </p:txBody>
      </p:sp>
      <p:sp>
        <p:nvSpPr>
          <p:cNvPr id="16" name="Oval 15">
            <a:extLst>
              <a:ext uri="{FF2B5EF4-FFF2-40B4-BE49-F238E27FC236}">
                <a16:creationId xmlns:a16="http://schemas.microsoft.com/office/drawing/2014/main" id="{EAEAAF95-0E6B-2C14-D6F3-748845B13B63}"/>
              </a:ext>
            </a:extLst>
          </p:cNvPr>
          <p:cNvSpPr/>
          <p:nvPr/>
        </p:nvSpPr>
        <p:spPr>
          <a:xfrm>
            <a:off x="2667000" y="3238500"/>
            <a:ext cx="1524000" cy="15240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FED7F70-4279-672D-4FA1-006F42135161}"/>
              </a:ext>
            </a:extLst>
          </p:cNvPr>
          <p:cNvSpPr txBox="1"/>
          <p:nvPr/>
        </p:nvSpPr>
        <p:spPr>
          <a:xfrm>
            <a:off x="27940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PART</a:t>
            </a:r>
          </a:p>
        </p:txBody>
      </p:sp>
      <p:sp>
        <p:nvSpPr>
          <p:cNvPr id="18" name="TextBox 17">
            <a:extLst>
              <a:ext uri="{FF2B5EF4-FFF2-40B4-BE49-F238E27FC236}">
                <a16:creationId xmlns:a16="http://schemas.microsoft.com/office/drawing/2014/main" id="{8F0A70A6-200B-0DD8-53FB-64BEFD155B3B}"/>
              </a:ext>
            </a:extLst>
          </p:cNvPr>
          <p:cNvSpPr txBox="1"/>
          <p:nvPr/>
        </p:nvSpPr>
        <p:spPr>
          <a:xfrm>
            <a:off x="11430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Part rủi ro / scrap ratio</a:t>
            </a:r>
          </a:p>
        </p:txBody>
      </p:sp>
      <p:cxnSp>
        <p:nvCxnSpPr>
          <p:cNvPr id="19" name="Straight Connector 18">
            <a:extLst>
              <a:ext uri="{FF2B5EF4-FFF2-40B4-BE49-F238E27FC236}">
                <a16:creationId xmlns:a16="http://schemas.microsoft.com/office/drawing/2014/main" id="{6BE3E89C-4123-40CF-408E-4687A1DA6215}"/>
              </a:ext>
            </a:extLst>
          </p:cNvPr>
          <p:cNvCxnSpPr/>
          <p:nvPr/>
        </p:nvCxnSpPr>
        <p:spPr>
          <a:xfrm>
            <a:off x="4318000" y="4000500"/>
            <a:ext cx="19685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48CD56CA-A357-0D98-4C94-2EAC1C93E16B}"/>
              </a:ext>
            </a:extLst>
          </p:cNvPr>
          <p:cNvSpPr/>
          <p:nvPr/>
        </p:nvSpPr>
        <p:spPr>
          <a:xfrm>
            <a:off x="8191500" y="3238500"/>
            <a:ext cx="1524000" cy="15240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4568DB8-FD80-72EA-0226-D665CFC26CFE}"/>
              </a:ext>
            </a:extLst>
          </p:cNvPr>
          <p:cNvSpPr txBox="1"/>
          <p:nvPr/>
        </p:nvSpPr>
        <p:spPr>
          <a:xfrm>
            <a:off x="83185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FEEDER</a:t>
            </a:r>
          </a:p>
        </p:txBody>
      </p:sp>
      <p:sp>
        <p:nvSpPr>
          <p:cNvPr id="22" name="TextBox 21">
            <a:extLst>
              <a:ext uri="{FF2B5EF4-FFF2-40B4-BE49-F238E27FC236}">
                <a16:creationId xmlns:a16="http://schemas.microsoft.com/office/drawing/2014/main" id="{9C22938C-2564-0AFA-8467-C1DBDED76EC6}"/>
              </a:ext>
            </a:extLst>
          </p:cNvPr>
          <p:cNvSpPr txBox="1"/>
          <p:nvPr/>
        </p:nvSpPr>
        <p:spPr>
          <a:xfrm>
            <a:off x="66675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Table • slot • side • reel</a:t>
            </a:r>
          </a:p>
        </p:txBody>
      </p:sp>
      <p:cxnSp>
        <p:nvCxnSpPr>
          <p:cNvPr id="23" name="Straight Connector 22">
            <a:extLst>
              <a:ext uri="{FF2B5EF4-FFF2-40B4-BE49-F238E27FC236}">
                <a16:creationId xmlns:a16="http://schemas.microsoft.com/office/drawing/2014/main" id="{25F487D6-AAC8-6D6B-D5E5-D6B61E445E5F}"/>
              </a:ext>
            </a:extLst>
          </p:cNvPr>
          <p:cNvCxnSpPr/>
          <p:nvPr/>
        </p:nvCxnSpPr>
        <p:spPr>
          <a:xfrm>
            <a:off x="9842500" y="4000500"/>
            <a:ext cx="19685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DAD62614-605C-4411-8D1A-C074505BEB8D}"/>
              </a:ext>
            </a:extLst>
          </p:cNvPr>
          <p:cNvSpPr/>
          <p:nvPr/>
        </p:nvSpPr>
        <p:spPr>
          <a:xfrm>
            <a:off x="13716000" y="3238500"/>
            <a:ext cx="1524000" cy="15240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188DDDD-2042-7C48-9BC4-C6293DDB8FDE}"/>
              </a:ext>
            </a:extLst>
          </p:cNvPr>
          <p:cNvSpPr txBox="1"/>
          <p:nvPr/>
        </p:nvSpPr>
        <p:spPr>
          <a:xfrm>
            <a:off x="138430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NOZZLE</a:t>
            </a:r>
          </a:p>
        </p:txBody>
      </p:sp>
      <p:sp>
        <p:nvSpPr>
          <p:cNvPr id="26" name="TextBox 25">
            <a:extLst>
              <a:ext uri="{FF2B5EF4-FFF2-40B4-BE49-F238E27FC236}">
                <a16:creationId xmlns:a16="http://schemas.microsoft.com/office/drawing/2014/main" id="{7DA9B502-1E4C-FA9E-D627-807585A32404}"/>
              </a:ext>
            </a:extLst>
          </p:cNvPr>
          <p:cNvSpPr txBox="1"/>
          <p:nvPr/>
        </p:nvSpPr>
        <p:spPr>
          <a:xfrm>
            <a:off x="121920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Head • nozzle • miss</a:t>
            </a:r>
          </a:p>
        </p:txBody>
      </p:sp>
      <p:sp>
        <p:nvSpPr>
          <p:cNvPr id="27" name="Rectangle: Rounded Corners 26">
            <a:extLst>
              <a:ext uri="{FF2B5EF4-FFF2-40B4-BE49-F238E27FC236}">
                <a16:creationId xmlns:a16="http://schemas.microsoft.com/office/drawing/2014/main" id="{78C6BFAB-7466-9029-C37B-0CFEB3ECC73F}"/>
              </a:ext>
            </a:extLst>
          </p:cNvPr>
          <p:cNvSpPr/>
          <p:nvPr/>
        </p:nvSpPr>
        <p:spPr>
          <a:xfrm>
            <a:off x="2413000" y="6731000"/>
            <a:ext cx="13462000" cy="11430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A8CC20B-AD08-561B-0FD7-EED4E5DA86AE}"/>
              </a:ext>
            </a:extLst>
          </p:cNvPr>
          <p:cNvSpPr txBox="1"/>
          <p:nvPr/>
        </p:nvSpPr>
        <p:spPr>
          <a:xfrm>
            <a:off x="2857500" y="7010400"/>
            <a:ext cx="12573000" cy="338554"/>
          </a:xfrm>
          <a:prstGeom prst="rect">
            <a:avLst/>
          </a:prstGeom>
          <a:noFill/>
        </p:spPr>
        <p:txBody>
          <a:bodyPr vert="horz" wrap="square" lIns="0" tIns="0" rIns="0" bIns="0" rtlCol="0">
            <a:spAutoFit/>
          </a:bodyPr>
          <a:lstStyle/>
          <a:p>
            <a:pPr algn="ctr"/>
            <a:r>
              <a:rPr lang="en-US" sz="2200" b="1">
                <a:solidFill>
                  <a:srgbClr val="FFFFFF"/>
                </a:solidFill>
                <a:latin typeface="Arial" panose="020B0604020202020204" pitchFamily="34" charset="0"/>
              </a:rPr>
              <a:t>Pickup + Placement + Miss groups + Scrap ratio</a:t>
            </a:r>
          </a:p>
        </p:txBody>
      </p:sp>
      <p:sp>
        <p:nvSpPr>
          <p:cNvPr id="29" name="TextBox 28">
            <a:extLst>
              <a:ext uri="{FF2B5EF4-FFF2-40B4-BE49-F238E27FC236}">
                <a16:creationId xmlns:a16="http://schemas.microsoft.com/office/drawing/2014/main" id="{3F819237-5034-A460-9E50-3662F236142A}"/>
              </a:ext>
            </a:extLst>
          </p:cNvPr>
          <p:cNvSpPr txBox="1"/>
          <p:nvPr/>
        </p:nvSpPr>
        <p:spPr>
          <a:xfrm>
            <a:off x="2857500" y="7442200"/>
            <a:ext cx="125730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Cùng logic KPI, thay đổi cấp phân tích.</a:t>
            </a:r>
          </a:p>
        </p:txBody>
      </p:sp>
      <p:sp>
        <p:nvSpPr>
          <p:cNvPr id="30" name="Rectangle 29">
            <a:extLst>
              <a:ext uri="{FF2B5EF4-FFF2-40B4-BE49-F238E27FC236}">
                <a16:creationId xmlns:a16="http://schemas.microsoft.com/office/drawing/2014/main" id="{4DAE7C2C-F525-F5F3-4D7F-CA158BE73A9E}"/>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959FA9A-383F-E05C-4FCB-E88136813057}"/>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3981895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F8A10E99-BC50-DF1E-D601-B6E32147CC6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EC59223D-893B-AC12-E295-F1D3EB3FCD7E}"/>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895E870A-7F49-1FDE-3110-605CC2AC6FFF}"/>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316428D3-AADA-1925-631D-4B5B91403870}"/>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B94ACAFE-0C65-5736-9FA7-2D846D54C541}"/>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09644D10-1828-4E1C-491F-5BB6D3CAF942}"/>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8" name="Straight Connector 7">
            <a:extLst>
              <a:ext uri="{FF2B5EF4-FFF2-40B4-BE49-F238E27FC236}">
                <a16:creationId xmlns:a16="http://schemas.microsoft.com/office/drawing/2014/main" id="{9E197C7C-24AC-14A3-3D65-9D58B19F82C4}"/>
              </a:ext>
            </a:extLst>
          </p:cNvPr>
          <p:cNvCxnSpPr/>
          <p:nvPr/>
        </p:nvCxnSpPr>
        <p:spPr>
          <a:xfrm>
            <a:off x="10121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05E4968-C8C6-6787-6720-2C5916843E95}"/>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F02AE252-D903-4A72-B516-F9CC72377AA1}"/>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23</a:t>
            </a:r>
          </a:p>
        </p:txBody>
      </p:sp>
      <p:sp>
        <p:nvSpPr>
          <p:cNvPr id="11" name="TextBox 10">
            <a:extLst>
              <a:ext uri="{FF2B5EF4-FFF2-40B4-BE49-F238E27FC236}">
                <a16:creationId xmlns:a16="http://schemas.microsoft.com/office/drawing/2014/main" id="{9B05405D-0062-6FE5-A3D9-FED70807CCBB}"/>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LOSS ANALYSIS</a:t>
            </a:r>
          </a:p>
        </p:txBody>
      </p:sp>
      <p:sp>
        <p:nvSpPr>
          <p:cNvPr id="12" name="TextBox 11">
            <a:extLst>
              <a:ext uri="{FF2B5EF4-FFF2-40B4-BE49-F238E27FC236}">
                <a16:creationId xmlns:a16="http://schemas.microsoft.com/office/drawing/2014/main" id="{1D8FB54A-5180-2DA5-11D3-5241A97954D1}"/>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Downtime và PPM định hướng cải tiến</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3F342C59-1DC6-8E69-C8CF-939A74DBCEB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EDED894-02BB-960A-9880-D3E7C6FE25CD}"/>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3FFC1A4-5A08-7048-4369-B694C43E308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23</a:t>
            </a:r>
          </a:p>
        </p:txBody>
      </p:sp>
      <p:sp>
        <p:nvSpPr>
          <p:cNvPr id="16" name="Rectangle: Rounded Corners 15">
            <a:extLst>
              <a:ext uri="{FF2B5EF4-FFF2-40B4-BE49-F238E27FC236}">
                <a16:creationId xmlns:a16="http://schemas.microsoft.com/office/drawing/2014/main" id="{86E9209A-DF83-BF08-B310-1EF7A22F4EA4}"/>
              </a:ext>
            </a:extLst>
          </p:cNvPr>
          <p:cNvSpPr/>
          <p:nvPr/>
        </p:nvSpPr>
        <p:spPr>
          <a:xfrm>
            <a:off x="889000" y="2984500"/>
            <a:ext cx="9969500" cy="4953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48866FA-E91C-193E-4CDD-0F658B9F813B}"/>
              </a:ext>
            </a:extLst>
          </p:cNvPr>
          <p:cNvSpPr txBox="1"/>
          <p:nvPr/>
        </p:nvSpPr>
        <p:spPr>
          <a:xfrm>
            <a:off x="1333500" y="3429000"/>
            <a:ext cx="4445000" cy="276999"/>
          </a:xfrm>
          <a:prstGeom prst="rect">
            <a:avLst/>
          </a:prstGeom>
          <a:noFill/>
        </p:spPr>
        <p:txBody>
          <a:bodyPr vert="horz" wrap="square" lIns="0" tIns="0" rIns="0" bIns="0" rtlCol="0">
            <a:spAutoFit/>
          </a:bodyPr>
          <a:lstStyle/>
          <a:p>
            <a:r>
              <a:rPr lang="en-US" b="1">
                <a:solidFill>
                  <a:srgbClr val="00E6F0"/>
                </a:solidFill>
                <a:latin typeface="Arial" panose="020B0604020202020204" pitchFamily="34" charset="0"/>
              </a:rPr>
              <a:t>DOWNTIME GROUPS</a:t>
            </a:r>
          </a:p>
        </p:txBody>
      </p:sp>
      <p:sp>
        <p:nvSpPr>
          <p:cNvPr id="18" name="TextBox 17">
            <a:extLst>
              <a:ext uri="{FF2B5EF4-FFF2-40B4-BE49-F238E27FC236}">
                <a16:creationId xmlns:a16="http://schemas.microsoft.com/office/drawing/2014/main" id="{67EB3AD3-0DC6-5875-F809-6EAEE85B8346}"/>
              </a:ext>
            </a:extLst>
          </p:cNvPr>
          <p:cNvSpPr txBox="1"/>
          <p:nvPr/>
        </p:nvSpPr>
        <p:spPr>
          <a:xfrm>
            <a:off x="1333500" y="41910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Pickup error</a:t>
            </a:r>
          </a:p>
        </p:txBody>
      </p:sp>
      <p:sp>
        <p:nvSpPr>
          <p:cNvPr id="19" name="Rectangle 18">
            <a:extLst>
              <a:ext uri="{FF2B5EF4-FFF2-40B4-BE49-F238E27FC236}">
                <a16:creationId xmlns:a16="http://schemas.microsoft.com/office/drawing/2014/main" id="{9E32D222-1541-7620-948C-2E76E85F5DC5}"/>
              </a:ext>
            </a:extLst>
          </p:cNvPr>
          <p:cNvSpPr/>
          <p:nvPr/>
        </p:nvSpPr>
        <p:spPr>
          <a:xfrm>
            <a:off x="4064000" y="42164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A82A597-1440-9A61-3D09-D5BECBA64403}"/>
              </a:ext>
            </a:extLst>
          </p:cNvPr>
          <p:cNvSpPr/>
          <p:nvPr/>
        </p:nvSpPr>
        <p:spPr>
          <a:xfrm>
            <a:off x="4064000" y="4216400"/>
            <a:ext cx="5024120" cy="2286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7E5B221-3320-2464-E1FF-929F930CAA63}"/>
              </a:ext>
            </a:extLst>
          </p:cNvPr>
          <p:cNvSpPr txBox="1"/>
          <p:nvPr/>
        </p:nvSpPr>
        <p:spPr>
          <a:xfrm>
            <a:off x="1333500" y="48641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Recognition error</a:t>
            </a:r>
          </a:p>
        </p:txBody>
      </p:sp>
      <p:sp>
        <p:nvSpPr>
          <p:cNvPr id="22" name="Rectangle 21">
            <a:extLst>
              <a:ext uri="{FF2B5EF4-FFF2-40B4-BE49-F238E27FC236}">
                <a16:creationId xmlns:a16="http://schemas.microsoft.com/office/drawing/2014/main" id="{15852789-6D82-8472-4799-A1D0E27262FF}"/>
              </a:ext>
            </a:extLst>
          </p:cNvPr>
          <p:cNvSpPr/>
          <p:nvPr/>
        </p:nvSpPr>
        <p:spPr>
          <a:xfrm>
            <a:off x="4064000" y="48895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DD0AA5D-E0FC-A620-4C0D-D685BA52548A}"/>
              </a:ext>
            </a:extLst>
          </p:cNvPr>
          <p:cNvSpPr/>
          <p:nvPr/>
        </p:nvSpPr>
        <p:spPr>
          <a:xfrm>
            <a:off x="4064000" y="4889500"/>
            <a:ext cx="3972560" cy="2286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FD0A7F9-A56A-88FF-D897-328148FE2B4D}"/>
              </a:ext>
            </a:extLst>
          </p:cNvPr>
          <p:cNvSpPr txBox="1"/>
          <p:nvPr/>
        </p:nvSpPr>
        <p:spPr>
          <a:xfrm>
            <a:off x="1333500" y="55372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Single error stop</a:t>
            </a:r>
          </a:p>
        </p:txBody>
      </p:sp>
      <p:sp>
        <p:nvSpPr>
          <p:cNvPr id="25" name="Rectangle 24">
            <a:extLst>
              <a:ext uri="{FF2B5EF4-FFF2-40B4-BE49-F238E27FC236}">
                <a16:creationId xmlns:a16="http://schemas.microsoft.com/office/drawing/2014/main" id="{6BB129BE-6032-4325-3387-C3DF13319E6E}"/>
              </a:ext>
            </a:extLst>
          </p:cNvPr>
          <p:cNvSpPr/>
          <p:nvPr/>
        </p:nvSpPr>
        <p:spPr>
          <a:xfrm>
            <a:off x="4064000" y="55626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8B0E313-8277-674F-D071-F49978B31B31}"/>
              </a:ext>
            </a:extLst>
          </p:cNvPr>
          <p:cNvSpPr/>
          <p:nvPr/>
        </p:nvSpPr>
        <p:spPr>
          <a:xfrm>
            <a:off x="4064000" y="5562600"/>
            <a:ext cx="3037840" cy="2286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DFFBDBB-1DF5-0474-A64B-AC7FE0508B95}"/>
              </a:ext>
            </a:extLst>
          </p:cNvPr>
          <p:cNvSpPr txBox="1"/>
          <p:nvPr/>
        </p:nvSpPr>
        <p:spPr>
          <a:xfrm>
            <a:off x="1333500" y="62103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Trouble stop</a:t>
            </a:r>
          </a:p>
        </p:txBody>
      </p:sp>
      <p:sp>
        <p:nvSpPr>
          <p:cNvPr id="28" name="Rectangle 27">
            <a:extLst>
              <a:ext uri="{FF2B5EF4-FFF2-40B4-BE49-F238E27FC236}">
                <a16:creationId xmlns:a16="http://schemas.microsoft.com/office/drawing/2014/main" id="{308C5D38-887D-33A2-0F34-623F74AF9618}"/>
              </a:ext>
            </a:extLst>
          </p:cNvPr>
          <p:cNvSpPr/>
          <p:nvPr/>
        </p:nvSpPr>
        <p:spPr>
          <a:xfrm>
            <a:off x="4064000" y="62357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4EBBD7A-836B-738E-05C9-E64B85CB9E67}"/>
              </a:ext>
            </a:extLst>
          </p:cNvPr>
          <p:cNvSpPr/>
          <p:nvPr/>
        </p:nvSpPr>
        <p:spPr>
          <a:xfrm>
            <a:off x="4064000" y="6235700"/>
            <a:ext cx="2278380" cy="2286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71CC6DB-EF1B-F250-883E-705F26C585B6}"/>
              </a:ext>
            </a:extLst>
          </p:cNvPr>
          <p:cNvSpPr txBox="1"/>
          <p:nvPr/>
        </p:nvSpPr>
        <p:spPr>
          <a:xfrm>
            <a:off x="1333500" y="68834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Part exhaust</a:t>
            </a:r>
          </a:p>
        </p:txBody>
      </p:sp>
      <p:sp>
        <p:nvSpPr>
          <p:cNvPr id="31" name="Rectangle 30">
            <a:extLst>
              <a:ext uri="{FF2B5EF4-FFF2-40B4-BE49-F238E27FC236}">
                <a16:creationId xmlns:a16="http://schemas.microsoft.com/office/drawing/2014/main" id="{E2C6206F-AAC9-57A9-78D1-B8BBEFEC26B5}"/>
              </a:ext>
            </a:extLst>
          </p:cNvPr>
          <p:cNvSpPr/>
          <p:nvPr/>
        </p:nvSpPr>
        <p:spPr>
          <a:xfrm>
            <a:off x="4064000" y="69088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84106E0-837F-E915-B716-A42103C5DF2A}"/>
              </a:ext>
            </a:extLst>
          </p:cNvPr>
          <p:cNvSpPr/>
          <p:nvPr/>
        </p:nvSpPr>
        <p:spPr>
          <a:xfrm>
            <a:off x="4064000" y="6908800"/>
            <a:ext cx="3563620" cy="2286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892EDF1F-877C-CFE0-0CB2-D50ED150BDBD}"/>
              </a:ext>
            </a:extLst>
          </p:cNvPr>
          <p:cNvSpPr/>
          <p:nvPr/>
        </p:nvSpPr>
        <p:spPr>
          <a:xfrm>
            <a:off x="11747500" y="2984500"/>
            <a:ext cx="5651500" cy="4953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E8E44C8-A4C9-54C9-28F6-144691906270}"/>
              </a:ext>
            </a:extLst>
          </p:cNvPr>
          <p:cNvSpPr txBox="1"/>
          <p:nvPr/>
        </p:nvSpPr>
        <p:spPr>
          <a:xfrm>
            <a:off x="12192000" y="3492500"/>
            <a:ext cx="1905000" cy="523220"/>
          </a:xfrm>
          <a:prstGeom prst="rect">
            <a:avLst/>
          </a:prstGeom>
          <a:noFill/>
        </p:spPr>
        <p:txBody>
          <a:bodyPr vert="horz" wrap="square" lIns="0" tIns="0" rIns="0" bIns="0" rtlCol="0">
            <a:spAutoFit/>
          </a:bodyPr>
          <a:lstStyle/>
          <a:p>
            <a:r>
              <a:rPr lang="en-US" sz="3400" b="1">
                <a:solidFill>
                  <a:srgbClr val="22C55E"/>
                </a:solidFill>
                <a:latin typeface="Arial" panose="020B0604020202020204" pitchFamily="34" charset="0"/>
              </a:rPr>
              <a:t>PPM</a:t>
            </a:r>
          </a:p>
        </p:txBody>
      </p:sp>
      <p:sp>
        <p:nvSpPr>
          <p:cNvPr id="35" name="TextBox 34">
            <a:extLst>
              <a:ext uri="{FF2B5EF4-FFF2-40B4-BE49-F238E27FC236}">
                <a16:creationId xmlns:a16="http://schemas.microsoft.com/office/drawing/2014/main" id="{E894EC34-FADA-BF50-BD6A-712DD91F791F}"/>
              </a:ext>
            </a:extLst>
          </p:cNvPr>
          <p:cNvSpPr txBox="1"/>
          <p:nvPr/>
        </p:nvSpPr>
        <p:spPr>
          <a:xfrm>
            <a:off x="12192000" y="4445000"/>
            <a:ext cx="4445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 Quality misses × 1,000,000</a:t>
            </a:r>
          </a:p>
        </p:txBody>
      </p:sp>
      <p:sp>
        <p:nvSpPr>
          <p:cNvPr id="36" name="TextBox 35">
            <a:extLst>
              <a:ext uri="{FF2B5EF4-FFF2-40B4-BE49-F238E27FC236}">
                <a16:creationId xmlns:a16="http://schemas.microsoft.com/office/drawing/2014/main" id="{F1755F65-EF53-664C-1092-078EFAB0A46C}"/>
              </a:ext>
            </a:extLst>
          </p:cNvPr>
          <p:cNvSpPr txBox="1"/>
          <p:nvPr/>
        </p:nvSpPr>
        <p:spPr>
          <a:xfrm>
            <a:off x="12192000" y="4953000"/>
            <a:ext cx="4445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Total pickup / placement</a:t>
            </a:r>
          </a:p>
        </p:txBody>
      </p:sp>
      <p:cxnSp>
        <p:nvCxnSpPr>
          <p:cNvPr id="37" name="Straight Connector 36">
            <a:extLst>
              <a:ext uri="{FF2B5EF4-FFF2-40B4-BE49-F238E27FC236}">
                <a16:creationId xmlns:a16="http://schemas.microsoft.com/office/drawing/2014/main" id="{8F47A82F-4FF5-D939-0655-8ADDEB37B87F}"/>
              </a:ext>
            </a:extLst>
          </p:cNvPr>
          <p:cNvCxnSpPr/>
          <p:nvPr/>
        </p:nvCxnSpPr>
        <p:spPr>
          <a:xfrm>
            <a:off x="12192000" y="5461000"/>
            <a:ext cx="45085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1FBD1538-116F-ABAD-7097-62B241E5E171}"/>
              </a:ext>
            </a:extLst>
          </p:cNvPr>
          <p:cNvSpPr/>
          <p:nvPr/>
        </p:nvSpPr>
        <p:spPr>
          <a:xfrm>
            <a:off x="12192000" y="6070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E3B7395-7FD0-829D-1FA9-0EE89EB0EDA6}"/>
              </a:ext>
            </a:extLst>
          </p:cNvPr>
          <p:cNvSpPr txBox="1"/>
          <p:nvPr/>
        </p:nvSpPr>
        <p:spPr>
          <a:xfrm>
            <a:off x="12496800" y="5969000"/>
            <a:ext cx="41402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So sánh giữa các line</a:t>
            </a:r>
          </a:p>
        </p:txBody>
      </p:sp>
      <p:sp>
        <p:nvSpPr>
          <p:cNvPr id="40" name="Oval 39">
            <a:extLst>
              <a:ext uri="{FF2B5EF4-FFF2-40B4-BE49-F238E27FC236}">
                <a16:creationId xmlns:a16="http://schemas.microsoft.com/office/drawing/2014/main" id="{3462A233-4D7B-7E07-394F-D537E228C40A}"/>
              </a:ext>
            </a:extLst>
          </p:cNvPr>
          <p:cNvSpPr/>
          <p:nvPr/>
        </p:nvSpPr>
        <p:spPr>
          <a:xfrm>
            <a:off x="12192000" y="6642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962851A4-9378-FB7D-43CD-93EA4FB9375E}"/>
              </a:ext>
            </a:extLst>
          </p:cNvPr>
          <p:cNvSpPr txBox="1"/>
          <p:nvPr/>
        </p:nvSpPr>
        <p:spPr>
          <a:xfrm>
            <a:off x="12496800" y="6540500"/>
            <a:ext cx="41402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Ưu tiên nhóm tổn thất lớn</a:t>
            </a:r>
            <a:endParaRPr lang="en-US" sz="1600">
              <a:solidFill>
                <a:srgbClr val="E6F0FA"/>
              </a:solidFill>
              <a:latin typeface="Arial" panose="020B0604020202020204" pitchFamily="34" charset="0"/>
            </a:endParaRPr>
          </a:p>
        </p:txBody>
      </p:sp>
      <p:sp>
        <p:nvSpPr>
          <p:cNvPr id="42" name="Oval 41">
            <a:extLst>
              <a:ext uri="{FF2B5EF4-FFF2-40B4-BE49-F238E27FC236}">
                <a16:creationId xmlns:a16="http://schemas.microsoft.com/office/drawing/2014/main" id="{8BBE0441-08A6-CF55-8C05-7F3B7F1652F9}"/>
              </a:ext>
            </a:extLst>
          </p:cNvPr>
          <p:cNvSpPr/>
          <p:nvPr/>
        </p:nvSpPr>
        <p:spPr>
          <a:xfrm>
            <a:off x="12192000" y="7213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3D04C352-0DC6-B455-0B97-570EBB5AF36A}"/>
              </a:ext>
            </a:extLst>
          </p:cNvPr>
          <p:cNvSpPr txBox="1"/>
          <p:nvPr/>
        </p:nvSpPr>
        <p:spPr>
          <a:xfrm>
            <a:off x="12496800" y="7112000"/>
            <a:ext cx="41402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Đo count và time</a:t>
            </a:r>
          </a:p>
        </p:txBody>
      </p:sp>
      <p:sp>
        <p:nvSpPr>
          <p:cNvPr id="44" name="TextBox 43">
            <a:extLst>
              <a:ext uri="{FF2B5EF4-FFF2-40B4-BE49-F238E27FC236}">
                <a16:creationId xmlns:a16="http://schemas.microsoft.com/office/drawing/2014/main" id="{A061523B-9FEC-7A47-F0E9-88C46EA98B4B}"/>
              </a:ext>
            </a:extLst>
          </p:cNvPr>
          <p:cNvSpPr txBox="1"/>
          <p:nvPr/>
        </p:nvSpPr>
        <p:spPr>
          <a:xfrm>
            <a:off x="889000" y="8318500"/>
            <a:ext cx="16510000" cy="184666"/>
          </a:xfrm>
          <a:prstGeom prst="rect">
            <a:avLst/>
          </a:prstGeom>
          <a:noFill/>
        </p:spPr>
        <p:txBody>
          <a:bodyPr vert="horz" wrap="square" lIns="0" tIns="0" rIns="0" bIns="0" rtlCol="0">
            <a:spAutoFit/>
          </a:bodyPr>
          <a:lstStyle/>
          <a:p>
            <a:pPr algn="ctr"/>
            <a:r>
              <a:rPr lang="en-US" sz="1200">
                <a:solidFill>
                  <a:srgbClr val="94A3B8"/>
                </a:solidFill>
                <a:latin typeface="Arial" panose="020B0604020202020204" pitchFamily="34" charset="0"/>
              </a:rPr>
              <a:t>Thanh biểu đồ chỉ minh họa layout; không phải số liệu thực.</a:t>
            </a:r>
          </a:p>
        </p:txBody>
      </p:sp>
      <p:sp>
        <p:nvSpPr>
          <p:cNvPr id="45" name="Rectangle 44">
            <a:extLst>
              <a:ext uri="{FF2B5EF4-FFF2-40B4-BE49-F238E27FC236}">
                <a16:creationId xmlns:a16="http://schemas.microsoft.com/office/drawing/2014/main" id="{D291E06A-7AB1-FB4F-36CB-2150035C880E}"/>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2C1FDDB-F1DC-1B96-9BFB-6A1408581F64}"/>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1737285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9B0C37EC-2C86-63FB-A239-6BE6C3E52749}"/>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4389C930-691D-57CC-C734-45CB0E8407DD}"/>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11890923-9A87-747B-93AD-FF84C27925E9}"/>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6890A546-5171-83BA-CB42-4E606421ABF6}"/>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AC8858C3-A80B-2C34-D41D-2A9C5F31E3FE}"/>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FEEBA599-B0B5-9501-7910-5EF1B5BEE6B4}"/>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REPORTS</a:t>
            </a:r>
          </a:p>
        </p:txBody>
      </p:sp>
      <p:cxnSp>
        <p:nvCxnSpPr>
          <p:cNvPr id="8" name="Straight Connector 7">
            <a:extLst>
              <a:ext uri="{FF2B5EF4-FFF2-40B4-BE49-F238E27FC236}">
                <a16:creationId xmlns:a16="http://schemas.microsoft.com/office/drawing/2014/main" id="{27EDCDC3-3089-8502-6702-0946F540C2B9}"/>
              </a:ext>
            </a:extLst>
          </p:cNvPr>
          <p:cNvCxnSpPr/>
          <p:nvPr/>
        </p:nvCxnSpPr>
        <p:spPr>
          <a:xfrm>
            <a:off x="101219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E423C34-4231-D3B8-E525-94C144FF5939}"/>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DEMO</a:t>
            </a:r>
          </a:p>
        </p:txBody>
      </p:sp>
      <p:sp>
        <p:nvSpPr>
          <p:cNvPr id="10" name="TextBox 9">
            <a:extLst>
              <a:ext uri="{FF2B5EF4-FFF2-40B4-BE49-F238E27FC236}">
                <a16:creationId xmlns:a16="http://schemas.microsoft.com/office/drawing/2014/main" id="{AA3B3443-C9EF-6EE8-581A-F619E1B77DFD}"/>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24</a:t>
            </a:r>
          </a:p>
        </p:txBody>
      </p:sp>
      <p:sp>
        <p:nvSpPr>
          <p:cNvPr id="11" name="TextBox 10">
            <a:extLst>
              <a:ext uri="{FF2B5EF4-FFF2-40B4-BE49-F238E27FC236}">
                <a16:creationId xmlns:a16="http://schemas.microsoft.com/office/drawing/2014/main" id="{609B2EA6-7EE3-1102-7983-F1035B3790FA}"/>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FILTER • TABLE • EXPORT</a:t>
            </a:r>
          </a:p>
        </p:txBody>
      </p:sp>
      <p:sp>
        <p:nvSpPr>
          <p:cNvPr id="12" name="TextBox 11">
            <a:extLst>
              <a:ext uri="{FF2B5EF4-FFF2-40B4-BE49-F238E27FC236}">
                <a16:creationId xmlns:a16="http://schemas.microsoft.com/office/drawing/2014/main" id="{E00D347A-CD9B-167A-6744-5E4703DC8D03}"/>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Một trải nghiệm phân tích lặp lại</a:t>
            </a:r>
          </a:p>
        </p:txBody>
      </p:sp>
      <p:cxnSp>
        <p:nvCxnSpPr>
          <p:cNvPr id="13" name="Straight Connector 12">
            <a:extLst>
              <a:ext uri="{FF2B5EF4-FFF2-40B4-BE49-F238E27FC236}">
                <a16:creationId xmlns:a16="http://schemas.microsoft.com/office/drawing/2014/main" id="{238D2233-2D5C-D278-4DF0-3E4AD9675E84}"/>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D888E90-1226-7FE6-594C-E1192C63375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3DCA16FB-D086-6C44-9F70-3F13B3F43BE3}"/>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24</a:t>
            </a:r>
          </a:p>
        </p:txBody>
      </p:sp>
      <p:sp>
        <p:nvSpPr>
          <p:cNvPr id="16" name="Rectangle: Rounded Corners 15">
            <a:extLst>
              <a:ext uri="{FF2B5EF4-FFF2-40B4-BE49-F238E27FC236}">
                <a16:creationId xmlns:a16="http://schemas.microsoft.com/office/drawing/2014/main" id="{1C10EF34-B3F6-D90B-AB79-F9828226324F}"/>
              </a:ext>
            </a:extLst>
          </p:cNvPr>
          <p:cNvSpPr/>
          <p:nvPr/>
        </p:nvSpPr>
        <p:spPr>
          <a:xfrm>
            <a:off x="8890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2A4ABCA-FC17-8B81-7011-6D782B4BE57A}"/>
              </a:ext>
            </a:extLst>
          </p:cNvPr>
          <p:cNvSpPr/>
          <p:nvPr/>
        </p:nvSpPr>
        <p:spPr>
          <a:xfrm>
            <a:off x="22098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4E45B6D-32CA-A4EE-4F0D-9D2B80779E6D}"/>
              </a:ext>
            </a:extLst>
          </p:cNvPr>
          <p:cNvSpPr txBox="1"/>
          <p:nvPr/>
        </p:nvSpPr>
        <p:spPr>
          <a:xfrm>
            <a:off x="24511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19" name="TextBox 18">
            <a:extLst>
              <a:ext uri="{FF2B5EF4-FFF2-40B4-BE49-F238E27FC236}">
                <a16:creationId xmlns:a16="http://schemas.microsoft.com/office/drawing/2014/main" id="{C918BC9F-B574-2A24-ECBA-8325B38F9D02}"/>
              </a:ext>
            </a:extLst>
          </p:cNvPr>
          <p:cNvSpPr txBox="1"/>
          <p:nvPr/>
        </p:nvSpPr>
        <p:spPr>
          <a:xfrm>
            <a:off x="11938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FILTER</a:t>
            </a:r>
          </a:p>
        </p:txBody>
      </p:sp>
      <p:sp>
        <p:nvSpPr>
          <p:cNvPr id="20" name="TextBox 19">
            <a:extLst>
              <a:ext uri="{FF2B5EF4-FFF2-40B4-BE49-F238E27FC236}">
                <a16:creationId xmlns:a16="http://schemas.microsoft.com/office/drawing/2014/main" id="{7049DDA1-1A84-EC2B-ED0F-B2B61AC10640}"/>
              </a:ext>
            </a:extLst>
          </p:cNvPr>
          <p:cNvSpPr txBox="1"/>
          <p:nvPr/>
        </p:nvSpPr>
        <p:spPr>
          <a:xfrm>
            <a:off x="1193800" y="4508500"/>
            <a:ext cx="3009900" cy="26161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Date • shift • line • model • part</a:t>
            </a:r>
          </a:p>
        </p:txBody>
      </p:sp>
      <p:cxnSp>
        <p:nvCxnSpPr>
          <p:cNvPr id="21" name="Straight Connector 20">
            <a:extLst>
              <a:ext uri="{FF2B5EF4-FFF2-40B4-BE49-F238E27FC236}">
                <a16:creationId xmlns:a16="http://schemas.microsoft.com/office/drawing/2014/main" id="{8BBE3BD2-2363-A34F-A1E8-C276191486B5}"/>
              </a:ext>
            </a:extLst>
          </p:cNvPr>
          <p:cNvCxnSpPr/>
          <p:nvPr/>
        </p:nvCxnSpPr>
        <p:spPr>
          <a:xfrm>
            <a:off x="45085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A04B0EFF-855A-4E09-3A7A-2AAB28EF2C95}"/>
              </a:ext>
            </a:extLst>
          </p:cNvPr>
          <p:cNvSpPr/>
          <p:nvPr/>
        </p:nvSpPr>
        <p:spPr>
          <a:xfrm>
            <a:off x="50165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05164ED-196D-2B83-C385-D859EB1F76EF}"/>
              </a:ext>
            </a:extLst>
          </p:cNvPr>
          <p:cNvSpPr/>
          <p:nvPr/>
        </p:nvSpPr>
        <p:spPr>
          <a:xfrm>
            <a:off x="63373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AF8D888-F6AA-37CA-7458-072C160F3140}"/>
              </a:ext>
            </a:extLst>
          </p:cNvPr>
          <p:cNvSpPr txBox="1"/>
          <p:nvPr/>
        </p:nvSpPr>
        <p:spPr>
          <a:xfrm>
            <a:off x="65786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B5840C38-D3DF-436B-0818-A78FF923A779}"/>
              </a:ext>
            </a:extLst>
          </p:cNvPr>
          <p:cNvSpPr txBox="1"/>
          <p:nvPr/>
        </p:nvSpPr>
        <p:spPr>
          <a:xfrm>
            <a:off x="53213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REVIEW</a:t>
            </a:r>
          </a:p>
        </p:txBody>
      </p:sp>
      <p:sp>
        <p:nvSpPr>
          <p:cNvPr id="26" name="TextBox 25">
            <a:extLst>
              <a:ext uri="{FF2B5EF4-FFF2-40B4-BE49-F238E27FC236}">
                <a16:creationId xmlns:a16="http://schemas.microsoft.com/office/drawing/2014/main" id="{866494FE-7E17-B7D0-5371-407E3D15014F}"/>
              </a:ext>
            </a:extLst>
          </p:cNvPr>
          <p:cNvSpPr txBox="1"/>
          <p:nvPr/>
        </p:nvSpPr>
        <p:spPr>
          <a:xfrm>
            <a:off x="53213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Chart + table chi tiết theo cùng điều kiện</a:t>
            </a:r>
          </a:p>
        </p:txBody>
      </p:sp>
      <p:cxnSp>
        <p:nvCxnSpPr>
          <p:cNvPr id="27" name="Straight Connector 26">
            <a:extLst>
              <a:ext uri="{FF2B5EF4-FFF2-40B4-BE49-F238E27FC236}">
                <a16:creationId xmlns:a16="http://schemas.microsoft.com/office/drawing/2014/main" id="{2765CCA7-1B7F-1E32-32C6-965EDFCCC0D1}"/>
              </a:ext>
            </a:extLst>
          </p:cNvPr>
          <p:cNvCxnSpPr/>
          <p:nvPr/>
        </p:nvCxnSpPr>
        <p:spPr>
          <a:xfrm>
            <a:off x="86360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6A5CFFA2-A5A5-E729-E9C9-7C08939DB34C}"/>
              </a:ext>
            </a:extLst>
          </p:cNvPr>
          <p:cNvSpPr/>
          <p:nvPr/>
        </p:nvSpPr>
        <p:spPr>
          <a:xfrm>
            <a:off x="91440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A65171D-3A81-3EFF-0A5C-D54B2BCF3461}"/>
              </a:ext>
            </a:extLst>
          </p:cNvPr>
          <p:cNvSpPr/>
          <p:nvPr/>
        </p:nvSpPr>
        <p:spPr>
          <a:xfrm>
            <a:off x="104648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1FF3789-E393-67CE-4CA5-A02588B1E9C0}"/>
              </a:ext>
            </a:extLst>
          </p:cNvPr>
          <p:cNvSpPr txBox="1"/>
          <p:nvPr/>
        </p:nvSpPr>
        <p:spPr>
          <a:xfrm>
            <a:off x="107061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1" name="TextBox 30">
            <a:extLst>
              <a:ext uri="{FF2B5EF4-FFF2-40B4-BE49-F238E27FC236}">
                <a16:creationId xmlns:a16="http://schemas.microsoft.com/office/drawing/2014/main" id="{B0B19E41-246D-1840-8C63-4A26947236AA}"/>
              </a:ext>
            </a:extLst>
          </p:cNvPr>
          <p:cNvSpPr txBox="1"/>
          <p:nvPr/>
        </p:nvSpPr>
        <p:spPr>
          <a:xfrm>
            <a:off x="94488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REFINE</a:t>
            </a:r>
          </a:p>
        </p:txBody>
      </p:sp>
      <p:sp>
        <p:nvSpPr>
          <p:cNvPr id="32" name="TextBox 31">
            <a:extLst>
              <a:ext uri="{FF2B5EF4-FFF2-40B4-BE49-F238E27FC236}">
                <a16:creationId xmlns:a16="http://schemas.microsoft.com/office/drawing/2014/main" id="{C15C6056-CE75-252A-05CF-7932F5983B71}"/>
              </a:ext>
            </a:extLst>
          </p:cNvPr>
          <p:cNvSpPr txBox="1"/>
          <p:nvPr/>
        </p:nvSpPr>
        <p:spPr>
          <a:xfrm>
            <a:off x="94488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Pagination + điều chỉnh độ rộng cột</a:t>
            </a:r>
          </a:p>
        </p:txBody>
      </p:sp>
      <p:cxnSp>
        <p:nvCxnSpPr>
          <p:cNvPr id="33" name="Straight Connector 32">
            <a:extLst>
              <a:ext uri="{FF2B5EF4-FFF2-40B4-BE49-F238E27FC236}">
                <a16:creationId xmlns:a16="http://schemas.microsoft.com/office/drawing/2014/main" id="{E7025100-3160-4B5A-A36B-27A4C87B9B81}"/>
              </a:ext>
            </a:extLst>
          </p:cNvPr>
          <p:cNvCxnSpPr/>
          <p:nvPr/>
        </p:nvCxnSpPr>
        <p:spPr>
          <a:xfrm>
            <a:off x="127635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CBB6971A-EB6D-88D4-4A0B-9AB36E6BC69D}"/>
              </a:ext>
            </a:extLst>
          </p:cNvPr>
          <p:cNvSpPr/>
          <p:nvPr/>
        </p:nvSpPr>
        <p:spPr>
          <a:xfrm>
            <a:off x="132715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1D9C18A5-E208-A552-BA5C-E6CD2B76005F}"/>
              </a:ext>
            </a:extLst>
          </p:cNvPr>
          <p:cNvSpPr/>
          <p:nvPr/>
        </p:nvSpPr>
        <p:spPr>
          <a:xfrm>
            <a:off x="145923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6E518BD-E7E5-2DBF-E4BE-78A296F69250}"/>
              </a:ext>
            </a:extLst>
          </p:cNvPr>
          <p:cNvSpPr txBox="1"/>
          <p:nvPr/>
        </p:nvSpPr>
        <p:spPr>
          <a:xfrm>
            <a:off x="148336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04</a:t>
            </a:r>
          </a:p>
        </p:txBody>
      </p:sp>
      <p:sp>
        <p:nvSpPr>
          <p:cNvPr id="37" name="TextBox 36">
            <a:extLst>
              <a:ext uri="{FF2B5EF4-FFF2-40B4-BE49-F238E27FC236}">
                <a16:creationId xmlns:a16="http://schemas.microsoft.com/office/drawing/2014/main" id="{3A36A554-E36F-F24F-256C-18B0C94AA9EC}"/>
              </a:ext>
            </a:extLst>
          </p:cNvPr>
          <p:cNvSpPr txBox="1"/>
          <p:nvPr/>
        </p:nvSpPr>
        <p:spPr>
          <a:xfrm>
            <a:off x="135763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EXPORT</a:t>
            </a:r>
          </a:p>
        </p:txBody>
      </p:sp>
      <p:sp>
        <p:nvSpPr>
          <p:cNvPr id="38" name="TextBox 37">
            <a:extLst>
              <a:ext uri="{FF2B5EF4-FFF2-40B4-BE49-F238E27FC236}">
                <a16:creationId xmlns:a16="http://schemas.microsoft.com/office/drawing/2014/main" id="{CB96032C-080D-CEEB-D61E-733DDA6579BC}"/>
              </a:ext>
            </a:extLst>
          </p:cNvPr>
          <p:cNvSpPr txBox="1"/>
          <p:nvPr/>
        </p:nvSpPr>
        <p:spPr>
          <a:xfrm>
            <a:off x="135763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Toàn bộ kết quả đã lọc → Excel-compatible</a:t>
            </a:r>
          </a:p>
        </p:txBody>
      </p:sp>
      <p:sp>
        <p:nvSpPr>
          <p:cNvPr id="39" name="TextBox 38">
            <a:extLst>
              <a:ext uri="{FF2B5EF4-FFF2-40B4-BE49-F238E27FC236}">
                <a16:creationId xmlns:a16="http://schemas.microsoft.com/office/drawing/2014/main" id="{108E00E4-123E-B665-D206-2DF67AE224FB}"/>
              </a:ext>
            </a:extLst>
          </p:cNvPr>
          <p:cNvSpPr txBox="1"/>
          <p:nvPr/>
        </p:nvSpPr>
        <p:spPr>
          <a:xfrm>
            <a:off x="889000" y="7937500"/>
            <a:ext cx="16510000" cy="307777"/>
          </a:xfrm>
          <a:prstGeom prst="rect">
            <a:avLst/>
          </a:prstGeom>
          <a:noFill/>
        </p:spPr>
        <p:txBody>
          <a:bodyPr vert="horz" wrap="square" lIns="0" tIns="0" rIns="0" bIns="0" rtlCol="0">
            <a:spAutoFit/>
          </a:bodyPr>
          <a:lstStyle/>
          <a:p>
            <a:pPr algn="ctr"/>
            <a:r>
              <a:rPr lang="vi-VN" sz="2000" b="1">
                <a:solidFill>
                  <a:srgbClr val="00E6F0"/>
                </a:solidFill>
                <a:latin typeface="Arial" panose="020B0604020202020204" pitchFamily="34" charset="0"/>
              </a:rPr>
              <a:t>Cùng bộ lọc → cùng bằng chứng → chia sẻ nhanh hơn.</a:t>
            </a:r>
            <a:endParaRPr lang="en-US" sz="2000" b="1">
              <a:solidFill>
                <a:srgbClr val="00E6F0"/>
              </a:solidFill>
              <a:latin typeface="Arial" panose="020B0604020202020204" pitchFamily="34" charset="0"/>
            </a:endParaRPr>
          </a:p>
        </p:txBody>
      </p:sp>
      <p:sp>
        <p:nvSpPr>
          <p:cNvPr id="40" name="Rectangle 39">
            <a:extLst>
              <a:ext uri="{FF2B5EF4-FFF2-40B4-BE49-F238E27FC236}">
                <a16:creationId xmlns:a16="http://schemas.microsoft.com/office/drawing/2014/main" id="{2A720653-4F26-250A-F72E-487F134C9FF8}"/>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3090825-230E-03E6-9A67-EA72305D64FC}"/>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629631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88AC3380-BC76-769E-045C-F759121189F7}"/>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4BA79BFA-84B6-0C31-102B-722105503992}"/>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CFAC665A-7CA2-9C1F-F6DE-1DBA3E22EA17}"/>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6B3EFFE5-A6B8-6453-24F6-9552B5556DA2}"/>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699BED81-8F94-95F5-2064-8C9305677AF7}"/>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B71794A8-7775-A7DC-9DFB-F4EF70A76C63}"/>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8" name="TextBox 7">
            <a:extLst>
              <a:ext uri="{FF2B5EF4-FFF2-40B4-BE49-F238E27FC236}">
                <a16:creationId xmlns:a16="http://schemas.microsoft.com/office/drawing/2014/main" id="{AF16E8E7-10F4-7F6F-5960-8D2C27AE90D2}"/>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DEMO</a:t>
            </a:r>
          </a:p>
        </p:txBody>
      </p:sp>
      <p:cxnSp>
        <p:nvCxnSpPr>
          <p:cNvPr id="9" name="Straight Connector 8">
            <a:extLst>
              <a:ext uri="{FF2B5EF4-FFF2-40B4-BE49-F238E27FC236}">
                <a16:creationId xmlns:a16="http://schemas.microsoft.com/office/drawing/2014/main" id="{2152B602-4DCC-9172-F798-332B9101F0AC}"/>
              </a:ext>
            </a:extLst>
          </p:cNvPr>
          <p:cNvCxnSpPr/>
          <p:nvPr/>
        </p:nvCxnSpPr>
        <p:spPr>
          <a:xfrm>
            <a:off x="11963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48DFA14-234F-86BD-C054-500A261C7086}"/>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25</a:t>
            </a:r>
          </a:p>
        </p:txBody>
      </p:sp>
      <p:sp>
        <p:nvSpPr>
          <p:cNvPr id="11" name="TextBox 10">
            <a:extLst>
              <a:ext uri="{FF2B5EF4-FFF2-40B4-BE49-F238E27FC236}">
                <a16:creationId xmlns:a16="http://schemas.microsoft.com/office/drawing/2014/main" id="{2E31BD6A-343E-7842-44B4-8C90B3E13C2F}"/>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D8A912B8-524E-B03C-5265-5962CE09A41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96B4E5C-24BE-7CA1-26E9-5B5787E3D467}"/>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534E2535-2C24-4265-2053-4F2281E76EE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25</a:t>
            </a:r>
          </a:p>
        </p:txBody>
      </p:sp>
      <p:sp>
        <p:nvSpPr>
          <p:cNvPr id="15" name="TextBox 14">
            <a:extLst>
              <a:ext uri="{FF2B5EF4-FFF2-40B4-BE49-F238E27FC236}">
                <a16:creationId xmlns:a16="http://schemas.microsoft.com/office/drawing/2014/main" id="{2A9F4A09-8379-DA6E-3200-42836B7E9A91}"/>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04</a:t>
            </a:r>
          </a:p>
        </p:txBody>
      </p:sp>
      <p:cxnSp>
        <p:nvCxnSpPr>
          <p:cNvPr id="16" name="Straight Connector 15">
            <a:extLst>
              <a:ext uri="{FF2B5EF4-FFF2-40B4-BE49-F238E27FC236}">
                <a16:creationId xmlns:a16="http://schemas.microsoft.com/office/drawing/2014/main" id="{1002ADB5-1FA2-5A42-661B-C0EB404FA60B}"/>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FE025B9-70A3-F148-78A1-686F65155593}"/>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DEMO &amp; SCOPE</a:t>
            </a:r>
          </a:p>
        </p:txBody>
      </p:sp>
      <p:sp>
        <p:nvSpPr>
          <p:cNvPr id="18" name="TextBox 17">
            <a:extLst>
              <a:ext uri="{FF2B5EF4-FFF2-40B4-BE49-F238E27FC236}">
                <a16:creationId xmlns:a16="http://schemas.microsoft.com/office/drawing/2014/main" id="{C204F708-4799-BC2C-40D0-230E97DB517C}"/>
              </a:ext>
            </a:extLst>
          </p:cNvPr>
          <p:cNvSpPr txBox="1"/>
          <p:nvPr/>
        </p:nvSpPr>
        <p:spPr>
          <a:xfrm>
            <a:off x="5257800" y="4673600"/>
            <a:ext cx="9906000" cy="353943"/>
          </a:xfrm>
          <a:prstGeom prst="rect">
            <a:avLst/>
          </a:prstGeom>
          <a:noFill/>
        </p:spPr>
        <p:txBody>
          <a:bodyPr vert="horz" wrap="square" lIns="0" tIns="0" rIns="0" bIns="0" rtlCol="0">
            <a:spAutoFit/>
          </a:bodyPr>
          <a:lstStyle/>
          <a:p>
            <a:r>
              <a:rPr lang="vi-VN" sz="2300">
                <a:solidFill>
                  <a:srgbClr val="E6F0FA"/>
                </a:solidFill>
                <a:latin typeface="Arial" panose="020B0604020202020204" pitchFamily="34" charset="0"/>
              </a:rPr>
              <a:t>Kịch bản trình diễn dẫn người xem từ tổng quan đến bằng chứng chi tiết.</a:t>
            </a:r>
            <a:endParaRPr lang="en-US" sz="2300">
              <a:solidFill>
                <a:srgbClr val="E6F0FA"/>
              </a:solidFill>
              <a:latin typeface="Arial" panose="020B0604020202020204" pitchFamily="34" charset="0"/>
            </a:endParaRPr>
          </a:p>
        </p:txBody>
      </p:sp>
      <p:sp>
        <p:nvSpPr>
          <p:cNvPr id="19" name="TextBox 18">
            <a:extLst>
              <a:ext uri="{FF2B5EF4-FFF2-40B4-BE49-F238E27FC236}">
                <a16:creationId xmlns:a16="http://schemas.microsoft.com/office/drawing/2014/main" id="{EB7EFBBF-7F2F-E0AA-3E9A-111E3699C6CC}"/>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1A93E283-84C7-0B74-C44F-3CC3A17867F0}"/>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B8F002D-5189-F953-3790-CA6A22A573E7}"/>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9ECD521-5FD1-9865-3857-4444F74C868D}"/>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E27EAEE-52EB-BDF8-FF42-E28411CB86B9}"/>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F64D972-2DDC-76D7-26AB-A702E52CD0F8}"/>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62D51C3-595E-69B0-2740-94CB17622797}"/>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9A76721-2F7F-16A8-3AD2-A762D4FA4A8A}"/>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2625405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DB5F3E71-C7B2-649D-E16C-4E9051FF0C7C}"/>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3"/>
            <a:stretch>
              <a:fillRect/>
            </a:stretch>
          </a:blipFill>
        </p:spPr>
        <p:txBody>
          <a:bodyPr/>
          <a:lstStyle/>
          <a:p>
            <a:endParaRPr lang="en-US"/>
          </a:p>
        </p:txBody>
      </p:sp>
      <p:sp>
        <p:nvSpPr>
          <p:cNvPr id="3" name="TextBox 2">
            <a:extLst>
              <a:ext uri="{FF2B5EF4-FFF2-40B4-BE49-F238E27FC236}">
                <a16:creationId xmlns:a16="http://schemas.microsoft.com/office/drawing/2014/main" id="{DDDAA16A-9E2F-B786-FBDA-2B8847C704E2}"/>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146C3E9F-97BD-788C-45EC-CC02CDAF2A06}"/>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530EEC9A-5CE6-318D-84D9-39FAE3F77EE6}"/>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A2D6B6C6-FC8A-1FC9-88BD-2AC03826D7AB}"/>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B32689DC-CA14-FA58-0D95-B83144FA14F3}"/>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8" name="TextBox 7">
            <a:extLst>
              <a:ext uri="{FF2B5EF4-FFF2-40B4-BE49-F238E27FC236}">
                <a16:creationId xmlns:a16="http://schemas.microsoft.com/office/drawing/2014/main" id="{F044C5B7-400A-13FA-1F04-46421EA3DB29}"/>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DEMO</a:t>
            </a:r>
          </a:p>
        </p:txBody>
      </p:sp>
      <p:cxnSp>
        <p:nvCxnSpPr>
          <p:cNvPr id="9" name="Straight Connector 8">
            <a:extLst>
              <a:ext uri="{FF2B5EF4-FFF2-40B4-BE49-F238E27FC236}">
                <a16:creationId xmlns:a16="http://schemas.microsoft.com/office/drawing/2014/main" id="{3DB9CED1-C786-4FF0-8335-2EBE6BC9AABD}"/>
              </a:ext>
            </a:extLst>
          </p:cNvPr>
          <p:cNvCxnSpPr/>
          <p:nvPr/>
        </p:nvCxnSpPr>
        <p:spPr>
          <a:xfrm>
            <a:off x="11963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057C5D6-EE9D-D5A2-17B8-39066C919C23}"/>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26</a:t>
            </a:r>
          </a:p>
        </p:txBody>
      </p:sp>
      <p:sp>
        <p:nvSpPr>
          <p:cNvPr id="11" name="TextBox 10">
            <a:extLst>
              <a:ext uri="{FF2B5EF4-FFF2-40B4-BE49-F238E27FC236}">
                <a16:creationId xmlns:a16="http://schemas.microsoft.com/office/drawing/2014/main" id="{92DA785F-4EA7-ABF5-9A4B-B59EE0EEF07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8-STEP DEMO</a:t>
            </a:r>
          </a:p>
        </p:txBody>
      </p:sp>
      <p:sp>
        <p:nvSpPr>
          <p:cNvPr id="12" name="TextBox 11">
            <a:extLst>
              <a:ext uri="{FF2B5EF4-FFF2-40B4-BE49-F238E27FC236}">
                <a16:creationId xmlns:a16="http://schemas.microsoft.com/office/drawing/2014/main" id="{776B248F-3466-7524-0DE6-092BF21F1BC9}"/>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Demo theo hành trình ra quyết định</a:t>
            </a:r>
          </a:p>
        </p:txBody>
      </p:sp>
      <p:cxnSp>
        <p:nvCxnSpPr>
          <p:cNvPr id="13" name="Straight Connector 12">
            <a:extLst>
              <a:ext uri="{FF2B5EF4-FFF2-40B4-BE49-F238E27FC236}">
                <a16:creationId xmlns:a16="http://schemas.microsoft.com/office/drawing/2014/main" id="{E279A13E-FA77-C7DD-3567-0459752360DF}"/>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19DC9F6-2B83-844E-F775-A48F3C9F935B}"/>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B20008DF-10CA-733E-541E-95DC70100CFD}"/>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26</a:t>
            </a:r>
          </a:p>
        </p:txBody>
      </p:sp>
      <p:sp>
        <p:nvSpPr>
          <p:cNvPr id="16" name="Oval 15">
            <a:extLst>
              <a:ext uri="{FF2B5EF4-FFF2-40B4-BE49-F238E27FC236}">
                <a16:creationId xmlns:a16="http://schemas.microsoft.com/office/drawing/2014/main" id="{863F3A45-C1DC-CF5A-31AA-A11C22889D25}"/>
              </a:ext>
            </a:extLst>
          </p:cNvPr>
          <p:cNvSpPr/>
          <p:nvPr/>
        </p:nvSpPr>
        <p:spPr>
          <a:xfrm>
            <a:off x="8890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7017420-B161-ECCE-3052-582ADA28BF8F}"/>
              </a:ext>
            </a:extLst>
          </p:cNvPr>
          <p:cNvSpPr txBox="1"/>
          <p:nvPr/>
        </p:nvSpPr>
        <p:spPr>
          <a:xfrm>
            <a:off x="9144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18" name="TextBox 17">
            <a:extLst>
              <a:ext uri="{FF2B5EF4-FFF2-40B4-BE49-F238E27FC236}">
                <a16:creationId xmlns:a16="http://schemas.microsoft.com/office/drawing/2014/main" id="{38AE7720-1B66-8DFF-E18F-9B8B54CB4A9A}"/>
              </a:ext>
            </a:extLst>
          </p:cNvPr>
          <p:cNvSpPr txBox="1"/>
          <p:nvPr/>
        </p:nvSpPr>
        <p:spPr>
          <a:xfrm>
            <a:off x="16256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Mở Dashboard</a:t>
            </a:r>
          </a:p>
        </p:txBody>
      </p:sp>
      <p:sp>
        <p:nvSpPr>
          <p:cNvPr id="19" name="TextBox 18">
            <a:extLst>
              <a:ext uri="{FF2B5EF4-FFF2-40B4-BE49-F238E27FC236}">
                <a16:creationId xmlns:a16="http://schemas.microsoft.com/office/drawing/2014/main" id="{332A94A9-0FB5-7CD9-D3EC-5384236A9DEF}"/>
              </a:ext>
            </a:extLst>
          </p:cNvPr>
          <p:cNvSpPr txBox="1"/>
          <p:nvPr/>
        </p:nvSpPr>
        <p:spPr>
          <a:xfrm>
            <a:off x="1625600" y="3225800"/>
            <a:ext cx="2882900" cy="430887"/>
          </a:xfrm>
          <a:prstGeom prst="rect">
            <a:avLst/>
          </a:prstGeom>
          <a:noFill/>
        </p:spPr>
        <p:txBody>
          <a:bodyPr vert="horz" wrap="square" lIns="0" tIns="0" rIns="0" bIns="0" rtlCol="0">
            <a:spAutoFit/>
          </a:bodyPr>
          <a:lstStyle/>
          <a:p>
            <a:r>
              <a:rPr lang="vi-VN" sz="1400">
                <a:solidFill>
                  <a:srgbClr val="E6F0FA"/>
                </a:solidFill>
                <a:latin typeface="Arial" panose="020B0604020202020204" pitchFamily="34" charset="0"/>
              </a:rPr>
              <a:t>Tổng quan sản lượng, chất lượng, downtime</a:t>
            </a:r>
            <a:endParaRPr lang="en-US" sz="1400">
              <a:solidFill>
                <a:srgbClr val="E6F0FA"/>
              </a:solidFill>
              <a:latin typeface="Arial" panose="020B0604020202020204" pitchFamily="34" charset="0"/>
            </a:endParaRPr>
          </a:p>
        </p:txBody>
      </p:sp>
      <p:sp>
        <p:nvSpPr>
          <p:cNvPr id="20" name="Oval 19">
            <a:extLst>
              <a:ext uri="{FF2B5EF4-FFF2-40B4-BE49-F238E27FC236}">
                <a16:creationId xmlns:a16="http://schemas.microsoft.com/office/drawing/2014/main" id="{3D051402-C246-48BF-534E-149A2DAD3EEA}"/>
              </a:ext>
            </a:extLst>
          </p:cNvPr>
          <p:cNvSpPr/>
          <p:nvPr/>
        </p:nvSpPr>
        <p:spPr>
          <a:xfrm>
            <a:off x="50165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8E58EE4-72D2-4627-57E5-5E085D233B31}"/>
              </a:ext>
            </a:extLst>
          </p:cNvPr>
          <p:cNvSpPr txBox="1"/>
          <p:nvPr/>
        </p:nvSpPr>
        <p:spPr>
          <a:xfrm>
            <a:off x="50419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2" name="TextBox 21">
            <a:extLst>
              <a:ext uri="{FF2B5EF4-FFF2-40B4-BE49-F238E27FC236}">
                <a16:creationId xmlns:a16="http://schemas.microsoft.com/office/drawing/2014/main" id="{B609B706-931E-0AF4-C59B-CE65CFCC550B}"/>
              </a:ext>
            </a:extLst>
          </p:cNvPr>
          <p:cNvSpPr txBox="1"/>
          <p:nvPr/>
        </p:nvSpPr>
        <p:spPr>
          <a:xfrm>
            <a:off x="57531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Chọn thời gian</a:t>
            </a:r>
          </a:p>
        </p:txBody>
      </p:sp>
      <p:sp>
        <p:nvSpPr>
          <p:cNvPr id="23" name="TextBox 22">
            <a:extLst>
              <a:ext uri="{FF2B5EF4-FFF2-40B4-BE49-F238E27FC236}">
                <a16:creationId xmlns:a16="http://schemas.microsoft.com/office/drawing/2014/main" id="{E617C28A-4DE5-1580-F649-8FA3F094AA70}"/>
              </a:ext>
            </a:extLst>
          </p:cNvPr>
          <p:cNvSpPr txBox="1"/>
          <p:nvPr/>
        </p:nvSpPr>
        <p:spPr>
          <a:xfrm>
            <a:off x="5753100" y="32258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Date range + shift → Apply</a:t>
            </a:r>
          </a:p>
        </p:txBody>
      </p:sp>
      <p:sp>
        <p:nvSpPr>
          <p:cNvPr id="24" name="Oval 23">
            <a:extLst>
              <a:ext uri="{FF2B5EF4-FFF2-40B4-BE49-F238E27FC236}">
                <a16:creationId xmlns:a16="http://schemas.microsoft.com/office/drawing/2014/main" id="{3B4A6300-7897-BF1D-1DDE-8BD9E5056446}"/>
              </a:ext>
            </a:extLst>
          </p:cNvPr>
          <p:cNvSpPr/>
          <p:nvPr/>
        </p:nvSpPr>
        <p:spPr>
          <a:xfrm>
            <a:off x="91440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ED1ADCE-E26E-A2CC-E278-C17BF05F5E8C}"/>
              </a:ext>
            </a:extLst>
          </p:cNvPr>
          <p:cNvSpPr txBox="1"/>
          <p:nvPr/>
        </p:nvSpPr>
        <p:spPr>
          <a:xfrm>
            <a:off x="91694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6" name="TextBox 25">
            <a:extLst>
              <a:ext uri="{FF2B5EF4-FFF2-40B4-BE49-F238E27FC236}">
                <a16:creationId xmlns:a16="http://schemas.microsoft.com/office/drawing/2014/main" id="{9A09A426-82F8-D8C4-16D8-B9B2DF524859}"/>
              </a:ext>
            </a:extLst>
          </p:cNvPr>
          <p:cNvSpPr txBox="1"/>
          <p:nvPr/>
        </p:nvSpPr>
        <p:spPr>
          <a:xfrm>
            <a:off x="98806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Board Produced</a:t>
            </a:r>
          </a:p>
        </p:txBody>
      </p:sp>
      <p:sp>
        <p:nvSpPr>
          <p:cNvPr id="27" name="TextBox 26">
            <a:extLst>
              <a:ext uri="{FF2B5EF4-FFF2-40B4-BE49-F238E27FC236}">
                <a16:creationId xmlns:a16="http://schemas.microsoft.com/office/drawing/2014/main" id="{85BD8223-1860-8DCC-6C66-0E2CB4DDFF33}"/>
              </a:ext>
            </a:extLst>
          </p:cNvPr>
          <p:cNvSpPr txBox="1"/>
          <p:nvPr/>
        </p:nvSpPr>
        <p:spPr>
          <a:xfrm>
            <a:off x="9880600" y="32258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So sánh output theo line / lane</a:t>
            </a:r>
          </a:p>
        </p:txBody>
      </p:sp>
      <p:sp>
        <p:nvSpPr>
          <p:cNvPr id="28" name="Oval 27">
            <a:extLst>
              <a:ext uri="{FF2B5EF4-FFF2-40B4-BE49-F238E27FC236}">
                <a16:creationId xmlns:a16="http://schemas.microsoft.com/office/drawing/2014/main" id="{064404CE-3AC0-D0BC-7C4A-E63B5EC93F89}"/>
              </a:ext>
            </a:extLst>
          </p:cNvPr>
          <p:cNvSpPr/>
          <p:nvPr/>
        </p:nvSpPr>
        <p:spPr>
          <a:xfrm>
            <a:off x="132715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7AC0689-B2B4-3849-1832-317D5350DA8E}"/>
              </a:ext>
            </a:extLst>
          </p:cNvPr>
          <p:cNvSpPr txBox="1"/>
          <p:nvPr/>
        </p:nvSpPr>
        <p:spPr>
          <a:xfrm>
            <a:off x="132969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0" name="TextBox 29">
            <a:extLst>
              <a:ext uri="{FF2B5EF4-FFF2-40B4-BE49-F238E27FC236}">
                <a16:creationId xmlns:a16="http://schemas.microsoft.com/office/drawing/2014/main" id="{6EEB415E-AF83-179B-DDE6-F4E37634FC4E}"/>
              </a:ext>
            </a:extLst>
          </p:cNvPr>
          <p:cNvSpPr txBox="1"/>
          <p:nvPr/>
        </p:nvSpPr>
        <p:spPr>
          <a:xfrm>
            <a:off x="140081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Worst equipment</a:t>
            </a:r>
          </a:p>
        </p:txBody>
      </p:sp>
      <p:sp>
        <p:nvSpPr>
          <p:cNvPr id="31" name="TextBox 30">
            <a:extLst>
              <a:ext uri="{FF2B5EF4-FFF2-40B4-BE49-F238E27FC236}">
                <a16:creationId xmlns:a16="http://schemas.microsoft.com/office/drawing/2014/main" id="{2BBFBC1D-000A-A2B7-2479-379313DB9529}"/>
              </a:ext>
            </a:extLst>
          </p:cNvPr>
          <p:cNvSpPr txBox="1"/>
          <p:nvPr/>
        </p:nvSpPr>
        <p:spPr>
          <a:xfrm>
            <a:off x="14008100" y="3225800"/>
            <a:ext cx="2882900" cy="215444"/>
          </a:xfrm>
          <a:prstGeom prst="rect">
            <a:avLst/>
          </a:prstGeom>
          <a:noFill/>
        </p:spPr>
        <p:txBody>
          <a:bodyPr vert="horz" wrap="square" lIns="0" tIns="0" rIns="0" bIns="0" rtlCol="0">
            <a:spAutoFit/>
          </a:bodyPr>
          <a:lstStyle/>
          <a:p>
            <a:r>
              <a:rPr lang="vi-VN" sz="1400">
                <a:solidFill>
                  <a:srgbClr val="E6F0FA"/>
                </a:solidFill>
                <a:latin typeface="Arial" panose="020B0604020202020204" pitchFamily="34" charset="0"/>
              </a:rPr>
              <a:t>Ưu tiên feeder và nozzle rủi ro</a:t>
            </a:r>
            <a:endParaRPr lang="en-US" sz="1400">
              <a:solidFill>
                <a:srgbClr val="E6F0FA"/>
              </a:solidFill>
              <a:latin typeface="Arial" panose="020B0604020202020204" pitchFamily="34" charset="0"/>
            </a:endParaRPr>
          </a:p>
        </p:txBody>
      </p:sp>
      <p:sp>
        <p:nvSpPr>
          <p:cNvPr id="32" name="Oval 31">
            <a:extLst>
              <a:ext uri="{FF2B5EF4-FFF2-40B4-BE49-F238E27FC236}">
                <a16:creationId xmlns:a16="http://schemas.microsoft.com/office/drawing/2014/main" id="{9F820880-BECD-5BE9-CB09-9C5CD8D8B646}"/>
              </a:ext>
            </a:extLst>
          </p:cNvPr>
          <p:cNvSpPr/>
          <p:nvPr/>
        </p:nvSpPr>
        <p:spPr>
          <a:xfrm>
            <a:off x="8890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3E9F804-BE36-3CA7-E883-B5C75AEEF3A2}"/>
              </a:ext>
            </a:extLst>
          </p:cNvPr>
          <p:cNvSpPr txBox="1"/>
          <p:nvPr/>
        </p:nvSpPr>
        <p:spPr>
          <a:xfrm>
            <a:off x="9144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4" name="TextBox 33">
            <a:extLst>
              <a:ext uri="{FF2B5EF4-FFF2-40B4-BE49-F238E27FC236}">
                <a16:creationId xmlns:a16="http://schemas.microsoft.com/office/drawing/2014/main" id="{86396F3D-C37C-542E-F465-33DE7DC9ADA1}"/>
              </a:ext>
            </a:extLst>
          </p:cNvPr>
          <p:cNvSpPr txBox="1"/>
          <p:nvPr/>
        </p:nvSpPr>
        <p:spPr>
          <a:xfrm>
            <a:off x="16256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Error Stop</a:t>
            </a:r>
          </a:p>
        </p:txBody>
      </p:sp>
      <p:sp>
        <p:nvSpPr>
          <p:cNvPr id="35" name="TextBox 34">
            <a:extLst>
              <a:ext uri="{FF2B5EF4-FFF2-40B4-BE49-F238E27FC236}">
                <a16:creationId xmlns:a16="http://schemas.microsoft.com/office/drawing/2014/main" id="{96AB6F18-AB56-6871-F9F9-BEC474532684}"/>
              </a:ext>
            </a:extLst>
          </p:cNvPr>
          <p:cNvSpPr txBox="1"/>
          <p:nvPr/>
        </p:nvSpPr>
        <p:spPr>
          <a:xfrm>
            <a:off x="16256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Xác định nhóm dừng lớn</a:t>
            </a:r>
          </a:p>
        </p:txBody>
      </p:sp>
      <p:sp>
        <p:nvSpPr>
          <p:cNvPr id="36" name="Oval 35">
            <a:extLst>
              <a:ext uri="{FF2B5EF4-FFF2-40B4-BE49-F238E27FC236}">
                <a16:creationId xmlns:a16="http://schemas.microsoft.com/office/drawing/2014/main" id="{41E21EFC-A81D-7E38-6FA1-2943BD20A3B8}"/>
              </a:ext>
            </a:extLst>
          </p:cNvPr>
          <p:cNvSpPr/>
          <p:nvPr/>
        </p:nvSpPr>
        <p:spPr>
          <a:xfrm>
            <a:off x="50165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DCE8964-A1F6-AB52-D257-DC241845C0BD}"/>
              </a:ext>
            </a:extLst>
          </p:cNvPr>
          <p:cNvSpPr txBox="1"/>
          <p:nvPr/>
        </p:nvSpPr>
        <p:spPr>
          <a:xfrm>
            <a:off x="50419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06</a:t>
            </a:r>
          </a:p>
        </p:txBody>
      </p:sp>
      <p:sp>
        <p:nvSpPr>
          <p:cNvPr id="38" name="TextBox 37">
            <a:extLst>
              <a:ext uri="{FF2B5EF4-FFF2-40B4-BE49-F238E27FC236}">
                <a16:creationId xmlns:a16="http://schemas.microsoft.com/office/drawing/2014/main" id="{DEEAF200-618B-38E5-1BA8-8559AC43BF3A}"/>
              </a:ext>
            </a:extLst>
          </p:cNvPr>
          <p:cNvSpPr txBox="1"/>
          <p:nvPr/>
        </p:nvSpPr>
        <p:spPr>
          <a:xfrm>
            <a:off x="57531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Downtime Report</a:t>
            </a:r>
          </a:p>
        </p:txBody>
      </p:sp>
      <p:sp>
        <p:nvSpPr>
          <p:cNvPr id="39" name="TextBox 38">
            <a:extLst>
              <a:ext uri="{FF2B5EF4-FFF2-40B4-BE49-F238E27FC236}">
                <a16:creationId xmlns:a16="http://schemas.microsoft.com/office/drawing/2014/main" id="{0F44D6F2-E2D1-A6A2-C83B-C9C036FE52FA}"/>
              </a:ext>
            </a:extLst>
          </p:cNvPr>
          <p:cNvSpPr txBox="1"/>
          <p:nvPr/>
        </p:nvSpPr>
        <p:spPr>
          <a:xfrm>
            <a:off x="57531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Xem count + time từng lỗi</a:t>
            </a:r>
          </a:p>
        </p:txBody>
      </p:sp>
      <p:sp>
        <p:nvSpPr>
          <p:cNvPr id="40" name="Oval 39">
            <a:extLst>
              <a:ext uri="{FF2B5EF4-FFF2-40B4-BE49-F238E27FC236}">
                <a16:creationId xmlns:a16="http://schemas.microsoft.com/office/drawing/2014/main" id="{9F3A4509-927A-E8C4-5EE7-1F67AA01C10B}"/>
              </a:ext>
            </a:extLst>
          </p:cNvPr>
          <p:cNvSpPr/>
          <p:nvPr/>
        </p:nvSpPr>
        <p:spPr>
          <a:xfrm>
            <a:off x="91440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A96AB29-9A4C-D315-D814-1E0AEB3AEC90}"/>
              </a:ext>
            </a:extLst>
          </p:cNvPr>
          <p:cNvSpPr txBox="1"/>
          <p:nvPr/>
        </p:nvSpPr>
        <p:spPr>
          <a:xfrm>
            <a:off x="91694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07</a:t>
            </a:r>
          </a:p>
        </p:txBody>
      </p:sp>
      <p:sp>
        <p:nvSpPr>
          <p:cNvPr id="42" name="TextBox 41">
            <a:extLst>
              <a:ext uri="{FF2B5EF4-FFF2-40B4-BE49-F238E27FC236}">
                <a16:creationId xmlns:a16="http://schemas.microsoft.com/office/drawing/2014/main" id="{D0C1507A-F4A7-CD75-2076-B85B5EB7C48B}"/>
              </a:ext>
            </a:extLst>
          </p:cNvPr>
          <p:cNvSpPr txBox="1"/>
          <p:nvPr/>
        </p:nvSpPr>
        <p:spPr>
          <a:xfrm>
            <a:off x="98806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Drill-down</a:t>
            </a:r>
          </a:p>
        </p:txBody>
      </p:sp>
      <p:sp>
        <p:nvSpPr>
          <p:cNvPr id="43" name="TextBox 42">
            <a:extLst>
              <a:ext uri="{FF2B5EF4-FFF2-40B4-BE49-F238E27FC236}">
                <a16:creationId xmlns:a16="http://schemas.microsoft.com/office/drawing/2014/main" id="{C829D68C-0AFB-48D2-0188-DDD6B127D846}"/>
              </a:ext>
            </a:extLst>
          </p:cNvPr>
          <p:cNvSpPr txBox="1"/>
          <p:nvPr/>
        </p:nvSpPr>
        <p:spPr>
          <a:xfrm>
            <a:off x="98806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Lọc feeder / nozzle theo line, part</a:t>
            </a:r>
          </a:p>
        </p:txBody>
      </p:sp>
      <p:sp>
        <p:nvSpPr>
          <p:cNvPr id="44" name="Oval 43">
            <a:extLst>
              <a:ext uri="{FF2B5EF4-FFF2-40B4-BE49-F238E27FC236}">
                <a16:creationId xmlns:a16="http://schemas.microsoft.com/office/drawing/2014/main" id="{3132884A-214E-2975-D081-B87A539A2FAE}"/>
              </a:ext>
            </a:extLst>
          </p:cNvPr>
          <p:cNvSpPr/>
          <p:nvPr/>
        </p:nvSpPr>
        <p:spPr>
          <a:xfrm>
            <a:off x="132715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0E1EAB2D-7B2E-664C-329F-E77A595423C7}"/>
              </a:ext>
            </a:extLst>
          </p:cNvPr>
          <p:cNvSpPr txBox="1"/>
          <p:nvPr/>
        </p:nvSpPr>
        <p:spPr>
          <a:xfrm>
            <a:off x="132969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08</a:t>
            </a:r>
          </a:p>
        </p:txBody>
      </p:sp>
      <p:sp>
        <p:nvSpPr>
          <p:cNvPr id="46" name="TextBox 45">
            <a:extLst>
              <a:ext uri="{FF2B5EF4-FFF2-40B4-BE49-F238E27FC236}">
                <a16:creationId xmlns:a16="http://schemas.microsoft.com/office/drawing/2014/main" id="{E4C57F82-91A4-63E8-E331-411B7F98626E}"/>
              </a:ext>
            </a:extLst>
          </p:cNvPr>
          <p:cNvSpPr txBox="1"/>
          <p:nvPr/>
        </p:nvSpPr>
        <p:spPr>
          <a:xfrm>
            <a:off x="140081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Export Excel</a:t>
            </a:r>
          </a:p>
        </p:txBody>
      </p:sp>
      <p:sp>
        <p:nvSpPr>
          <p:cNvPr id="47" name="TextBox 46">
            <a:extLst>
              <a:ext uri="{FF2B5EF4-FFF2-40B4-BE49-F238E27FC236}">
                <a16:creationId xmlns:a16="http://schemas.microsoft.com/office/drawing/2014/main" id="{26726241-76A2-9F03-1F09-30029F475270}"/>
              </a:ext>
            </a:extLst>
          </p:cNvPr>
          <p:cNvSpPr txBox="1"/>
          <p:nvPr/>
        </p:nvSpPr>
        <p:spPr>
          <a:xfrm>
            <a:off x="140081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Chia sẻ đúng tập dữ liệu đã lọc</a:t>
            </a:r>
          </a:p>
        </p:txBody>
      </p:sp>
      <p:sp>
        <p:nvSpPr>
          <p:cNvPr id="48" name="TextBox 47">
            <a:extLst>
              <a:ext uri="{FF2B5EF4-FFF2-40B4-BE49-F238E27FC236}">
                <a16:creationId xmlns:a16="http://schemas.microsoft.com/office/drawing/2014/main" id="{0A482C7E-2336-F2A0-C90A-3F9415D626C2}"/>
              </a:ext>
            </a:extLst>
          </p:cNvPr>
          <p:cNvSpPr txBox="1"/>
          <p:nvPr/>
        </p:nvSpPr>
        <p:spPr>
          <a:xfrm>
            <a:off x="889000" y="8636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Thông điệp xuyên suốt: từ “điều gì xảy ra?” đến “cần kiểm tra ở đâu?”.</a:t>
            </a:r>
          </a:p>
        </p:txBody>
      </p:sp>
      <p:sp>
        <p:nvSpPr>
          <p:cNvPr id="49" name="Rectangle 48">
            <a:extLst>
              <a:ext uri="{FF2B5EF4-FFF2-40B4-BE49-F238E27FC236}">
                <a16:creationId xmlns:a16="http://schemas.microsoft.com/office/drawing/2014/main" id="{F0424FB4-1C07-1ACF-8BDF-CAAC7F538F78}"/>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CD27013B-720A-2A4D-3624-1BAFF8034B53}"/>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4031362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1A7BE4BC-650E-F62B-87C8-C68D7DFA75CA}"/>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txBody>
          <a:bodyPr/>
          <a:lstStyle/>
          <a:p>
            <a:endParaRPr lang="en-US"/>
          </a:p>
        </p:txBody>
      </p:sp>
      <p:sp>
        <p:nvSpPr>
          <p:cNvPr id="3" name="TextBox 2">
            <a:extLst>
              <a:ext uri="{FF2B5EF4-FFF2-40B4-BE49-F238E27FC236}">
                <a16:creationId xmlns:a16="http://schemas.microsoft.com/office/drawing/2014/main" id="{B495A04F-B8E8-1976-9C7F-113E65EF8A94}"/>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008F761D-0DEE-F06C-1303-C42A55CA5D65}"/>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400FAB41-B8BC-54C4-4F85-6D2F5FF04539}"/>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66DABF6E-8F24-F313-DDC8-8D1FF951CD17}"/>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4016CDE1-F2F9-03B0-E4CD-7A6FC3C0E74A}"/>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8" name="TextBox 7">
            <a:extLst>
              <a:ext uri="{FF2B5EF4-FFF2-40B4-BE49-F238E27FC236}">
                <a16:creationId xmlns:a16="http://schemas.microsoft.com/office/drawing/2014/main" id="{E916A2C3-0793-34AD-F44D-99B11862E610}"/>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DEMO</a:t>
            </a:r>
          </a:p>
        </p:txBody>
      </p:sp>
      <p:cxnSp>
        <p:nvCxnSpPr>
          <p:cNvPr id="9" name="Straight Connector 8">
            <a:extLst>
              <a:ext uri="{FF2B5EF4-FFF2-40B4-BE49-F238E27FC236}">
                <a16:creationId xmlns:a16="http://schemas.microsoft.com/office/drawing/2014/main" id="{3766BED3-BE6F-A4BD-A704-9E2700D13DB3}"/>
              </a:ext>
            </a:extLst>
          </p:cNvPr>
          <p:cNvCxnSpPr/>
          <p:nvPr/>
        </p:nvCxnSpPr>
        <p:spPr>
          <a:xfrm>
            <a:off x="11963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9EF3B69-D5C7-26CA-85BF-FDA5EF1EFF70}"/>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27</a:t>
            </a:r>
          </a:p>
        </p:txBody>
      </p:sp>
      <p:sp>
        <p:nvSpPr>
          <p:cNvPr id="11" name="TextBox 10">
            <a:extLst>
              <a:ext uri="{FF2B5EF4-FFF2-40B4-BE49-F238E27FC236}">
                <a16:creationId xmlns:a16="http://schemas.microsoft.com/office/drawing/2014/main" id="{D589E3A2-4C39-88DA-4602-1B18954C3241}"/>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CURRENT SCOPE</a:t>
            </a:r>
          </a:p>
        </p:txBody>
      </p:sp>
      <p:sp>
        <p:nvSpPr>
          <p:cNvPr id="12" name="TextBox 11">
            <a:extLst>
              <a:ext uri="{FF2B5EF4-FFF2-40B4-BE49-F238E27FC236}">
                <a16:creationId xmlns:a16="http://schemas.microsoft.com/office/drawing/2014/main" id="{FC9AE4CA-3042-9399-8355-39004F6274BA}"/>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Phạm vi hiện tại đã được xác nhận</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44B58298-2CE2-587F-0C2A-1E399096778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F26B372-F1F9-93C5-7FAE-A48494B49AA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A4BC2F5F-B392-5D16-3F4C-B3F19B676D0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27</a:t>
            </a:r>
          </a:p>
        </p:txBody>
      </p:sp>
      <p:sp>
        <p:nvSpPr>
          <p:cNvPr id="16" name="Rectangle: Rounded Corners 15">
            <a:extLst>
              <a:ext uri="{FF2B5EF4-FFF2-40B4-BE49-F238E27FC236}">
                <a16:creationId xmlns:a16="http://schemas.microsoft.com/office/drawing/2014/main" id="{71DFDDAA-7A81-349D-E7D4-A17EE85D09BD}"/>
              </a:ext>
            </a:extLst>
          </p:cNvPr>
          <p:cNvSpPr/>
          <p:nvPr/>
        </p:nvSpPr>
        <p:spPr>
          <a:xfrm>
            <a:off x="889000" y="2984500"/>
            <a:ext cx="10414000" cy="5080000"/>
          </a:xfrm>
          <a:prstGeom prst="roundRect">
            <a:avLst/>
          </a:prstGeom>
          <a:solidFill>
            <a:srgbClr val="051873"/>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FF275D34-A0F7-11A4-DB84-334452C351CB}"/>
              </a:ext>
            </a:extLst>
          </p:cNvPr>
          <p:cNvSpPr/>
          <p:nvPr/>
        </p:nvSpPr>
        <p:spPr>
          <a:xfrm>
            <a:off x="1333500" y="3429000"/>
            <a:ext cx="15240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A9AF36C-81F1-FDD5-608A-FE44CFF7A63A}"/>
              </a:ext>
            </a:extLst>
          </p:cNvPr>
          <p:cNvSpPr txBox="1"/>
          <p:nvPr/>
        </p:nvSpPr>
        <p:spPr>
          <a:xfrm>
            <a:off x="1435100" y="35052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IN SCOPE</a:t>
            </a:r>
          </a:p>
        </p:txBody>
      </p:sp>
      <p:sp>
        <p:nvSpPr>
          <p:cNvPr id="19" name="Oval 18">
            <a:extLst>
              <a:ext uri="{FF2B5EF4-FFF2-40B4-BE49-F238E27FC236}">
                <a16:creationId xmlns:a16="http://schemas.microsoft.com/office/drawing/2014/main" id="{C2169293-5CA2-5F2F-949A-32E1F361FB3B}"/>
              </a:ext>
            </a:extLst>
          </p:cNvPr>
          <p:cNvSpPr/>
          <p:nvPr/>
        </p:nvSpPr>
        <p:spPr>
          <a:xfrm>
            <a:off x="1333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41C7FC1-BEA6-9850-F2D4-A8D1BAAE7D48}"/>
              </a:ext>
            </a:extLst>
          </p:cNvPr>
          <p:cNvSpPr txBox="1"/>
          <p:nvPr/>
        </p:nvSpPr>
        <p:spPr>
          <a:xfrm>
            <a:off x="1638300" y="4318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Overall Dashboard + 8 nhóm báo cáo chi tiết</a:t>
            </a:r>
          </a:p>
        </p:txBody>
      </p:sp>
      <p:sp>
        <p:nvSpPr>
          <p:cNvPr id="21" name="Oval 20">
            <a:extLst>
              <a:ext uri="{FF2B5EF4-FFF2-40B4-BE49-F238E27FC236}">
                <a16:creationId xmlns:a16="http://schemas.microsoft.com/office/drawing/2014/main" id="{FE17790B-5841-5F0C-E389-7509E73FFF70}"/>
              </a:ext>
            </a:extLst>
          </p:cNvPr>
          <p:cNvSpPr/>
          <p:nvPr/>
        </p:nvSpPr>
        <p:spPr>
          <a:xfrm>
            <a:off x="1333500" y="5118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CE2E4E6-EA69-9004-64E8-7DC343058B82}"/>
              </a:ext>
            </a:extLst>
          </p:cNvPr>
          <p:cNvSpPr txBox="1"/>
          <p:nvPr/>
        </p:nvSpPr>
        <p:spPr>
          <a:xfrm>
            <a:off x="1638300" y="50165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Report filter, pagination và điều chỉnh độ rộng cột</a:t>
            </a:r>
          </a:p>
        </p:txBody>
      </p:sp>
      <p:sp>
        <p:nvSpPr>
          <p:cNvPr id="23" name="Oval 22">
            <a:extLst>
              <a:ext uri="{FF2B5EF4-FFF2-40B4-BE49-F238E27FC236}">
                <a16:creationId xmlns:a16="http://schemas.microsoft.com/office/drawing/2014/main" id="{D1154967-ED5C-1AEE-EDCD-25026A3C003C}"/>
              </a:ext>
            </a:extLst>
          </p:cNvPr>
          <p:cNvSpPr/>
          <p:nvPr/>
        </p:nvSpPr>
        <p:spPr>
          <a:xfrm>
            <a:off x="1333500" y="5816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4C047C8-CF77-E655-CB22-CE16A6A81C1F}"/>
              </a:ext>
            </a:extLst>
          </p:cNvPr>
          <p:cNvSpPr txBox="1"/>
          <p:nvPr/>
        </p:nvSpPr>
        <p:spPr>
          <a:xfrm>
            <a:off x="1638300" y="5715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Excel-compatible export theo kết quả đã lọc</a:t>
            </a:r>
          </a:p>
        </p:txBody>
      </p:sp>
      <p:sp>
        <p:nvSpPr>
          <p:cNvPr id="25" name="Oval 24">
            <a:extLst>
              <a:ext uri="{FF2B5EF4-FFF2-40B4-BE49-F238E27FC236}">
                <a16:creationId xmlns:a16="http://schemas.microsoft.com/office/drawing/2014/main" id="{172AF5F6-4D93-47D7-0D03-BD6651845541}"/>
              </a:ext>
            </a:extLst>
          </p:cNvPr>
          <p:cNvSpPr/>
          <p:nvPr/>
        </p:nvSpPr>
        <p:spPr>
          <a:xfrm>
            <a:off x="1333500" y="6515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4ED2625-2B0C-2254-E8D7-1988A18E61D3}"/>
              </a:ext>
            </a:extLst>
          </p:cNvPr>
          <p:cNvSpPr txBox="1"/>
          <p:nvPr/>
        </p:nvSpPr>
        <p:spPr>
          <a:xfrm>
            <a:off x="1638300" y="64135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PostgreSQL retry, timeout và cancellation handling</a:t>
            </a:r>
          </a:p>
        </p:txBody>
      </p:sp>
      <p:sp>
        <p:nvSpPr>
          <p:cNvPr id="27" name="Oval 26">
            <a:extLst>
              <a:ext uri="{FF2B5EF4-FFF2-40B4-BE49-F238E27FC236}">
                <a16:creationId xmlns:a16="http://schemas.microsoft.com/office/drawing/2014/main" id="{61DA4338-C714-BC02-149A-F4E734D00BCC}"/>
              </a:ext>
            </a:extLst>
          </p:cNvPr>
          <p:cNvSpPr/>
          <p:nvPr/>
        </p:nvSpPr>
        <p:spPr>
          <a:xfrm>
            <a:off x="1333500" y="7213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1CE3DF2-609B-B4EA-777B-66147B538C9C}"/>
              </a:ext>
            </a:extLst>
          </p:cNvPr>
          <p:cNvSpPr txBox="1"/>
          <p:nvPr/>
        </p:nvSpPr>
        <p:spPr>
          <a:xfrm>
            <a:off x="1638300" y="7112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Antiforgery validation cho unsafe MVC forms</a:t>
            </a:r>
          </a:p>
        </p:txBody>
      </p:sp>
      <p:sp>
        <p:nvSpPr>
          <p:cNvPr id="29" name="Rectangle: Rounded Corners 28">
            <a:extLst>
              <a:ext uri="{FF2B5EF4-FFF2-40B4-BE49-F238E27FC236}">
                <a16:creationId xmlns:a16="http://schemas.microsoft.com/office/drawing/2014/main" id="{A371D8FE-86E8-B843-98B7-55D9226DDA92}"/>
              </a:ext>
            </a:extLst>
          </p:cNvPr>
          <p:cNvSpPr/>
          <p:nvPr/>
        </p:nvSpPr>
        <p:spPr>
          <a:xfrm>
            <a:off x="12192000" y="2984500"/>
            <a:ext cx="5207000" cy="5080000"/>
          </a:xfrm>
          <a:prstGeom prst="roundRect">
            <a:avLst/>
          </a:prstGeom>
          <a:solidFill>
            <a:srgbClr val="051873"/>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8C10761F-7B01-7BCD-CFCE-9F0111E3CA21}"/>
              </a:ext>
            </a:extLst>
          </p:cNvPr>
          <p:cNvSpPr/>
          <p:nvPr/>
        </p:nvSpPr>
        <p:spPr>
          <a:xfrm>
            <a:off x="12636500" y="3429000"/>
            <a:ext cx="18415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8443477-2C54-DA17-4A37-9D77056078FB}"/>
              </a:ext>
            </a:extLst>
          </p:cNvPr>
          <p:cNvSpPr txBox="1"/>
          <p:nvPr/>
        </p:nvSpPr>
        <p:spPr>
          <a:xfrm>
            <a:off x="12738100" y="3505200"/>
            <a:ext cx="1638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NOT VERIFIED</a:t>
            </a:r>
          </a:p>
        </p:txBody>
      </p:sp>
      <p:sp>
        <p:nvSpPr>
          <p:cNvPr id="32" name="TextBox 31">
            <a:extLst>
              <a:ext uri="{FF2B5EF4-FFF2-40B4-BE49-F238E27FC236}">
                <a16:creationId xmlns:a16="http://schemas.microsoft.com/office/drawing/2014/main" id="{C2CD695E-FD34-633B-7424-8AC886D65322}"/>
              </a:ext>
            </a:extLst>
          </p:cNvPr>
          <p:cNvSpPr txBox="1"/>
          <p:nvPr/>
        </p:nvSpPr>
        <p:spPr>
          <a:xfrm>
            <a:off x="12636500" y="4445000"/>
            <a:ext cx="4191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Login / role-based access</a:t>
            </a:r>
          </a:p>
        </p:txBody>
      </p:sp>
      <p:sp>
        <p:nvSpPr>
          <p:cNvPr id="33" name="TextBox 32">
            <a:extLst>
              <a:ext uri="{FF2B5EF4-FFF2-40B4-BE49-F238E27FC236}">
                <a16:creationId xmlns:a16="http://schemas.microsoft.com/office/drawing/2014/main" id="{750EAA01-DABC-5AE9-9C19-C38146613CD8}"/>
              </a:ext>
            </a:extLst>
          </p:cNvPr>
          <p:cNvSpPr txBox="1"/>
          <p:nvPr/>
        </p:nvSpPr>
        <p:spPr>
          <a:xfrm>
            <a:off x="12636500" y="5270500"/>
            <a:ext cx="41910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Không nằm trong phần implementation đã kiểm tra.</a:t>
            </a:r>
          </a:p>
        </p:txBody>
      </p:sp>
      <p:sp>
        <p:nvSpPr>
          <p:cNvPr id="34" name="TextBox 33">
            <a:extLst>
              <a:ext uri="{FF2B5EF4-FFF2-40B4-BE49-F238E27FC236}">
                <a16:creationId xmlns:a16="http://schemas.microsoft.com/office/drawing/2014/main" id="{F6BBCBD3-B3A4-764A-7C28-AB250FB683C8}"/>
              </a:ext>
            </a:extLst>
          </p:cNvPr>
          <p:cNvSpPr txBox="1"/>
          <p:nvPr/>
        </p:nvSpPr>
        <p:spPr>
          <a:xfrm>
            <a:off x="12636500" y="6667500"/>
            <a:ext cx="4191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User flow hiện mở trực tiếp tới dashboard.</a:t>
            </a:r>
          </a:p>
        </p:txBody>
      </p:sp>
      <p:sp>
        <p:nvSpPr>
          <p:cNvPr id="35" name="Rectangle 34">
            <a:extLst>
              <a:ext uri="{FF2B5EF4-FFF2-40B4-BE49-F238E27FC236}">
                <a16:creationId xmlns:a16="http://schemas.microsoft.com/office/drawing/2014/main" id="{25BBAF05-DA08-CEBF-E805-9E8BABEE9216}"/>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7421857-0796-9850-E84E-5B3701454585}"/>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2698112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0CBC0472-458F-0E08-8E95-BC7E31B35B3F}"/>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sp>
      <p:sp>
        <p:nvSpPr>
          <p:cNvPr id="3" name="TextBox 2">
            <a:extLst>
              <a:ext uri="{FF2B5EF4-FFF2-40B4-BE49-F238E27FC236}">
                <a16:creationId xmlns:a16="http://schemas.microsoft.com/office/drawing/2014/main" id="{F063F89A-D32D-467E-F879-CB7CF0607A48}"/>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66894F4A-88FB-A39A-0820-9245215CE8DC}"/>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DF3D527F-1C6E-9486-2833-481FF8C3FB35}"/>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64F3FB51-C31D-9087-F1A7-EF38DF2145C7}"/>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2766505E-6D31-5059-7CD2-E00DEE1A28BB}"/>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8" name="TextBox 7">
            <a:extLst>
              <a:ext uri="{FF2B5EF4-FFF2-40B4-BE49-F238E27FC236}">
                <a16:creationId xmlns:a16="http://schemas.microsoft.com/office/drawing/2014/main" id="{EDF92FD9-3FF3-7FCE-9578-C967DF8792E3}"/>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DEMO</a:t>
            </a:r>
          </a:p>
        </p:txBody>
      </p:sp>
      <p:cxnSp>
        <p:nvCxnSpPr>
          <p:cNvPr id="9" name="Straight Connector 8">
            <a:extLst>
              <a:ext uri="{FF2B5EF4-FFF2-40B4-BE49-F238E27FC236}">
                <a16:creationId xmlns:a16="http://schemas.microsoft.com/office/drawing/2014/main" id="{E9F54E79-644B-7FB2-D087-D6C5A80E6B0D}"/>
              </a:ext>
            </a:extLst>
          </p:cNvPr>
          <p:cNvCxnSpPr/>
          <p:nvPr/>
        </p:nvCxnSpPr>
        <p:spPr>
          <a:xfrm>
            <a:off x="11963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64342E3-6959-BE1D-054F-419041C03E54}"/>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28</a:t>
            </a:r>
          </a:p>
        </p:txBody>
      </p:sp>
      <p:sp>
        <p:nvSpPr>
          <p:cNvPr id="11" name="TextBox 10">
            <a:extLst>
              <a:ext uri="{FF2B5EF4-FFF2-40B4-BE49-F238E27FC236}">
                <a16:creationId xmlns:a16="http://schemas.microsoft.com/office/drawing/2014/main" id="{30968FA8-F743-F125-C088-ED5E09D5B17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MANAGEMENT TAKEAWAYS</a:t>
            </a:r>
          </a:p>
        </p:txBody>
      </p:sp>
      <p:sp>
        <p:nvSpPr>
          <p:cNvPr id="12" name="TextBox 11">
            <a:extLst>
              <a:ext uri="{FF2B5EF4-FFF2-40B4-BE49-F238E27FC236}">
                <a16:creationId xmlns:a16="http://schemas.microsoft.com/office/drawing/2014/main" id="{7D6297D8-C5DF-82E7-9549-3D66F3D503C8}"/>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Ba thông điệp dành cho quản lý</a:t>
            </a:r>
          </a:p>
        </p:txBody>
      </p:sp>
      <p:cxnSp>
        <p:nvCxnSpPr>
          <p:cNvPr id="13" name="Straight Connector 12">
            <a:extLst>
              <a:ext uri="{FF2B5EF4-FFF2-40B4-BE49-F238E27FC236}">
                <a16:creationId xmlns:a16="http://schemas.microsoft.com/office/drawing/2014/main" id="{6A9F7C41-A907-9D4F-8428-C129AC0BFA6D}"/>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A835496-47A5-4AB0-64CF-17A4AC5FEFAF}"/>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7241A1D7-1B7F-9A3A-180A-62A743527E6F}"/>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28</a:t>
            </a:r>
          </a:p>
        </p:txBody>
      </p:sp>
      <p:sp>
        <p:nvSpPr>
          <p:cNvPr id="16" name="Rectangle: Rounded Corners 15">
            <a:extLst>
              <a:ext uri="{FF2B5EF4-FFF2-40B4-BE49-F238E27FC236}">
                <a16:creationId xmlns:a16="http://schemas.microsoft.com/office/drawing/2014/main" id="{C9786835-FF44-4B78-85BD-643FE30C8120}"/>
              </a:ext>
            </a:extLst>
          </p:cNvPr>
          <p:cNvSpPr/>
          <p:nvPr/>
        </p:nvSpPr>
        <p:spPr>
          <a:xfrm>
            <a:off x="889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043D2B9-F29A-19C8-75D3-6E768D1C22A4}"/>
              </a:ext>
            </a:extLst>
          </p:cNvPr>
          <p:cNvSpPr txBox="1"/>
          <p:nvPr/>
        </p:nvSpPr>
        <p:spPr>
          <a:xfrm>
            <a:off x="1206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01</a:t>
            </a:r>
          </a:p>
        </p:txBody>
      </p:sp>
      <p:sp>
        <p:nvSpPr>
          <p:cNvPr id="18" name="TextBox 17">
            <a:extLst>
              <a:ext uri="{FF2B5EF4-FFF2-40B4-BE49-F238E27FC236}">
                <a16:creationId xmlns:a16="http://schemas.microsoft.com/office/drawing/2014/main" id="{0B9EB3BB-6A71-E608-440C-06ED4D195916}"/>
              </a:ext>
            </a:extLst>
          </p:cNvPr>
          <p:cNvSpPr txBox="1"/>
          <p:nvPr/>
        </p:nvSpPr>
        <p:spPr>
          <a:xfrm>
            <a:off x="1206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Một nguồn sự thật</a:t>
            </a:r>
          </a:p>
        </p:txBody>
      </p:sp>
      <p:sp>
        <p:nvSpPr>
          <p:cNvPr id="19" name="TextBox 18">
            <a:extLst>
              <a:ext uri="{FF2B5EF4-FFF2-40B4-BE49-F238E27FC236}">
                <a16:creationId xmlns:a16="http://schemas.microsoft.com/office/drawing/2014/main" id="{7B82169B-0591-FAB4-E23A-D5969D0240D3}"/>
              </a:ext>
            </a:extLst>
          </p:cNvPr>
          <p:cNvSpPr txBox="1"/>
          <p:nvPr/>
        </p:nvSpPr>
        <p:spPr>
          <a:xfrm>
            <a:off x="1206500" y="5524500"/>
            <a:ext cx="4318000" cy="523220"/>
          </a:xfrm>
          <a:prstGeom prst="rect">
            <a:avLst/>
          </a:prstGeom>
          <a:noFill/>
        </p:spPr>
        <p:txBody>
          <a:bodyPr vert="horz" wrap="square" lIns="0" tIns="0" rIns="0" bIns="0" rtlCol="0">
            <a:spAutoFit/>
          </a:bodyPr>
          <a:lstStyle/>
          <a:p>
            <a:r>
              <a:rPr lang="vi-VN" sz="1700">
                <a:solidFill>
                  <a:srgbClr val="E6F0FA"/>
                </a:solidFill>
                <a:latin typeface="Arial" panose="020B0604020202020204" pitchFamily="34" charset="0"/>
              </a:rPr>
              <a:t>MPO tập trung dữ liệu máy, chất lượng và downtime.</a:t>
            </a:r>
            <a:endParaRPr lang="en-US" sz="1700">
              <a:solidFill>
                <a:srgbClr val="E6F0FA"/>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419F6ED-FC2A-62D4-A43F-BBD056E64B47}"/>
              </a:ext>
            </a:extLst>
          </p:cNvPr>
          <p:cNvSpPr/>
          <p:nvPr/>
        </p:nvSpPr>
        <p:spPr>
          <a:xfrm>
            <a:off x="6350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C7CCE69-6169-EDE2-1A77-8CE3E59C6C66}"/>
              </a:ext>
            </a:extLst>
          </p:cNvPr>
          <p:cNvSpPr txBox="1"/>
          <p:nvPr/>
        </p:nvSpPr>
        <p:spPr>
          <a:xfrm>
            <a:off x="6667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02</a:t>
            </a:r>
          </a:p>
        </p:txBody>
      </p:sp>
      <p:sp>
        <p:nvSpPr>
          <p:cNvPr id="22" name="TextBox 21">
            <a:extLst>
              <a:ext uri="{FF2B5EF4-FFF2-40B4-BE49-F238E27FC236}">
                <a16:creationId xmlns:a16="http://schemas.microsoft.com/office/drawing/2014/main" id="{4FE64FD9-FDE3-9937-F92A-824D4D9D29AB}"/>
              </a:ext>
            </a:extLst>
          </p:cNvPr>
          <p:cNvSpPr txBox="1"/>
          <p:nvPr/>
        </p:nvSpPr>
        <p:spPr>
          <a:xfrm>
            <a:off x="6667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Từ KPI đến nguyên nhân</a:t>
            </a:r>
          </a:p>
        </p:txBody>
      </p:sp>
      <p:sp>
        <p:nvSpPr>
          <p:cNvPr id="23" name="TextBox 22">
            <a:extLst>
              <a:ext uri="{FF2B5EF4-FFF2-40B4-BE49-F238E27FC236}">
                <a16:creationId xmlns:a16="http://schemas.microsoft.com/office/drawing/2014/main" id="{6175AD6D-B0DE-3970-070D-F0EF82602F63}"/>
              </a:ext>
            </a:extLst>
          </p:cNvPr>
          <p:cNvSpPr txBox="1"/>
          <p:nvPr/>
        </p:nvSpPr>
        <p:spPr>
          <a:xfrm>
            <a:off x="6667500" y="5524500"/>
            <a:ext cx="4318000" cy="523220"/>
          </a:xfrm>
          <a:prstGeom prst="rect">
            <a:avLst/>
          </a:prstGeom>
          <a:noFill/>
        </p:spPr>
        <p:txBody>
          <a:bodyPr vert="horz" wrap="square" lIns="0" tIns="0" rIns="0" bIns="0" rtlCol="0">
            <a:spAutoFit/>
          </a:bodyPr>
          <a:lstStyle/>
          <a:p>
            <a:r>
              <a:rPr lang="vi-VN" sz="1700">
                <a:solidFill>
                  <a:srgbClr val="E6F0FA"/>
                </a:solidFill>
                <a:latin typeface="Arial" panose="020B0604020202020204" pitchFamily="34" charset="0"/>
              </a:rPr>
              <a:t>Dashboard định hướng; report chi tiết xác minh.</a:t>
            </a:r>
            <a:endParaRPr lang="en-US" sz="1700">
              <a:solidFill>
                <a:srgbClr val="E6F0FA"/>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1B60FE75-C0D0-02F2-A839-7E0040698CC5}"/>
              </a:ext>
            </a:extLst>
          </p:cNvPr>
          <p:cNvSpPr/>
          <p:nvPr/>
        </p:nvSpPr>
        <p:spPr>
          <a:xfrm>
            <a:off x="11811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66D0E33-9EF3-6AB7-1D77-8B692670CD32}"/>
              </a:ext>
            </a:extLst>
          </p:cNvPr>
          <p:cNvSpPr txBox="1"/>
          <p:nvPr/>
        </p:nvSpPr>
        <p:spPr>
          <a:xfrm>
            <a:off x="12128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03</a:t>
            </a:r>
          </a:p>
        </p:txBody>
      </p:sp>
      <p:sp>
        <p:nvSpPr>
          <p:cNvPr id="26" name="TextBox 25">
            <a:extLst>
              <a:ext uri="{FF2B5EF4-FFF2-40B4-BE49-F238E27FC236}">
                <a16:creationId xmlns:a16="http://schemas.microsoft.com/office/drawing/2014/main" id="{A2E050DA-5571-9AFF-34C8-19DDB6176417}"/>
              </a:ext>
            </a:extLst>
          </p:cNvPr>
          <p:cNvSpPr txBox="1"/>
          <p:nvPr/>
        </p:nvSpPr>
        <p:spPr>
          <a:xfrm>
            <a:off x="12128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Sẵn sàng vận hành</a:t>
            </a:r>
          </a:p>
        </p:txBody>
      </p:sp>
      <p:sp>
        <p:nvSpPr>
          <p:cNvPr id="27" name="TextBox 26">
            <a:extLst>
              <a:ext uri="{FF2B5EF4-FFF2-40B4-BE49-F238E27FC236}">
                <a16:creationId xmlns:a16="http://schemas.microsoft.com/office/drawing/2014/main" id="{91BFFEA1-FB42-81E8-3533-E8A09392ED02}"/>
              </a:ext>
            </a:extLst>
          </p:cNvPr>
          <p:cNvSpPr txBox="1"/>
          <p:nvPr/>
        </p:nvSpPr>
        <p:spPr>
          <a:xfrm>
            <a:off x="12128500" y="5524500"/>
            <a:ext cx="43180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Pipeline tự động, state khôi phục và export linh hoạt.</a:t>
            </a:r>
          </a:p>
        </p:txBody>
      </p:sp>
      <p:sp>
        <p:nvSpPr>
          <p:cNvPr id="28" name="TextBox 27">
            <a:extLst>
              <a:ext uri="{FF2B5EF4-FFF2-40B4-BE49-F238E27FC236}">
                <a16:creationId xmlns:a16="http://schemas.microsoft.com/office/drawing/2014/main" id="{C287FD11-78E8-B72A-866A-9CBDDF0EC2AD}"/>
              </a:ext>
            </a:extLst>
          </p:cNvPr>
          <p:cNvSpPr txBox="1"/>
          <p:nvPr/>
        </p:nvSpPr>
        <p:spPr>
          <a:xfrm>
            <a:off x="889000" y="8064500"/>
            <a:ext cx="16510000" cy="323165"/>
          </a:xfrm>
          <a:prstGeom prst="rect">
            <a:avLst/>
          </a:prstGeom>
          <a:noFill/>
        </p:spPr>
        <p:txBody>
          <a:bodyPr vert="horz" wrap="square" lIns="0" tIns="0" rIns="0" bIns="0" rtlCol="0">
            <a:spAutoFit/>
          </a:bodyPr>
          <a:lstStyle/>
          <a:p>
            <a:pPr algn="ctr"/>
            <a:r>
              <a:rPr lang="en-US" sz="2100" b="1">
                <a:solidFill>
                  <a:srgbClr val="00E6F0"/>
                </a:solidFill>
                <a:latin typeface="Arial" panose="020B0604020202020204" pitchFamily="34" charset="0"/>
              </a:rPr>
              <a:t>Raw machine data → operational evidence → focused action</a:t>
            </a:r>
          </a:p>
        </p:txBody>
      </p:sp>
      <p:sp>
        <p:nvSpPr>
          <p:cNvPr id="29" name="Rectangle 28">
            <a:extLst>
              <a:ext uri="{FF2B5EF4-FFF2-40B4-BE49-F238E27FC236}">
                <a16:creationId xmlns:a16="http://schemas.microsoft.com/office/drawing/2014/main" id="{B4B40DC5-C60B-319C-1EC1-0F96E7B8C048}"/>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0B9503A-9B07-270C-782F-982791277A51}"/>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1982851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 name="Freeform 8">
            <a:extLst>
              <a:ext uri="{FF2B5EF4-FFF2-40B4-BE49-F238E27FC236}">
                <a16:creationId xmlns:a16="http://schemas.microsoft.com/office/drawing/2014/main" id="{4AA64C31-36D1-500A-2A9E-8AB79B309E52}"/>
              </a:ext>
            </a:extLst>
          </p:cNvPr>
          <p:cNvSpPr/>
          <p:nvPr/>
        </p:nvSpPr>
        <p:spPr>
          <a:xfrm>
            <a:off x="660400" y="381000"/>
            <a:ext cx="2463800" cy="889000"/>
          </a:xfrm>
          <a:custGeom>
            <a:avLst/>
            <a:gdLst/>
            <a:ahLst/>
            <a:cxnLst/>
            <a:rect l="l" t="t" r="r" b="b"/>
            <a:pathLst>
              <a:path w="2777782" h="1007971">
                <a:moveTo>
                  <a:pt x="0" y="0"/>
                </a:moveTo>
                <a:lnTo>
                  <a:pt x="2777782" y="0"/>
                </a:lnTo>
                <a:lnTo>
                  <a:pt x="2777782" y="1007971"/>
                </a:lnTo>
                <a:lnTo>
                  <a:pt x="0" y="1007971"/>
                </a:lnTo>
                <a:lnTo>
                  <a:pt x="0" y="0"/>
                </a:lnTo>
                <a:close/>
              </a:path>
            </a:pathLst>
          </a:custGeom>
          <a:blipFill>
            <a:blip r:embed="rId2"/>
            <a:stretch>
              <a:fillRect/>
            </a:stretch>
          </a:blipFill>
        </p:spPr>
      </p:sp>
      <p:sp>
        <p:nvSpPr>
          <p:cNvPr id="3" name="TextBox 2">
            <a:extLst>
              <a:ext uri="{FF2B5EF4-FFF2-40B4-BE49-F238E27FC236}">
                <a16:creationId xmlns:a16="http://schemas.microsoft.com/office/drawing/2014/main" id="{C0F97D60-64E0-5179-B148-155DD626C058}"/>
              </a:ext>
            </a:extLst>
          </p:cNvPr>
          <p:cNvSpPr txBox="1"/>
          <p:nvPr/>
        </p:nvSpPr>
        <p:spPr>
          <a:xfrm>
            <a:off x="850900" y="660400"/>
            <a:ext cx="2095500" cy="353943"/>
          </a:xfrm>
          <a:prstGeom prst="rect">
            <a:avLst/>
          </a:prstGeom>
          <a:noFill/>
        </p:spPr>
        <p:txBody>
          <a:bodyPr vert="horz" wrap="square" lIns="0" tIns="0" rIns="0" bIns="0" rtlCol="0">
            <a:spAutoFit/>
          </a:bodyPr>
          <a:lstStyle/>
          <a:p>
            <a:pPr algn="ctr"/>
            <a:r>
              <a:rPr lang="en-US" sz="2300" b="1">
                <a:solidFill>
                  <a:srgbClr val="FFFFFF"/>
                </a:solidFill>
                <a:latin typeface="Arial" panose="020B0604020202020204" pitchFamily="34" charset="0"/>
              </a:rPr>
              <a:t>Panasonic</a:t>
            </a:r>
          </a:p>
        </p:txBody>
      </p:sp>
      <p:sp>
        <p:nvSpPr>
          <p:cNvPr id="4" name="TextBox 3">
            <a:extLst>
              <a:ext uri="{FF2B5EF4-FFF2-40B4-BE49-F238E27FC236}">
                <a16:creationId xmlns:a16="http://schemas.microsoft.com/office/drawing/2014/main" id="{A2A9DF1A-5AD2-EF00-4601-24ED090C8C75}"/>
              </a:ext>
            </a:extLst>
          </p:cNvPr>
          <p:cNvSpPr txBox="1"/>
          <p:nvPr/>
        </p:nvSpPr>
        <p:spPr>
          <a:xfrm>
            <a:off x="4191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MPO</a:t>
            </a:r>
          </a:p>
        </p:txBody>
      </p:sp>
      <p:sp>
        <p:nvSpPr>
          <p:cNvPr id="5" name="TextBox 4">
            <a:extLst>
              <a:ext uri="{FF2B5EF4-FFF2-40B4-BE49-F238E27FC236}">
                <a16:creationId xmlns:a16="http://schemas.microsoft.com/office/drawing/2014/main" id="{481F7925-AC1E-F67B-E3A9-94C5989C8356}"/>
              </a:ext>
            </a:extLst>
          </p:cNvPr>
          <p:cNvSpPr txBox="1"/>
          <p:nvPr/>
        </p:nvSpPr>
        <p:spPr>
          <a:xfrm>
            <a:off x="5778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PIPELINE</a:t>
            </a:r>
          </a:p>
        </p:txBody>
      </p:sp>
      <p:sp>
        <p:nvSpPr>
          <p:cNvPr id="6" name="TextBox 5">
            <a:extLst>
              <a:ext uri="{FF2B5EF4-FFF2-40B4-BE49-F238E27FC236}">
                <a16:creationId xmlns:a16="http://schemas.microsoft.com/office/drawing/2014/main" id="{91FF5196-1643-96DB-F256-07EA8E7C9406}"/>
              </a:ext>
            </a:extLst>
          </p:cNvPr>
          <p:cNvSpPr txBox="1"/>
          <p:nvPr/>
        </p:nvSpPr>
        <p:spPr>
          <a:xfrm>
            <a:off x="77470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DATABASE</a:t>
            </a:r>
          </a:p>
        </p:txBody>
      </p:sp>
      <p:sp>
        <p:nvSpPr>
          <p:cNvPr id="7" name="TextBox 6">
            <a:extLst>
              <a:ext uri="{FF2B5EF4-FFF2-40B4-BE49-F238E27FC236}">
                <a16:creationId xmlns:a16="http://schemas.microsoft.com/office/drawing/2014/main" id="{CDB99976-5FE1-39BE-B1D6-222E521590A1}"/>
              </a:ext>
            </a:extLst>
          </p:cNvPr>
          <p:cNvSpPr txBox="1"/>
          <p:nvPr/>
        </p:nvSpPr>
        <p:spPr>
          <a:xfrm>
            <a:off x="9842500" y="660400"/>
            <a:ext cx="15875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REPORTS</a:t>
            </a:r>
          </a:p>
        </p:txBody>
      </p:sp>
      <p:sp>
        <p:nvSpPr>
          <p:cNvPr id="8" name="TextBox 7">
            <a:extLst>
              <a:ext uri="{FF2B5EF4-FFF2-40B4-BE49-F238E27FC236}">
                <a16:creationId xmlns:a16="http://schemas.microsoft.com/office/drawing/2014/main" id="{2EA22F32-2C7B-79A9-D80C-DC15355430BD}"/>
              </a:ext>
            </a:extLst>
          </p:cNvPr>
          <p:cNvSpPr txBox="1"/>
          <p:nvPr/>
        </p:nvSpPr>
        <p:spPr>
          <a:xfrm>
            <a:off x="11684000" y="660400"/>
            <a:ext cx="1587500" cy="230832"/>
          </a:xfrm>
          <a:prstGeom prst="rect">
            <a:avLst/>
          </a:prstGeom>
          <a:noFill/>
        </p:spPr>
        <p:txBody>
          <a:bodyPr vert="horz" wrap="square" lIns="0" tIns="0" rIns="0" bIns="0" rtlCol="0">
            <a:spAutoFit/>
          </a:bodyPr>
          <a:lstStyle/>
          <a:p>
            <a:pPr algn="ctr"/>
            <a:r>
              <a:rPr lang="en-US" sz="1500" b="1">
                <a:solidFill>
                  <a:srgbClr val="00E6F0"/>
                </a:solidFill>
                <a:latin typeface="Arial" panose="020B0604020202020204" pitchFamily="34" charset="0"/>
              </a:rPr>
              <a:t>DEMO</a:t>
            </a:r>
          </a:p>
        </p:txBody>
      </p:sp>
      <p:cxnSp>
        <p:nvCxnSpPr>
          <p:cNvPr id="9" name="Straight Connector 8">
            <a:extLst>
              <a:ext uri="{FF2B5EF4-FFF2-40B4-BE49-F238E27FC236}">
                <a16:creationId xmlns:a16="http://schemas.microsoft.com/office/drawing/2014/main" id="{BE05EE42-D282-4CE6-991D-D89DA036CC82}"/>
              </a:ext>
            </a:extLst>
          </p:cNvPr>
          <p:cNvCxnSpPr/>
          <p:nvPr/>
        </p:nvCxnSpPr>
        <p:spPr>
          <a:xfrm>
            <a:off x="11963400" y="1054100"/>
            <a:ext cx="1028700" cy="0"/>
          </a:xfrm>
          <a:prstGeom prst="line">
            <a:avLst/>
          </a:prstGeom>
          <a:ln w="25400">
            <a:solidFill>
              <a:srgbClr val="00E6F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C91FDB7-FC4B-F5F8-F780-5D409DF7F9CC}"/>
              </a:ext>
            </a:extLst>
          </p:cNvPr>
          <p:cNvSpPr txBox="1"/>
          <p:nvPr/>
        </p:nvSpPr>
        <p:spPr>
          <a:xfrm>
            <a:off x="16510000" y="609600"/>
            <a:ext cx="889000" cy="230832"/>
          </a:xfrm>
          <a:prstGeom prst="rect">
            <a:avLst/>
          </a:prstGeom>
          <a:noFill/>
        </p:spPr>
        <p:txBody>
          <a:bodyPr vert="horz" wrap="square" lIns="0" tIns="0" rIns="0" bIns="0" rtlCol="0">
            <a:spAutoFit/>
          </a:bodyPr>
          <a:lstStyle/>
          <a:p>
            <a:pPr algn="r"/>
            <a:r>
              <a:rPr lang="en-US" sz="1500" b="1">
                <a:solidFill>
                  <a:srgbClr val="94A3B8"/>
                </a:solidFill>
                <a:latin typeface="Arial" panose="020B0604020202020204" pitchFamily="34" charset="0"/>
              </a:rPr>
              <a:t>29</a:t>
            </a:r>
          </a:p>
        </p:txBody>
      </p:sp>
      <p:sp>
        <p:nvSpPr>
          <p:cNvPr id="11" name="TextBox 10">
            <a:extLst>
              <a:ext uri="{FF2B5EF4-FFF2-40B4-BE49-F238E27FC236}">
                <a16:creationId xmlns:a16="http://schemas.microsoft.com/office/drawing/2014/main" id="{10B9662B-6569-1F62-9961-117B513A0979}"/>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FED56562-6AA9-0ACE-B571-32E470546008}"/>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EF3B186-7E10-DAFB-D877-CCBBCAB98C51}"/>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DB641683-4A3F-1795-C47E-AD5EFA0A3E0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29</a:t>
            </a:r>
          </a:p>
        </p:txBody>
      </p:sp>
      <p:sp>
        <p:nvSpPr>
          <p:cNvPr id="15" name="TextBox 14">
            <a:extLst>
              <a:ext uri="{FF2B5EF4-FFF2-40B4-BE49-F238E27FC236}">
                <a16:creationId xmlns:a16="http://schemas.microsoft.com/office/drawing/2014/main" id="{986E3515-9BB5-2FF7-5088-C54B114ABA5C}"/>
              </a:ext>
            </a:extLst>
          </p:cNvPr>
          <p:cNvSpPr txBox="1"/>
          <p:nvPr/>
        </p:nvSpPr>
        <p:spPr>
          <a:xfrm>
            <a:off x="889000" y="2730500"/>
            <a:ext cx="16510000" cy="923330"/>
          </a:xfrm>
          <a:prstGeom prst="rect">
            <a:avLst/>
          </a:prstGeom>
          <a:noFill/>
        </p:spPr>
        <p:txBody>
          <a:bodyPr vert="horz" wrap="square" lIns="0" tIns="0" rIns="0" bIns="0" rtlCol="0">
            <a:spAutoFit/>
          </a:bodyPr>
          <a:lstStyle/>
          <a:p>
            <a:pPr algn="ctr"/>
            <a:r>
              <a:rPr lang="en-US" sz="6000" b="1">
                <a:solidFill>
                  <a:srgbClr val="00E6F0"/>
                </a:solidFill>
                <a:latin typeface="Arial" panose="020B0604020202020204" pitchFamily="34" charset="0"/>
              </a:rPr>
              <a:t>THANK YOU</a:t>
            </a:r>
          </a:p>
        </p:txBody>
      </p:sp>
      <p:sp>
        <p:nvSpPr>
          <p:cNvPr id="16" name="TextBox 15">
            <a:extLst>
              <a:ext uri="{FF2B5EF4-FFF2-40B4-BE49-F238E27FC236}">
                <a16:creationId xmlns:a16="http://schemas.microsoft.com/office/drawing/2014/main" id="{6EB6FC14-B3B1-F530-117C-14DA0D2AA805}"/>
              </a:ext>
            </a:extLst>
          </p:cNvPr>
          <p:cNvSpPr txBox="1"/>
          <p:nvPr/>
        </p:nvSpPr>
        <p:spPr>
          <a:xfrm>
            <a:off x="889000" y="4254500"/>
            <a:ext cx="16510000" cy="1077218"/>
          </a:xfrm>
          <a:prstGeom prst="rect">
            <a:avLst/>
          </a:prstGeom>
          <a:noFill/>
        </p:spPr>
        <p:txBody>
          <a:bodyPr vert="horz" wrap="square" lIns="0" tIns="0" rIns="0" bIns="0" rtlCol="0">
            <a:spAutoFit/>
          </a:bodyPr>
          <a:lstStyle/>
          <a:p>
            <a:pPr algn="ctr"/>
            <a:r>
              <a:rPr lang="en-US" sz="7000" b="1">
                <a:solidFill>
                  <a:srgbClr val="FFFFFF"/>
                </a:solidFill>
                <a:latin typeface="Arial" panose="020B0604020202020204" pitchFamily="34" charset="0"/>
              </a:rPr>
              <a:t>Q&amp;A</a:t>
            </a:r>
          </a:p>
        </p:txBody>
      </p:sp>
      <p:sp>
        <p:nvSpPr>
          <p:cNvPr id="17" name="TextBox 16">
            <a:extLst>
              <a:ext uri="{FF2B5EF4-FFF2-40B4-BE49-F238E27FC236}">
                <a16:creationId xmlns:a16="http://schemas.microsoft.com/office/drawing/2014/main" id="{6FEA0359-97E2-99C9-E02C-6699F68A2E2D}"/>
              </a:ext>
            </a:extLst>
          </p:cNvPr>
          <p:cNvSpPr txBox="1"/>
          <p:nvPr/>
        </p:nvSpPr>
        <p:spPr>
          <a:xfrm>
            <a:off x="889000" y="6350000"/>
            <a:ext cx="16510000" cy="338554"/>
          </a:xfrm>
          <a:prstGeom prst="rect">
            <a:avLst/>
          </a:prstGeom>
          <a:noFill/>
        </p:spPr>
        <p:txBody>
          <a:bodyPr vert="horz" wrap="square" lIns="0" tIns="0" rIns="0" bIns="0" rtlCol="0">
            <a:spAutoFit/>
          </a:bodyPr>
          <a:lstStyle/>
          <a:p>
            <a:pPr algn="ctr"/>
            <a:r>
              <a:rPr lang="en-US" sz="2200">
                <a:solidFill>
                  <a:srgbClr val="E6F0FA"/>
                </a:solidFill>
                <a:latin typeface="Arial" panose="020B0604020202020204" pitchFamily="34" charset="0"/>
              </a:rPr>
              <a:t>Manufacturing Performance Overview</a:t>
            </a:r>
          </a:p>
        </p:txBody>
      </p:sp>
      <p:sp>
        <p:nvSpPr>
          <p:cNvPr id="18" name="TextBox 17">
            <a:extLst>
              <a:ext uri="{FF2B5EF4-FFF2-40B4-BE49-F238E27FC236}">
                <a16:creationId xmlns:a16="http://schemas.microsoft.com/office/drawing/2014/main" id="{A706DE78-6564-5CB1-B8DA-FDCFC3AFD603}"/>
              </a:ext>
            </a:extLst>
          </p:cNvPr>
          <p:cNvSpPr txBox="1"/>
          <p:nvPr/>
        </p:nvSpPr>
        <p:spPr>
          <a:xfrm>
            <a:off x="889000" y="7048500"/>
            <a:ext cx="16510000" cy="261610"/>
          </a:xfrm>
          <a:prstGeom prst="rect">
            <a:avLst/>
          </a:prstGeom>
          <a:noFill/>
        </p:spPr>
        <p:txBody>
          <a:bodyPr vert="horz" wrap="square" lIns="0" tIns="0" rIns="0" bIns="0" rtlCol="0">
            <a:spAutoFit/>
          </a:bodyPr>
          <a:lstStyle/>
          <a:p>
            <a:pPr algn="ctr"/>
            <a:r>
              <a:rPr lang="en-US" sz="1700" b="1">
                <a:solidFill>
                  <a:srgbClr val="00E6F0"/>
                </a:solidFill>
                <a:latin typeface="Arial" panose="020B0604020202020204" pitchFamily="34" charset="0"/>
              </a:rPr>
              <a:t>LNB → SFTP → Node-RED → PostgreSQL → Docker Web Portal</a:t>
            </a:r>
          </a:p>
        </p:txBody>
      </p:sp>
      <p:sp>
        <p:nvSpPr>
          <p:cNvPr id="19" name="TextBox 18">
            <a:extLst>
              <a:ext uri="{FF2B5EF4-FFF2-40B4-BE49-F238E27FC236}">
                <a16:creationId xmlns:a16="http://schemas.microsoft.com/office/drawing/2014/main" id="{395D4F89-4DD4-B609-6427-EDA171959230}"/>
              </a:ext>
            </a:extLst>
          </p:cNvPr>
          <p:cNvSpPr txBox="1"/>
          <p:nvPr/>
        </p:nvSpPr>
        <p:spPr>
          <a:xfrm>
            <a:off x="889000" y="8064500"/>
            <a:ext cx="16510000" cy="276999"/>
          </a:xfrm>
          <a:prstGeom prst="rect">
            <a:avLst/>
          </a:prstGeom>
          <a:noFill/>
        </p:spPr>
        <p:txBody>
          <a:bodyPr vert="horz" wrap="square" lIns="0" tIns="0" rIns="0" bIns="0" rtlCol="0">
            <a:spAutoFit/>
          </a:bodyPr>
          <a:lstStyle/>
          <a:p>
            <a:pPr algn="ctr"/>
            <a:r>
              <a:rPr lang="en-US">
                <a:solidFill>
                  <a:srgbClr val="FFFFFF"/>
                </a:solidFill>
                <a:latin typeface="Arial" panose="020B0604020202020204" pitchFamily="34" charset="0"/>
              </a:rPr>
              <a:t>Dữ liệu đúng • Phân tích nhanh • Hành động tập trung</a:t>
            </a:r>
          </a:p>
        </p:txBody>
      </p:sp>
      <p:sp>
        <p:nvSpPr>
          <p:cNvPr id="20" name="Rectangle 19">
            <a:extLst>
              <a:ext uri="{FF2B5EF4-FFF2-40B4-BE49-F238E27FC236}">
                <a16:creationId xmlns:a16="http://schemas.microsoft.com/office/drawing/2014/main" id="{8FFE35A6-09B8-3BD0-C38A-DA35D0141625}"/>
              </a:ext>
            </a:extLst>
          </p:cNvPr>
          <p:cNvSpPr/>
          <p:nvPr/>
        </p:nvSpPr>
        <p:spPr>
          <a:xfrm>
            <a:off x="660400" y="381000"/>
            <a:ext cx="2463800" cy="8890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4EA2E1D-934E-3466-2750-9BD38303746B}"/>
              </a:ext>
            </a:extLst>
          </p:cNvPr>
          <p:cNvSpPr txBox="1"/>
          <p:nvPr/>
        </p:nvSpPr>
        <p:spPr>
          <a:xfrm>
            <a:off x="850900" y="660400"/>
            <a:ext cx="2095500" cy="353943"/>
          </a:xfrm>
          <a:prstGeom prst="rect">
            <a:avLst/>
          </a:prstGeom>
          <a:noFill/>
        </p:spPr>
        <p:txBody>
          <a:bodyPr vert="horz" lIns="0" tIns="0" rIns="0" bIns="0" rtlCol="0">
            <a:spAutoFit/>
          </a:bodyPr>
          <a:lstStyle/>
          <a:p>
            <a:pPr algn="ctr"/>
            <a:r>
              <a:rPr lang="en-US" sz="2300" b="1">
                <a:solidFill>
                  <a:srgbClr val="FFFFFF"/>
                </a:solidFill>
                <a:latin typeface="Arial" panose="020B0604020202020204" pitchFamily="34" charset="0"/>
              </a:rPr>
              <a:t>Panasonic</a:t>
            </a:r>
          </a:p>
        </p:txBody>
      </p:sp>
    </p:spTree>
    <p:extLst>
      <p:ext uri="{BB962C8B-B14F-4D97-AF65-F5344CB8AC3E}">
        <p14:creationId xmlns:p14="http://schemas.microsoft.com/office/powerpoint/2010/main" val="535253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2530</Words>
  <Application>Microsoft Office PowerPoint</Application>
  <PresentationFormat>Custom</PresentationFormat>
  <Paragraphs>682</Paragraphs>
  <Slides>29</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Aptos Display</vt:lpstr>
      <vt:lpstr>Arial</vt:lpstr>
      <vt:lpstr>Poppins</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Panasonic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Trinh Quoc Vinh</dc:creator>
  <cp:lastModifiedBy>Trinh Quoc Vinh</cp:lastModifiedBy>
  <cp:revision>4</cp:revision>
  <dcterms:created xsi:type="dcterms:W3CDTF">2026-08-18T08:02:55Z</dcterms:created>
  <dcterms:modified xsi:type="dcterms:W3CDTF">2026-08-18T08:07:07Z</dcterms:modified>
</cp:coreProperties>
</file>